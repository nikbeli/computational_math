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87" r:id="rId2"/>
    <p:sldId id="422" r:id="rId3"/>
    <p:sldId id="441" r:id="rId4"/>
    <p:sldId id="442" r:id="rId5"/>
    <p:sldId id="438" r:id="rId6"/>
    <p:sldId id="283" r:id="rId7"/>
    <p:sldId id="288" r:id="rId8"/>
    <p:sldId id="425" r:id="rId9"/>
    <p:sldId id="426" r:id="rId10"/>
    <p:sldId id="439" r:id="rId11"/>
    <p:sldId id="290" r:id="rId12"/>
    <p:sldId id="291" r:id="rId13"/>
    <p:sldId id="292" r:id="rId14"/>
    <p:sldId id="293" r:id="rId15"/>
    <p:sldId id="294" r:id="rId16"/>
    <p:sldId id="295" r:id="rId17"/>
    <p:sldId id="296" r:id="rId18"/>
    <p:sldId id="297" r:id="rId19"/>
    <p:sldId id="298" r:id="rId20"/>
    <p:sldId id="440" r:id="rId21"/>
    <p:sldId id="427" r:id="rId22"/>
    <p:sldId id="284" r:id="rId23"/>
    <p:sldId id="285" r:id="rId24"/>
    <p:sldId id="299" r:id="rId25"/>
    <p:sldId id="300" r:id="rId26"/>
    <p:sldId id="301" r:id="rId27"/>
    <p:sldId id="413" r:id="rId28"/>
    <p:sldId id="428" r:id="rId29"/>
    <p:sldId id="429" r:id="rId30"/>
    <p:sldId id="430" r:id="rId31"/>
    <p:sldId id="414" r:id="rId32"/>
    <p:sldId id="415" r:id="rId33"/>
    <p:sldId id="311" r:id="rId34"/>
    <p:sldId id="316" r:id="rId35"/>
    <p:sldId id="318" r:id="rId36"/>
    <p:sldId id="319" r:id="rId37"/>
    <p:sldId id="416" r:id="rId38"/>
    <p:sldId id="417" r:id="rId39"/>
    <p:sldId id="418" r:id="rId40"/>
    <p:sldId id="419" r:id="rId41"/>
    <p:sldId id="420" r:id="rId42"/>
    <p:sldId id="443" r:id="rId43"/>
    <p:sldId id="421" r:id="rId44"/>
    <p:sldId id="433" r:id="rId45"/>
    <p:sldId id="434" r:id="rId46"/>
    <p:sldId id="435" r:id="rId47"/>
    <p:sldId id="436" r:id="rId48"/>
    <p:sldId id="437" r:id="rId49"/>
    <p:sldId id="275" r:id="rId5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4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17"/>
    <p:restoredTop sz="95090"/>
  </p:normalViewPr>
  <p:slideViewPr>
    <p:cSldViewPr snapToGrid="0">
      <p:cViewPr varScale="1">
        <p:scale>
          <a:sx n="128" d="100"/>
          <a:sy n="128" d="100"/>
        </p:scale>
        <p:origin x="472"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6T15:30:54.426"/>
    </inkml:context>
    <inkml:brush xml:id="br0">
      <inkml:brushProperty name="width" value="0.05" units="cm"/>
      <inkml:brushProperty name="height" value="0.05" units="cm"/>
      <inkml:brushProperty name="color" value="#E71224"/>
    </inkml:brush>
  </inkml:definitions>
  <inkml:trace contextRef="#ctx0" brushRef="#br0">1 0 24575,'11'0'0,"-1"0"0,-2 0 0,4 0 0,4 7 0,1-5 0,3 9 0,2-6 0,1 0 0,16 4 0,-2-8 0,16 9 0,2-9 0,1 4 0,5-1 0,-6-2 0,-1 7 0,-6-8 0,-7 8 0,-2-8 0,-4 3 0,-1-4 0,0 0 0,-1 0 0,-4 5 0,10-4 0,-5 3 0,7-4 0,-7 0 0,5 0 0,-4 0 0,0 0 0,-2 0 0,-5 0 0,7 0 0,-6 0 0,6 0 0,-7 0 0,0 0 0,5 0 0,2 0 0,5 0 0,0 0 0,7 0 0,-6 0 0,6 0 0,-7 0 0,1 0 0,-7 0 0,5 0 0,-10 0 0,0 0 0,-3 0 0,-8 0 0,4 0 0,-1 0 0,-2 0 0,7 0 0,-3 0 0,5 0 0,5 0 0,1 0 0,1 0 0,4 0 0,20-5 0,-13 4 0,13-4 0,-20 5 0,-10 0 0,10 0 0,-10 0 0,4 0 0,-5 0 0,5 0 0,2-5 0,5 4 0,0-3 0,7-1 0,-5 3 0,11-2 0,-12-1 0,12 4 0,-11-4 0,4 5 0,-5 0 0,-7 0 0,5 0 0,-10 0 0,4 0 0,-5 0 0,0 0 0,-1 0 0,-4 0 0,9 0 0,11 0 0,-6 0 0,11 0 0,-1 0 0,-18 0 0,22 0 0,-21 0 0,10 0 0,0 0 0,19 0 0,-8 0 0,5 0 0,2 0 0,8 0 0,10 0 0,0 0 0,-10 0 0,7 0 0,-1 0 0,-7 0 0,32 0 0,-49 0 0,5 0 0,19 0 0,-11 0 0,11 0 0,-12 0 0,-17 0 0,11 0 0,-14 0 0,1 0 0,-7 0 0,-1 0 0,-10 0 0,-1 0 0,-5 0 0,0 0 0,0 0 0,4 0 0,-3 0 0,9 0 0,-4 0 0,4 0 0,1 0 0,0 0 0,-1 0 0,1 0 0,0 0 0,-1 0 0,1 0 0,0 0 0,0 0 0,5 0 0,1 0 0,7 0 0,5 0 0,-4 5 0,29-4 0,-18 4 0,13-5 0,-14 0 0,-10 0 0,5 4 0,17-3 0,-18 4 0,40-5 0,-40 0 0,28 0 0,6 0 0,-3 0 0,19 0 0,-1 0 0,-28 0 0,0 0 0,-3 0 0,-15 0 0,7 0 0,-1 0 0,-5 0 0,5 0 0,1 0 0,-7 0 0,47 0 0,-62 0 0,27 0 0,-44 0 0,20 0 0,-26 0 0,14 3 0,-12-2 0,10 9 0,-6-5 0,3 3 0,-4 0 0,1-8 0,0 8 0,0-7 0,5 7 0,1-7 0,4 7 0,1-7 0,0 7 0,5-7 0,-4 3 0,28 1 0,-18-4 0,19 8 0,-18-8 0,-5 3 0,4-4 0,-5 0 0,1 0 0,-2 0 0,-5 0 0,0 0 0,-6 0 0,0 0 0,0 0 0,-4 0 0,-1 0 0,-1 0 0,-3 0 0,4 0 0,0 0 0,0 0 0,-5 0 0,4 0 0,-3 0 0,4 0 0,0 4 0,-5-3 0,4 3 0,-3-4 0,0 0 0,2 0 0,-6 0 0,7 0 0,-8 0 0,4 0 0,0 0 0,-3 0 0,2 0 0,-3 0 0,3 0 0,-2 0 0,3 0 0,-5 0 0,1 0 0,0 0 0,-1 0 0,-3 3 0,3-2 0,-6 2 0,2-3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4:20.323"/>
    </inkml:context>
    <inkml:brush xml:id="br0">
      <inkml:brushProperty name="width" value="0.05" units="cm"/>
      <inkml:brushProperty name="height" value="0.05" units="cm"/>
      <inkml:brushProperty name="color" value="#E71224"/>
    </inkml:brush>
  </inkml:definitions>
  <inkml:trace contextRef="#ctx0" brushRef="#br0">0 146 24575,'7'0'0,"0"0"0,0 0 0,12 0 0,-5-7 0,19-1 0,-15-4 0,2 2 0,-9 2 0,-4 1 0,0 0 0,0 3 0,0-3 0,0 4 0,0-1 0,0-3 0,0 6 0,0-2 0,1 3 0,-1 0 0,0 0 0,0 0 0,0 0 0,7 0 0,-6 0 0,6 0 0,-3 0 0,-3-3 0,3 2 0,-4-2 0,4 0 0,-3 2 0,3-3 0,-4 1 0,0 2 0,0-5 0,4 5 0,-3-2 0,2 3 0,-2 0 0,-1 0 0,0 0 0,0 0 0,0 0 0,0 0 0,0 0 0,0 0 0,0 0 0,0 0 0,3 0 0,-2 0 0,2-3 0,-3 2 0,0-2 0,0 3 0,0 0 0,4 0 0,-3 0 0,7 0 0,-7 0 0,6 0 0,-2 0 0,0 0 0,2 0 0,-2 0 0,4 0 0,-1 0 0,8 0 0,-6 0 0,6 0 0,-8 0 0,5 0 0,-3 0 0,3 0 0,0 0 0,-3 0 0,3 0 0,0 0 0,-3 0 0,7 0 0,-7 0 0,7 0 0,-3 0 0,5 0 0,0 0 0,-1 0 0,1 0 0,-1 4 0,1-4 0,0 4 0,-1-4 0,1 0 0,-1 0 0,1 0 0,5 0 0,-4 0 0,3 0 0,7 0 0,-8 0 0,8 0 0,-12 0 0,6 0 0,-4 0 0,4 0 0,0 4 0,-4-3 0,8 8 0,-3-8 0,6 3 0,-1-4 0,0 4 0,6-3 0,-4 3 0,4-4 0,0 0 0,-4 0 0,4 0 0,0 0 0,-5 0 0,6 0 0,-1 0 0,-5 0 0,11 0 0,12 0 0,-12 0 0,16 0 0,-26 0 0,4 0 0,0 0 0,-4 0 0,4 0 0,-11 0 0,4 0 0,-4 0 0,5 0 0,-5 0 0,-1 0 0,-5 0 0,-1 0 0,1 0 0,-1 0 0,-3 0 0,2 0 0,-7 0 0,3 0 0,0 0 0,-3 0 0,7 4 0,-7-3 0,7 3 0,-3-4 0,5 0 0,-5 0 0,4 0 0,-4 0 0,4 0 0,1 0 0,11 0 0,-9 0 0,9 0 0,-11 0 0,-5 0 0,4 0 0,-4 0 0,0 0 0,-1 0 0,-4 0 0,-1 0 0,1 3 0,-1-2 0,-3 5 0,-1-5 0,0 2 0,-3-3 0,3 0 0,-4 0 0,0 0 0,0 0 0,0 0 0,0 0 0,-3-3 0,-1-14 0,-3-6 0,0 2 0,0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4:30.722"/>
    </inkml:context>
    <inkml:brush xml:id="br0">
      <inkml:brushProperty name="width" value="0.05" units="cm"/>
      <inkml:brushProperty name="height" value="0.05" units="cm"/>
      <inkml:brushProperty name="color" value="#E71224"/>
    </inkml:brush>
  </inkml:definitions>
  <inkml:trace contextRef="#ctx0" brushRef="#br0">392 0 24575,'0'11'0,"0"-3"0,0 6 0,0-2 0,0 4 0,0 29 0,0-18 0,0 24 0,0-25 0,0 4 0,3-3 0,2 9 0,0-4 0,3 6 0,-2-1 0,-1 0 0,3 0 0,-7 0 0,7 1 0,-7 5 0,8-5 0,-8 6 0,7-7 0,-7 0 0,3 0 0,-4 0 0,0 1 0,0-6 0,0 4 0,0-4 0,4 0 0,-3-1 0,3-1 0,-1-3 0,-2 4 0,3 0 0,-4 1 0,0 0 0,0 4 0,4-4 0,-3 11 0,3-4 0,-4 4 0,0-6 0,4 0 0,-2 6 0,2-4 0,-4 4 0,4-6 0,-3 1 0,3-1 0,-4-5 0,0-1 0,0-6 0,0-4 0,0-4 0,0-7 0,0-3 0,0 1 0,0-1 0,0 0 0,0 0 0,0 0 0,0 0 0,-3 0 0,-1-3 0,0 2 0,-2-2 0,5 2 0,-2 1 0,3 19 0,0 18 0,0 40-3392,-3 10 0,-1 7 3392,3-16 0,0 2 0,-1-6 0,-1 5 0,1-5-674,1 10 1,2-7 673,-1-19 0,0-1-263,0-1 1,0-4 262,0 25 0,0-27 0,0-1 0,0 25-1959,0-25 1,0-3 1958,0 10 3100,0 18-3100,0-17 1075,0 9-1075,0 9 0,0-29 0,0 2-156,0 5 1,0 1 155,0 14 0,0-1 0,0-19 0,0-1 2555,0 12 1,0-1-2556,0 29 0,0-43 0,0 0 0,0 39 1254,0-7-1254,0-33 187,3-2-187,-2-28 1320,2-8-1320,-3-1 837,4-4-837,-4 0 0,4 26 0,-4-29 0,0 17 0,0-40 0,-4-2 0,-5-5-6784,-4 0 6784,-18-9 0,11 15 0,-9-9 0,17 21 0,-6-7 0,9 7 0,-2 6 0,8 37 0,-7 16 0,2 38 0,-9-6 0,10-31 0,1 1 0,-3 2 0,-1 1-2269,3 4 1,-1 1 2268,-2-1 0,1-2-3034,-3 28 3034,6-29 0,-1-3-2029,-3 7 2029,3-1 0,1-1 1926,-5-1-1926,5-3 0,-1 1 0,-4 15 0,-1 27 0,-1 0 1139,7-48 0,0 1-1139,2 12 0,0 2 0,-2-1 0,0 1 0,5 9 0,1 1 0,-3-3 0,0-3 0,2-11 0,2 0 0,-1 4 0,0-3 0,0 27 3558,0 13-3558,0-17 0,0-10 0,0-19 5474,0 2-5474,0-16 0,0-1 0,0-8 297,0 1-297,0-4 1496,0 4-1496,0-6 0,0 1 0,0 0 0,0-5 0,0 3 893,0-7-893,0-1 462,0-5-462,0-4 0,0 0 0,0 0 0,-3-3 0,-1-1 0,-3-3 0,0 0 0,0-3 0,-4-8 0,3 2 0,-3-9 0,4 10 0,3-3 0,-3 4 0,6 20 0,-2 25 0,3 41 0,0-1 0,0-26 0,0 0 0,0 32 0,0-25 0,0 2 0,0 28 0,0 5 0,0-31 0,0-16 0,0 22 0,0-8 0,0 28 0,0 2 0,0-34 0,0 3 0,0-1 0,0 2 0,0 8 0,0 1 0,3-2 0,0 3 0,4 26 0,0-3 0,-3-37 0,1-1-333,4 28 0,0-4 333,-3-11 0,1 13 0,2-16 0,-8-10 0,8-11 0,-8-7 0,3-12 0,-4-1 666,4-9-666,-3 1 0,2-7 0,-3 1 0,0-3 0,0 3 0,0 4 0,3-2 0,-2 12 0,3 1 0,0 1 0,1 9 0,-1-4 0,5 5 0,-8 0 0,7-5 0,-3 4 0,0-13 0,-1 6 0,-1-5 0,-2-2 0,6-3 0,-7-5 0,7-2 0,-3 3 0,4 6 0,1 0 0,-1 4 0,1 1 0,3-1 0,-3 1 0,7-1 0,-6 1 0,5-5 0,-6-1 0,3-4 0,-5-5 0,0 0 0,-3-4 0,-1 0 0,1-3 0,-4 3 0,6-7 0,-5 7 0,2-4 0,0 4 0,1 3 0,-1-2 0,4 2 0,-7-3 0,7 0 0,-6 0 0,5 0 0,-2 4 0,4 5 0,0 5 0,1 10 0,0 1 0,0 5 0,0 1 0,1-1 0,-1-5 0,0 4 0,-1-9 0,1-1 0,-1-6 0,0-4 0,-1-5 0,-2 4 0,2 1 0,-3 5 0,10 16 0,1 2 0,4 6 0,6 4 0,-5-11 0,12 22 0,-16-28 0,5 14 0,-14-33 0,1 6 0,-1-11 0,-2 3 0,-2-4 0,0-4 0,-3 0 0,3-3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4:42.537"/>
    </inkml:context>
    <inkml:brush xml:id="br0">
      <inkml:brushProperty name="width" value="0.05" units="cm"/>
      <inkml:brushProperty name="height" value="0.05" units="cm"/>
      <inkml:brushProperty name="color" value="#E71224"/>
    </inkml:brush>
  </inkml:definitions>
  <inkml:trace contextRef="#ctx0" brushRef="#br0">0 0 24575,'0'11'0,"0"-3"0,0 6 0,0 2 0,0 1 0,8 57 0,-1 15 0,-2-39 0,-1 0 0,1 45 0,-5-44 0,0-1 0,0-6 0,0-1 0,0-5 0,0-1 0,0-5 0,0-1 0,0-6 0,0 1 0,0 0 0,0-1 0,0 1 0,0-1 0,0 1 0,0 5 0,0-4 0,0 8 0,0-3 0,0 17 0,0-9 0,0 9 0,0-17 0,0 4 0,0-9 0,0 9 0,0-10 0,0 5 0,0-5 0,0-1 0,0 1 0,0 11 0,0-8 0,0 8 0,0-16 0,0 3 0,0-7 0,0 7 0,0-7 0,0 3 0,0 0 0,0-3 0,0 3 0,0 0 0,0-3 0,0 7 0,0-7 0,0 14 0,0-12 0,0 30 0,0-28 0,0 45 0,0-44 0,3 26 0,-2-27 0,3 4 0,0 12 0,-3-8 0,3 3 0,0 16 0,0-22 0,1 30 0,-1-29 0,-4 5 0,0-10 0,4 2 0,-3-7 0,2 14 0,-3-12 0,4 21 0,-3-21 0,2 25 0,-3-25 0,0 6 0,0-10 0,0-3 0,0 3 0,0-3 0,4 3 0,-4-3 0,4 3 0,-4 1 0,0-1 0,0 1 0,0-1 0,3 1 0,-2 0 0,3 6 0,-4-8 0,0 7 0,0-13 0,0 7 0,0-7 0,0 3 0,0-4 0,0 0 0,0 0 0,0 0 0,0 0 0,0 0 0,0 0 0,0 0 0,0 0 0,0 0 0,0 0 0,0-1 0,0-2 0,0-1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4:46.731"/>
    </inkml:context>
    <inkml:brush xml:id="br0">
      <inkml:brushProperty name="width" value="0.05" units="cm"/>
      <inkml:brushProperty name="height" value="0.05" units="cm"/>
      <inkml:brushProperty name="color" value="#E71224"/>
    </inkml:brush>
  </inkml:definitions>
  <inkml:trace contextRef="#ctx0" brushRef="#br0">1 1 24575,'0'18'0,"0"-2"0,0 13 0,0 17 0,0-9 0,4 63 0,0-62 0,1 43 0,-1-54 0,-4 9 0,0-4 0,0 11 0,0 8 0,5 8 0,-4-7 0,4 25 0,-5-27 0,0 44 0,0-44 0,0 34 0,0-15 0,0 1 0,0 23 0,0-43 0,0 42 0,0-42 0,0 44 0,0-25 0,0 20 0,0-8 0,0 1 0,0 6 0,0-5 0,0-8 0,0 11 0,0-24 0,0 26 0,0-6 0,0-12 0,0-3 0,0-25 0,0-10 0,0-1 0,0-5 0,0-5 0,0-1 0,0-5 0,0-3 0,0 3 0,0 0 0,0 0 0,-4 0 0,4-5 0,-4-3 0,2-3 0,1-4 0,-2-8 0,3 4 0,0-3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14.493"/>
    </inkml:context>
    <inkml:brush xml:id="br0">
      <inkml:brushProperty name="width" value="0.05" units="cm"/>
      <inkml:brushProperty name="height" value="0.05" units="cm"/>
      <inkml:brushProperty name="color" value="#E71224"/>
    </inkml:brush>
  </inkml:definitions>
  <inkml:trace contextRef="#ctx0" brushRef="#br0">1 531 24575,'0'-14'0,"0"-16"0,0 11 0,0-22 0,0 13 0,0-37 0,0 26 0,0-31 0,0 41 0,0-4 0,0 9 0,0 7 0,0-8 0,0 9 0,0-5 0,0 6 0,0 3 0,0 1 0,0 4 0,0 0 0,0 3 0,0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17.226"/>
    </inkml:context>
    <inkml:brush xml:id="br0">
      <inkml:brushProperty name="width" value="0.05" units="cm"/>
      <inkml:brushProperty name="height" value="0.05" units="cm"/>
      <inkml:brushProperty name="color" value="#E71224"/>
    </inkml:brush>
  </inkml:definitions>
  <inkml:trace contextRef="#ctx0" brushRef="#br0">0 0 24575,'3'0'0,"13"0"0,17 0 0,12 0 0,27 0 0,5 0 0,9 0 0,8 0 0,-16 0 0,-1 0-763,16 0 1,-4 0 762,-26 0 0,-8 0 0,10 0 370,-8 0-370,-6 5 0,-7 0 0,5 5 0,2-5 0,8 4 0,6-8 0,0 4 0,7 0 0,10-3 576,9 8-576,7-8 0,1 8 0,0-3 0,0 6 0,0-7 0,-45 0 0,-1 0 0,-3-5 0,2-1 0,23 6 0,1-1 0,-21-4 0,0 0-333,13 4 1,-1 0 332,30-3 0,-6 3 0,7-5 0,-7 0 0,6 0 0,-6 0 0,8 0 0,0 0 0,-8 0 0,6 0 0,-28 0 0,-18 0 0,0 0 0,21 0 0,6 4 0,14 3 0,-40 3 0,35 1 0,-28 0 0,6 0 0,-1-1 0,1 1 0,29 0 0,-28-1 0,26 1 0,-33-5 0,-1 3 0,21-8 0,-17 4 0,25-5 0,-20 4 0,12-2 0,-5 7 0,15-7 0,-6 3 0,6 0 0,-8 1 0,1 1 0,-1 3 0,0-9 0,8 4 0,-6-5 0,14 0 0,-6 0 0,-37 0 0,0 0 0,-4 0 0,1 0-2999,6 0 0,2 0 2999,-5 0 0,1 0 0,4 0 0,0 0-234,-4 1 0,0-2 234,3-1 0,0-1 0,-8-1 0,1 1 0,8-1 0,-2 0 0,22-6 0,15 4 0,-26-5 414,6 0-414,-2 0 0,-7 0 0,-6 0 6530,-8 1-6530,-8 4 723,5-2-723,-17 4 0,18-1 0,-35 1 43,7 1-43,-26-9 0,-6-16 0,1 11 0,1-6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19.685"/>
    </inkml:context>
    <inkml:brush xml:id="br0">
      <inkml:brushProperty name="width" value="0.05" units="cm"/>
      <inkml:brushProperty name="height" value="0.05" units="cm"/>
      <inkml:brushProperty name="color" value="#E71224"/>
    </inkml:brush>
  </inkml:definitions>
  <inkml:trace contextRef="#ctx0" brushRef="#br0">1 1 24575,'20'0'0,"-2"0"0,59 0 0,-15 0 0,-8 0 0,3 0 0,42 0 0,-18 0 0,22 0 0,3 0 0,-14 0 0,6-1 0,-1 2-934,-5-1 1,13 1 0,-2 1-1,-19 0 934,-15 1 0,-13 1 0,30 3 195,-34-3 0,0-2-195,24-2 0,12 0 0,-7 0 0,-7 0 0,-2 0 0,-13 0 0,4 0 0,33 0 0,-22 0 0,-19 0 0,0 0 0,19 0 0,7 0-524,8 0 524,11 0 0,-46 0 0,1 0 0,4 0 0,0 0 0,5 0 0,0 0 760,0 0 0,1 0-760,4 0 0,1 0 0,-1 0 0,1 0 0,3 0 0,3 0 0,-10 0 0,3 0 0,-1 0 0,14 0 0,0 0 0,-15 0 0,2 0 0,-5 0 0,-2 0 0,-3 0 0,4 0 0,-1 0 0,-13 0 0,3 0 0,41 0 0,1 0 0,-37 0 0,-2 0 0,23 0 0,-1 0 0,-22 0 0,-6 0 0,5 0-2836,-4 2 1,2 1 2835,9-2-575,13 5 575,6-6 0,-14 0 0,7 0 0,-8 0 0,14 0 0,-23 0 0,0 0 0,35 0 118,-39 0 1,-2 0-119,20 0 793,-10 0-793,12 0 6397,-13 0-6397,4 0 936,-17 0-936,4 0 231,-18 0-231,-1 0 0,-6 0 0,-3 0 0,2 0 0,-3 0 0,5 0 0,-1 0 0,6 0 0,7 0 0,13 0 0,8 0 0,13 0 0,2 0 0,-7 0 0,4 0-6784,-6 0 6784,2 0-4537,5 0 4537,-7 0 0,-6 0 0,-2 0 0,4 0 0,-14 0 4537,1 0-4537,-17 0 6784,-6 0-6784,-3 0 0,-6 3 0,-2 1 0,-6 0 0,3 2 0,-4-5 0,0 2 0,-3 0 0,3-2 0,-7 5 0,3-3 0,-3 4 0,0 0 0,0 0 0,0 0 0,0-6 0,0-9 0,0-8 0,0-8 0,0 10 0,0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20.622"/>
    </inkml:context>
    <inkml:brush xml:id="br0">
      <inkml:brushProperty name="width" value="0.05" units="cm"/>
      <inkml:brushProperty name="height" value="0.05" units="cm"/>
      <inkml:brushProperty name="color" value="#E71224"/>
    </inkml:brush>
  </inkml:definitions>
  <inkml:trace contextRef="#ctx0" brushRef="#br0">0 30 24575,'14'0'0,"38"0"0,-5 0 0,34 0 0,3 0 0,1 0 0,13 0-710,-8 0 1,-2 0 709,-7 0 0,-7-5 345,-8 4-345,-15-8 0,-8 7 0,-11-6 0,-1 8 0,-10-4 1074,-5 4-1074,-5 0 0,-4 0 0,0 0 0,0 0 0,-3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45.871"/>
    </inkml:context>
    <inkml:brush xml:id="br0">
      <inkml:brushProperty name="width" value="0.05" units="cm"/>
      <inkml:brushProperty name="height" value="0.05" units="cm"/>
      <inkml:brushProperty name="color" value="#E71224"/>
    </inkml:brush>
  </inkml:definitions>
  <inkml:trace contextRef="#ctx0" brushRef="#br0">0 110 24575,'11'0'0,"21"0"0,-1 0 0,23 0 0,26 0 0,-7 0 0,-15 0 0,3 0 0,-9 0 0,-2 0 0,32 0 0,-26 0 0,-3 0 0,0 0 0,-3 0 0,2 0 0,3 0 0,-4 0 0,0 0 0,14 0 0,30 0 0,-21 0 0,-6 0 0,2 0 0,-4 0 0,8 0 0,0 0 0,-2 0 0,-7 0 0,0 0 0,0 0 0,0 0 0,0 0 0,-6 0 0,4 0 0,-11 0 0,5 0 0,-7 0 0,0 0 0,1 0 0,-1 0 0,-5 0 0,4 0 0,-5 0 0,6 0 0,1 0 0,-1 0 0,0 0 0,7 0 0,-5-5 0,5 4 0,0-3 0,17-1 0,-11 4 0,10-4 0,-17 5 0,-4-4 0,5 3 0,-6-4 0,-1 5 0,23-4 0,5 3-6784,-5-4 6784,-2 5-821,-27 0 821,1 0 0,4 0 0,-5 0 0,7 0 0,-7 0 6377,11 0-6377,-8 0 1228,9 0-1228,-5 0 0,-1 0 0,0 0 0,1 0 0,-1-4 0,0 3 0,-5-8 0,4 8 0,-10-8 0,9 4 0,-9 0 0,10-4 0,-11 3 0,11 1 0,-4-4 0,5 8 0,1-3 0,-1 4 0,0 0 0,1 0 0,-2 0 0,3 0 0,18 0 0,-15 0 0,0 0 0,10 0 0,15 0 0,-4 0 0,13 0 0,-8 0 0,0 0 0,8 0 0,-22 0 0,1 0 0,-13 0 0,0 0 0,17 0 0,-1 0 0,28 0 0,-46 0 0,1 0 0,-4 0 0,1 0 0,7 0 0,0 0 0,-7 0 0,-1 0 0,8 0 0,0 0 0,-7 0 0,-1 0 0,5 0 0,-2 0 0,24 0 0,-15 0 0,-3 0 0,-2 0 0,-1 0 0,0 0 0,-2 0 0,18 0 0,-7 0 0,-6 0 0,-2 0 0,-13 0 0,5 0 0,-10 0 0,4 4 0,-6-3 0,0 7 0,39-3 0,-29 0 0,52 4 0,-56-8 0,22 8 0,-26-8 0,10 3 0,-11-4 0,11 0 0,-4 0 0,19 0 0,-10 0 0,4 0 0,-3 0 0,22 0 0,-6 0 0,24 0 0,-21 0 0,-12 0 0,31 0 0,-41 0 0,35 0 0,-29 0 0,7 0 0,7 0 0,-11 0 0,9 0 0,-18 0 0,5 0 0,-7 0 0,17 0 0,-12 0 0,12 0 0,-17 0 0,0 0 0,-5 0 0,4 0 0,-5 0 0,1 0 0,3 0 0,-3 0 0,5 0 0,22-5 0,-27 4 0,46-10 0,-40 4 0,36 1 0,-32 1 0,21 5 0,-22 0 0,18 0 0,-7 0 0,0 0 0,0 0 0,16 0 0,-19 0 0,11 0 0,-29 0 0,5 0 0,-10 0 0,-1 0 0,-2 0 0,-9 0 0,4 0 0,-1 0 0,-3 4 0,15 0 0,-18 5 0,8-5 0,-12 3 0,-4-6 0,4 3 0,-4 0 0,0-4 0,4 4 0,-4-4 0,4 0 0,7 0-6784,-4 0 6784,5 0 0,-3 0 0,-9 0 0,4 0 0,0 0 0,-3 0 0,3 0 6784,-4 0-6784,-1 0 0,5 0 0,-3 0 0,3-4 0,-11 4 0,-2-4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25:47.775"/>
    </inkml:context>
    <inkml:brush xml:id="br0">
      <inkml:brushProperty name="width" value="0.05" units="cm"/>
      <inkml:brushProperty name="height" value="0.05" units="cm"/>
      <inkml:brushProperty name="color" value="#E71224"/>
    </inkml:brush>
  </inkml:definitions>
  <inkml:trace contextRef="#ctx0" brushRef="#br0">1 212 24575,'29'0'0,"26"0"0,15 0 0,-15 0 0,4 0 0,-9 0 0,4 0 0,11 0 0,8 0 0,-3 0 0,14 0 0,0 0-830,-13 0 0,2 0 1,-2 0 829,16 0 0,-4 0 0,-12 0 0,-1 0 0,4 0 0,1 0 0,-6 0 0,0 0 0,0 0 0,1 0 0,5 0 0,-1 0 0,-8 0 0,0 0 0,8 0 0,-2 0 0,-11 0 0,-1 0 0,8 0 0,0 0 0,-7 0 0,-1 0 0,-1 0 0,0 0-105,0 0 0,-2 0 105,-6 0 0,-1 0 291,50-6-291,-3 5 0,-14-4 0,-8 5 0,-23 0 0,0 0 0,22-5 0,-21 5 0,0-1 0,28-10 0,8 10 0,-6-9 0,-17 6 0,1 1 0,25-9 0,-25 9 0,-1-1 0,17-6 0,14 9 0,-14-10 0,6 10 0,-8-4 0,-13 0 0,10 4 0,-16-3 0,1-1 0,25-2 0,-21 2 0,-4-1 0,-5 0 0,-1-3 0,0 8 1210,-5-8-1210,5 8 810,-7-8-810,7 8 388,17-9-388,-18 4 0,28-1 0,-36 3 0,23-1 0,-13 4 0,7-8 0,0 7 0,0-3 0,0 5 0,-7 0 0,6 0 0,-6 0 0,7 0 0,-7 0 0,6 0 0,-12 0 0,4 0 0,-5 0 0,-1 0 0,14 0 0,-3 0 0,11 0 0,-19 0 0,2 0 0,28 0 0,-19 2 0,-3 2 0,3 6 0,20 2 0,-23 8 0,13-8 0,-1 10 0,-8-10 0,-7 3 0,-1-5 0,-13 0 0,5 0 0,-10-1 0,10-3 0,-10 2 0,9-3 0,-3 5 0,5-4 0,-5 2 0,4-2 0,-11 3 0,0 0 0,-7-3 0,-5 1 0,-1-6 0,-4 6 0,-1-6 0,-4 3 0,0-4 0,-1 0 0,1 3 0,4-2 0,1 2 0,5 1 0,4-3 0,-3 3 0,9 0 0,2-3 0,-4 3 0,3-4 0,-16 0 0,-1 0 0,0 0 0,-3 0 0,3 0 0,-5 0 0,1 0 0,0 0 0,4 0 0,1 0 0,0 0 0,3 0 0,-2 0 0,8 0 0,-7 0 0,6 0 0,-7 0 0,-1 0 0,-1 0 0,0 0 0,-3 0 0,7 0 0,-7 0 0,12 0 0,-18 0 0,6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0:40.675"/>
    </inkml:context>
    <inkml:brush xml:id="br0">
      <inkml:brushProperty name="width" value="0.05" units="cm"/>
      <inkml:brushProperty name="height" value="0.05" units="cm"/>
      <inkml:brushProperty name="color" value="#E71224"/>
    </inkml:brush>
  </inkml:definitions>
  <inkml:trace contextRef="#ctx0" brushRef="#br0">113 8 17448,'-4'-7'0,"2"6"3184,2 2-3184,0 6 1222,0 4-1222,0 1 644,0 8-644,0-3 0,0 41 0,0-28 2077,0 30-2077,0-30 0,0 9 0,0-6 0,0 4 0,0-11 0,0-1 0,0 1 0,-8 0 0,6-1 0,-6-4 0,8 4 0,0-4 0,-3 0 0,2 4 0,-6-4 0,6 4 0,-7 1 0,3 5 0,0-4 0,-3 9 0,2-4 0,1 11 0,-3-4 0,7 4 0,-7-6 0,6 0 0,-6-5 0,8 4 0,-4-9 0,0 4 0,3-6 0,-3 1 0,4-5 0,0 3 0,0-2 0,0-1 0,0 3 0,0 3 0,0-1 0,0 16 0,0-8 0,0 9 0,0-6 0,0 6 0,0-4 0,0 4 0,0-11 0,0-1 0,0-6 0,0 1 0,0-5 0,0-1 0,0-8 0,0 2 0,0-6 0,0 3 0,0 0 0,0-3 0,0 7 0,0-4 0,4 9 0,-3 2 0,6 3 0,-6 1 0,7 5 0,-7-5 0,3 10 0,-4-9 0,4 4 0,-3-5 0,3-1 0,-1-4 0,-2-1 0,3-4 0,-4-4 0,0-1 0,0-4 0,0 0 0,0 0 0,0 0 0,3-3 0,-3-7 0,3-10 0,-3 5 0,0-4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2:08.102"/>
    </inkml:context>
    <inkml:brush xml:id="br0">
      <inkml:brushProperty name="width" value="0.05" units="cm"/>
      <inkml:brushProperty name="height" value="0.05" units="cm"/>
      <inkml:brushProperty name="color" value="#E71224"/>
    </inkml:brush>
  </inkml:definitions>
  <inkml:trace contextRef="#ctx0" brushRef="#br0">41 4617 24575,'0'-18'0,"0"-19"0,0-4 0,0-14 0,0 15 0,0-7 0,0-15 0,0 11 0,0-15 0,0 29 0,0 4 0,0 3 0,0 4 0,0 0 0,0 0 0,0-4 0,0 3 0,0-15 0,0 2 0,0-10 0,0-7 0,0 11 0,0-16 0,0 9 0,0-12 0,0 0 0,0 7 0,0 7 0,0 8 0,0 5 0,0 6 0,0 1 0,0 5 0,0 1 0,0 4 0,0-4 0,-4-7 0,-1-2 0,-1-15 0,-3-2 0,8-8 0,-4-6 0,5 7 0,0-6 0,0-2 0,0 0 0,0 16 0,0-2 0,0-35 0,0-11 0,0 18 0,0 8 0,0 5 0,0-21 0,0 12 0,0-13 0,0 22 0,-5-4 0,4 5 0,-4 0 0,5 0 0,0-13 0,0 34 0,0-14 0,0 33 0,0 5 0,0 0 0,0 6 0,0 3 0,0-3 0,0 3 0,0-3 0,4-6 0,1 0 0,8-10 0,7-13 0,1-2 0,9-11 0,-8 0 0,-2 5 0,0-12 0,4-10 0,-5-2 0,2 7 0,-10 0 0,-5 16 0,3-12 0,-8 6 0,4 8 0,-5 8 0,0 11 0,0 1 0,0 10 0,0 0 0,0 6 0,0 3 0,0 1 0,0 1 0,0 2 0,0-3 0,0 4 0,4-4 0,-3 3 0,5-6 0,-2 6 0,0 4 0,-1 5 0,-3 31 0,0-21 0,0 18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2:37.735"/>
    </inkml:context>
    <inkml:brush xml:id="br0">
      <inkml:brushProperty name="width" value="0.05" units="cm"/>
      <inkml:brushProperty name="height" value="0.05" units="cm"/>
      <inkml:brushProperty name="color" value="#E71224"/>
    </inkml:brush>
  </inkml:definitions>
  <inkml:trace contextRef="#ctx0" brushRef="#br0">1 1 24575,'0'10'0,"0"17"-4916,0 45 1,0 12 4170,3-29 0,0 1 745,-1 36 0,2 2-1078,4-24 1,1-8 1077,4 14 951,-3-7 1,1 0-952,0-4 0,-3-15 0,0 0 0,3 10-51,0 12 51,0 8 0,1 13 1850,-6-40 0,1 3-1850,2 7 0,1 0 0,-3 2 0,1 0 0,5 4 0,0 0 0,-2-1 0,0 3 0,5 21 0,1-3 0,-6-33 0,0-2 0,1 22 0,0-5 6219,-1-4-6219,0 7 0,0-2 0,1 8 0,-2-23 0,-4 20 0,-1-31 0,-1 11 0,-3-7 0,4 0 0,-5-5 532,0-2-532,0-6 110,0-5-110,0-1 1063,0-5-1063,0-5 0,0-1 0,0-9 0,0 7 0,0-9 0,0 5 0,0 6 0,0 4 0,0 8 0,0 27 0,0-27 0,0 33 0,0-41 0,0 3 0,0-16 0,0-1 0,0-5 0,0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3:11.765"/>
    </inkml:context>
    <inkml:brush xml:id="br0">
      <inkml:brushProperty name="width" value="0.05" units="cm"/>
      <inkml:brushProperty name="height" value="0.05" units="cm"/>
      <inkml:brushProperty name="color" value="#E71224"/>
    </inkml:brush>
  </inkml:definitions>
  <inkml:trace contextRef="#ctx0" brushRef="#br0">0 71 22763,'80'-4'0,"-16"2"0,5 1 0,6 2-1302,-17-1 1,2 0 1301,27 0 0,0 0 0,-26 0 0,2 0 0,29 0 0,12 0-1470,-18 0 1,9 0-1,1 0 1,-8 0 1469,-10 0 0,-5 0 0,6 0 0,18 0 0,11 0 0,-3 0 0,-18 0 551,-11 0 0,-10 0-551,9 0 0,-3 0 149,18 0-149,-34 0 0,-1 0 0,22 0 0,7 0 0,-4 4 1181,-22-2-1181,-1 2 6250,-12-4-6250,-2 0 1407,-6 0-1407,-5 0 204,4 0-204,-4 0 0,5 0 0,6 0 0,-4 0 0,10 0 0,-5 0 0,7 0 0,-1 0 0,1 0 0,-1 0 0,7 0 0,-5 0 0,5 0 0,-7 0 0,-6 0 0,5 0 0,-10 4 0,4-2 0,-6 2 0,1-4 0,-1 0 0,0 0 0,0 0 0,0 0 0,1 0 0,-1 4 0,0-3 0,0 3 0,1-4 0,21 0 0,-16 0 0,23 0 0,-22 0 0,1 0 0,3 0 0,-9 0 0,10 0 0,-10 0 0,4 0 0,-6 0 0,0 0 0,1 0 0,-1 0 0,6 0 0,-4 0 0,4 0 0,0 0 0,-5 0 0,11-5 0,-4 4 0,-1-7 0,5 7 0,-10-4 0,20 1 0,-22 3 0,10-3 0,-21 0 0,-1 3 0,-4-3 0,4 4 0,-4 0 0,10-4 0,-4 3 0,9-7 0,2 7 0,0-3 0,5-1 0,0 4 0,-5-3 0,4 4 0,-5 0 0,0-4 0,-5 3 0,-1-3 0,0 4 0,-4 0 0,48-4 0,-22 3 0,27-7 0,-32 7 0,-10-3 0,10 4 0,-8 0 0,4 0 0,-13 0 0,-6 0 0,1 0 0,-5 0 0,3 0 0,-7 0 0,8 0 0,-9 0 0,9 0 0,-4 0 0,4 4 0,1 0 0,0 1 0,-1 3 0,1-7 0,-5 6 0,3-2 0,-2 3 0,3-4 0,1 4 0,-1-7 0,-4 6 0,-1-6 0,-1 2 0,-6-3 0,1 0 0,-7 0 0,0 0 0,-3-11 0,-1 8 0,-3-9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3:14.863"/>
    </inkml:context>
    <inkml:brush xml:id="br0">
      <inkml:brushProperty name="width" value="0.05" units="cm"/>
      <inkml:brushProperty name="height" value="0.05" units="cm"/>
      <inkml:brushProperty name="color" value="#E71224"/>
    </inkml:brush>
  </inkml:definitions>
  <inkml:trace contextRef="#ctx0" brushRef="#br0">1 159 24575,'33'0'0,"3"0"-1967,28 0 1,33 0 0,17 0 0,-2 0 0,-18 0 1469,-16 0 1,-9 0-1,13 0 497,3 0 0,15 0 0,8 0 0,1 0 0,-7 0 0,-12 0-234,11 0 1,-10 0 0,-3 0 233,-3-2 0,-3 0 0,2-2 139,8 0 1,2-2 0,-5 0-140,-17 1 0,-3-1 0,0-1 0,2 0 0,0-2 0,-2 2-417,21-1 0,-2 1 417,5-1 0,-5 0 1711,-33 2 1,-2 0-1712,14-1 0,-3 0 0,22-5 0,14 5 0,-11-4 3417,-15 10-3417,-8-4 2807,-10 5-2807,1 0 1834,-5 0-1834,19 0 955,-23 0-955,36 0 0,-21 0 0,26 0 0,-8 0 0,8 0 0,-6 0 0,14 5 0,-28 1 0,9 5 0,16 0 0,-26-1 0,24-4 0,-35 3 0,-5-3 0,5 0 0,-7 3 0,1-4 0,-1 1 0,0-2 0,1 1 0,-1-4 0,0 3 0,1 1 0,-7-4 0,5 4 0,-10-5 0,4 0 0,-6 0 0,6 4 0,-4-3 0,16 8 0,-14-7 0,14 7 0,-10-8 0,5 8 0,7-3 0,-5 4 0,-1 0 0,-8-1 0,-6-3 0,-5 2 0,-1-8 0,-14 4 0,2 0 0,-11-3 0,15 2 0,-5-3 0,10 0 0,-6 0 0,2 0 0,-7 0 0,3 0 0,5 0 0,3 0 0,4 0 0,-2 0 0,-8 0 0,-2 0 0,-5 0 0,30 0 0,-18 0 0,24 0 0,-26 0 0,1 0 0,-1 0 0,-7 0 0,1 0 0,-11 0 0,3 0 0,-7-3 0,2-1 0,-3-2 0,8-5 0,-3 3 0,0 0 0,-5 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3:26.311"/>
    </inkml:context>
    <inkml:brush xml:id="br0">
      <inkml:brushProperty name="width" value="0.05" units="cm"/>
      <inkml:brushProperty name="height" value="0.05" units="cm"/>
      <inkml:brushProperty name="color" value="#E71224"/>
    </inkml:brush>
  </inkml:definitions>
  <inkml:trace contextRef="#ctx0" brushRef="#br0">1 50 24575,'6'3'0,"1"-2"0,-1 5 0,42 4 0,13-1 0,4-1 0,8 2 0,11-2 0,-7-6 0,4-3 0,-7 0 0,-7 1 0,0 0-195,4 2 1,6 0 0,-7-1 194,-11-1 0,-7 1 0,30 3 0,-28-3 0,0-2 0,35 1 0,1 0 0,-7 0 0,6 0 0,0 0 0,-6 0 0,-8 0 0,-22 0 0,1 0 0,37 0 0,4 0 0,-40 0 0,-1 0-6591,12 0 6591,24 0-4408,-11 0 4408,3-11-357,9 3 357,8-4 0,-24 3 0,1 1 0,-16 4 0,1-1 0,20-4 0,0 0 0,-21 5 0,-2 0 0,1-2 0,0 0 0,0 6 0,0-1 0,-3-5 0,-2 1 0,31 3-392,9-3 392,-25 5 0,13 0 0,-3 0 0,-12 0 0,20 0 3857,-30 0-3857,-7 0 0,0 0 0,9 0 0,36 0 0,-40 0 0,38 0 0,-47 0 0,47 5 0,-39 1 0,18 5 0,-7-5 0,-6 3 5946,20-3-5946,-23 4 1299,16 0-1299,-21 0 927,-1 0-927,0 0 302,1 0-302,-1 0 0,0 0 0,1 0 0,13 1 0,-16-1 0,21 0 0,-17 1 0,7-1 0,4 1 0,-4-1 0,-1 1 0,-1-1 0,-7 0 0,-5-4 0,4 2 0,-10-6 0,9 6 0,-9-6 0,10 2 0,-10 0 0,10-3 0,-5 3 0,1-4 0,10 5 0,-9-4 0,11 9 0,-7-9 0,0 7 0,-5-2 0,-2-1 0,-6 3 0,-5-7 0,-1 7 0,-3-7 0,-10 6 0,-1-6 0,-10 2 0,0-3 0,0 0 0,-3-6 0,-1 5 0,-3-5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3T09:33:41.942"/>
    </inkml:context>
    <inkml:brush xml:id="br0">
      <inkml:brushProperty name="width" value="0.05" units="cm"/>
      <inkml:brushProperty name="height" value="0.05" units="cm"/>
      <inkml:brushProperty name="color" value="#E71224"/>
    </inkml:brush>
  </inkml:definitions>
  <inkml:trace contextRef="#ctx0" brushRef="#br0">1 68 24575,'41'0'0,"-11"0"0,31 0 0,25 0 0,-18 0 0,26 0 0,-37 0 0,-7 0-3392,24 3 0,3 2 3392,-13 1-99,15 1 1,-4 3 98,-35 0 0,10-1 0,-7-1 0,1-7 0,-6 4 6687,11-1-6687,-4-3 294,-1 4-294,5-5 0,-4 0 0,5 0 0,0 4 0,1-3 0,-1 4 0,0-5 0,1 4 0,-1-3 0,0 4 0,1-5 0,-7 0 0,5 0 0,-10 0 0,4 0 0,0 0 0,-4 0 0,4 0 0,-6 0 0,0 0 0,0 0 0,7 0 0,0 0 0,23 0 0,-13 0 0,20 0 0,-22 0 0,11 0 0,-11 0 0,11 0 0,-4 0 0,13 0 0,-17 0-6784,29 0 6784,-21-6-1633,19 5 1633,-2-4-1015,-6 5 1015,7-5-239,8 4 239,-6-5 0,-31 4 0,0 0 0,33 0 0,11-3 0,-22 1 0,6 2 5354,-13-2-5354,5 4 2188,-7 0-2188,0 0 1685,0 0-1685,-7-5 0,5 4 444,-11-4-444,5 5 0,-6-4 0,-1 3 0,0-4 0,1 5 0,16-4 0,4 3 0,0-4 0,-10 5 0,4 0 0,-22 0 0,22 0 0,-26 0 0,4 0 0,-6 0 0,1 0 0,-1 0 0,0 0 0,6 0 0,-4 0 0,-2 0 0,-1 0 0,-9 0 0,4 0 0,-5 0 0,11 0 0,-13 0 0,7 0 0,-19 0 0,2 0 0,-6 0 0,3 0 0,-4 0 0,-3-3 0,-1-4 0,-3-9 0,0-11 0,0 12 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8E29F-B136-4320-B718-99224E7E1AF5}" type="datetimeFigureOut">
              <a:rPr lang="ru-RU" smtClean="0"/>
              <a:pPr/>
              <a:t>16.09.2024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FBA70-BD6B-4DB4-92D4-9CFF0251AC11}" type="slidenum">
              <a:rPr lang="ru-RU" smtClean="0"/>
              <a:pPr/>
              <a:t>‹Nº›</a:t>
            </a:fld>
            <a:endParaRPr lang="ru-RU"/>
          </a:p>
        </p:txBody>
      </p:sp>
    </p:spTree>
    <p:extLst>
      <p:ext uri="{BB962C8B-B14F-4D97-AF65-F5344CB8AC3E}">
        <p14:creationId xmlns:p14="http://schemas.microsoft.com/office/powerpoint/2010/main" val="1527111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1</a:t>
            </a:fld>
            <a:endParaRPr lang="ru-RU"/>
          </a:p>
        </p:txBody>
      </p:sp>
    </p:spTree>
    <p:extLst>
      <p:ext uri="{BB962C8B-B14F-4D97-AF65-F5344CB8AC3E}">
        <p14:creationId xmlns:p14="http://schemas.microsoft.com/office/powerpoint/2010/main" val="4263229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a:t>
            </a:fld>
            <a:endParaRPr lang="ru-RU"/>
          </a:p>
        </p:txBody>
      </p:sp>
    </p:spTree>
    <p:extLst>
      <p:ext uri="{BB962C8B-B14F-4D97-AF65-F5344CB8AC3E}">
        <p14:creationId xmlns:p14="http://schemas.microsoft.com/office/powerpoint/2010/main" val="261435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a:t>
            </a:fld>
            <a:endParaRPr lang="ru-RU"/>
          </a:p>
        </p:txBody>
      </p:sp>
    </p:spTree>
    <p:extLst>
      <p:ext uri="{BB962C8B-B14F-4D97-AF65-F5344CB8AC3E}">
        <p14:creationId xmlns:p14="http://schemas.microsoft.com/office/powerpoint/2010/main" val="1891637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a:t>
            </a:fld>
            <a:endParaRPr lang="ru-RU"/>
          </a:p>
        </p:txBody>
      </p:sp>
    </p:spTree>
    <p:extLst>
      <p:ext uri="{BB962C8B-B14F-4D97-AF65-F5344CB8AC3E}">
        <p14:creationId xmlns:p14="http://schemas.microsoft.com/office/powerpoint/2010/main" val="444709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5</a:t>
            </a:fld>
            <a:endParaRPr lang="ru-RU"/>
          </a:p>
        </p:txBody>
      </p:sp>
    </p:spTree>
    <p:extLst>
      <p:ext uri="{BB962C8B-B14F-4D97-AF65-F5344CB8AC3E}">
        <p14:creationId xmlns:p14="http://schemas.microsoft.com/office/powerpoint/2010/main" val="4208642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8</a:t>
            </a:fld>
            <a:endParaRPr lang="ru-RU"/>
          </a:p>
        </p:txBody>
      </p:sp>
    </p:spTree>
    <p:extLst>
      <p:ext uri="{BB962C8B-B14F-4D97-AF65-F5344CB8AC3E}">
        <p14:creationId xmlns:p14="http://schemas.microsoft.com/office/powerpoint/2010/main" val="2885092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9</a:t>
            </a:fld>
            <a:endParaRPr lang="ru-RU"/>
          </a:p>
        </p:txBody>
      </p:sp>
    </p:spTree>
    <p:extLst>
      <p:ext uri="{BB962C8B-B14F-4D97-AF65-F5344CB8AC3E}">
        <p14:creationId xmlns:p14="http://schemas.microsoft.com/office/powerpoint/2010/main" val="1812421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10</a:t>
            </a:fld>
            <a:endParaRPr lang="ru-RU"/>
          </a:p>
        </p:txBody>
      </p:sp>
    </p:spTree>
    <p:extLst>
      <p:ext uri="{BB962C8B-B14F-4D97-AF65-F5344CB8AC3E}">
        <p14:creationId xmlns:p14="http://schemas.microsoft.com/office/powerpoint/2010/main" val="727675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20</a:t>
            </a:fld>
            <a:endParaRPr lang="ru-RU"/>
          </a:p>
        </p:txBody>
      </p:sp>
    </p:spTree>
    <p:extLst>
      <p:ext uri="{BB962C8B-B14F-4D97-AF65-F5344CB8AC3E}">
        <p14:creationId xmlns:p14="http://schemas.microsoft.com/office/powerpoint/2010/main" val="3073711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21</a:t>
            </a:fld>
            <a:endParaRPr lang="ru-RU"/>
          </a:p>
        </p:txBody>
      </p:sp>
    </p:spTree>
    <p:extLst>
      <p:ext uri="{BB962C8B-B14F-4D97-AF65-F5344CB8AC3E}">
        <p14:creationId xmlns:p14="http://schemas.microsoft.com/office/powerpoint/2010/main" val="108313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27</a:t>
            </a:fld>
            <a:endParaRPr lang="ru-RU"/>
          </a:p>
        </p:txBody>
      </p:sp>
    </p:spTree>
    <p:extLst>
      <p:ext uri="{BB962C8B-B14F-4D97-AF65-F5344CB8AC3E}">
        <p14:creationId xmlns:p14="http://schemas.microsoft.com/office/powerpoint/2010/main" val="1955318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28</a:t>
            </a:fld>
            <a:endParaRPr lang="ru-RU"/>
          </a:p>
        </p:txBody>
      </p:sp>
    </p:spTree>
    <p:extLst>
      <p:ext uri="{BB962C8B-B14F-4D97-AF65-F5344CB8AC3E}">
        <p14:creationId xmlns:p14="http://schemas.microsoft.com/office/powerpoint/2010/main" val="1342956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29</a:t>
            </a:fld>
            <a:endParaRPr lang="ru-RU"/>
          </a:p>
        </p:txBody>
      </p:sp>
    </p:spTree>
    <p:extLst>
      <p:ext uri="{BB962C8B-B14F-4D97-AF65-F5344CB8AC3E}">
        <p14:creationId xmlns:p14="http://schemas.microsoft.com/office/powerpoint/2010/main" val="1279197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30</a:t>
            </a:fld>
            <a:endParaRPr lang="ru-RU"/>
          </a:p>
        </p:txBody>
      </p:sp>
    </p:spTree>
    <p:extLst>
      <p:ext uri="{BB962C8B-B14F-4D97-AF65-F5344CB8AC3E}">
        <p14:creationId xmlns:p14="http://schemas.microsoft.com/office/powerpoint/2010/main" val="1539918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31</a:t>
            </a:fld>
            <a:endParaRPr lang="ru-RU"/>
          </a:p>
        </p:txBody>
      </p:sp>
    </p:spTree>
    <p:extLst>
      <p:ext uri="{BB962C8B-B14F-4D97-AF65-F5344CB8AC3E}">
        <p14:creationId xmlns:p14="http://schemas.microsoft.com/office/powerpoint/2010/main" val="2443447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32</a:t>
            </a:fld>
            <a:endParaRPr lang="ru-RU"/>
          </a:p>
        </p:txBody>
      </p:sp>
    </p:spTree>
    <p:extLst>
      <p:ext uri="{BB962C8B-B14F-4D97-AF65-F5344CB8AC3E}">
        <p14:creationId xmlns:p14="http://schemas.microsoft.com/office/powerpoint/2010/main" val="2227040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37</a:t>
            </a:fld>
            <a:endParaRPr lang="ru-RU"/>
          </a:p>
        </p:txBody>
      </p:sp>
    </p:spTree>
    <p:extLst>
      <p:ext uri="{BB962C8B-B14F-4D97-AF65-F5344CB8AC3E}">
        <p14:creationId xmlns:p14="http://schemas.microsoft.com/office/powerpoint/2010/main" val="1696960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38</a:t>
            </a:fld>
            <a:endParaRPr lang="ru-RU"/>
          </a:p>
        </p:txBody>
      </p:sp>
    </p:spTree>
    <p:extLst>
      <p:ext uri="{BB962C8B-B14F-4D97-AF65-F5344CB8AC3E}">
        <p14:creationId xmlns:p14="http://schemas.microsoft.com/office/powerpoint/2010/main" val="1710215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39</a:t>
            </a:fld>
            <a:endParaRPr lang="ru-RU"/>
          </a:p>
        </p:txBody>
      </p:sp>
    </p:spTree>
    <p:extLst>
      <p:ext uri="{BB962C8B-B14F-4D97-AF65-F5344CB8AC3E}">
        <p14:creationId xmlns:p14="http://schemas.microsoft.com/office/powerpoint/2010/main" val="2258828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40</a:t>
            </a:fld>
            <a:endParaRPr lang="ru-RU"/>
          </a:p>
        </p:txBody>
      </p:sp>
    </p:spTree>
    <p:extLst>
      <p:ext uri="{BB962C8B-B14F-4D97-AF65-F5344CB8AC3E}">
        <p14:creationId xmlns:p14="http://schemas.microsoft.com/office/powerpoint/2010/main" val="3198110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41</a:t>
            </a:fld>
            <a:endParaRPr lang="ru-RU"/>
          </a:p>
        </p:txBody>
      </p:sp>
    </p:spTree>
    <p:extLst>
      <p:ext uri="{BB962C8B-B14F-4D97-AF65-F5344CB8AC3E}">
        <p14:creationId xmlns:p14="http://schemas.microsoft.com/office/powerpoint/2010/main" val="476155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42</a:t>
            </a:fld>
            <a:endParaRPr lang="ru-RU"/>
          </a:p>
        </p:txBody>
      </p:sp>
    </p:spTree>
    <p:extLst>
      <p:ext uri="{BB962C8B-B14F-4D97-AF65-F5344CB8AC3E}">
        <p14:creationId xmlns:p14="http://schemas.microsoft.com/office/powerpoint/2010/main" val="3213181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43</a:t>
            </a:fld>
            <a:endParaRPr lang="ru-RU"/>
          </a:p>
        </p:txBody>
      </p:sp>
    </p:spTree>
    <p:extLst>
      <p:ext uri="{BB962C8B-B14F-4D97-AF65-F5344CB8AC3E}">
        <p14:creationId xmlns:p14="http://schemas.microsoft.com/office/powerpoint/2010/main" val="2531598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44</a:t>
            </a:fld>
            <a:endParaRPr lang="ru-RU"/>
          </a:p>
        </p:txBody>
      </p:sp>
    </p:spTree>
    <p:extLst>
      <p:ext uri="{BB962C8B-B14F-4D97-AF65-F5344CB8AC3E}">
        <p14:creationId xmlns:p14="http://schemas.microsoft.com/office/powerpoint/2010/main" val="1905384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45</a:t>
            </a:fld>
            <a:endParaRPr lang="ru-RU"/>
          </a:p>
        </p:txBody>
      </p:sp>
    </p:spTree>
    <p:extLst>
      <p:ext uri="{BB962C8B-B14F-4D97-AF65-F5344CB8AC3E}">
        <p14:creationId xmlns:p14="http://schemas.microsoft.com/office/powerpoint/2010/main" val="929332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46</a:t>
            </a:fld>
            <a:endParaRPr lang="ru-RU"/>
          </a:p>
        </p:txBody>
      </p:sp>
    </p:spTree>
    <p:extLst>
      <p:ext uri="{BB962C8B-B14F-4D97-AF65-F5344CB8AC3E}">
        <p14:creationId xmlns:p14="http://schemas.microsoft.com/office/powerpoint/2010/main" val="1739353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47</a:t>
            </a:fld>
            <a:endParaRPr lang="ru-RU"/>
          </a:p>
        </p:txBody>
      </p:sp>
    </p:spTree>
    <p:extLst>
      <p:ext uri="{BB962C8B-B14F-4D97-AF65-F5344CB8AC3E}">
        <p14:creationId xmlns:p14="http://schemas.microsoft.com/office/powerpoint/2010/main" val="2033604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95FBA70-BD6B-4DB4-92D4-9CFF0251AC11}" type="slidenum">
              <a:rPr lang="ru-RU" smtClean="0"/>
              <a:pPr/>
              <a:t>48</a:t>
            </a:fld>
            <a:endParaRPr lang="ru-RU"/>
          </a:p>
        </p:txBody>
      </p:sp>
    </p:spTree>
    <p:extLst>
      <p:ext uri="{BB962C8B-B14F-4D97-AF65-F5344CB8AC3E}">
        <p14:creationId xmlns:p14="http://schemas.microsoft.com/office/powerpoint/2010/main" val="102341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Ответы</a:t>
            </a:r>
            <a:r>
              <a:rPr lang="ru-RU" baseline="0" dirty="0"/>
              <a:t> :  1 (1,3)  2 (3) 3 (3, 4)</a:t>
            </a:r>
            <a:endParaRPr lang="ru-RU" dirty="0"/>
          </a:p>
        </p:txBody>
      </p:sp>
      <p:sp>
        <p:nvSpPr>
          <p:cNvPr id="4" name="Номер слайда 3"/>
          <p:cNvSpPr>
            <a:spLocks noGrp="1"/>
          </p:cNvSpPr>
          <p:nvPr>
            <p:ph type="sldNum" sz="quarter" idx="10"/>
          </p:nvPr>
        </p:nvSpPr>
        <p:spPr/>
        <p:txBody>
          <a:bodyPr/>
          <a:lstStyle/>
          <a:p>
            <a:fld id="{A82A5ED2-282E-461B-A939-F0BB6074ADC9}" type="slidenum">
              <a:rPr lang="ru-RU" smtClean="0"/>
              <a:t>49</a:t>
            </a:fld>
            <a:endParaRPr lang="ru-RU"/>
          </a:p>
        </p:txBody>
      </p:sp>
    </p:spTree>
    <p:extLst>
      <p:ext uri="{BB962C8B-B14F-4D97-AF65-F5344CB8AC3E}">
        <p14:creationId xmlns:p14="http://schemas.microsoft.com/office/powerpoint/2010/main" val="1711409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E2A4E2-329E-4A4B-B44A-A616ECC5691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24B5C5CD-7B78-4053-B74D-725447E6D6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6C155FE-C85A-44DA-80A5-BFE260925188}"/>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D5DDC4F2-4524-42C3-B630-FCA2A5043F1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8FEF37A-025D-4335-B37C-EF2AECB78F07}"/>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804173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ABB643-B587-404A-8344-DB97C3FCD6D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8CBBD5-C95A-4304-99E1-5DA1102E255B}"/>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16445E9-0EAD-4814-8A1B-BAE2A5E7C11F}"/>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8BD1EB48-4C60-4D6C-B25B-B8645124E46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4E27CBD-4D2C-42B3-8D8A-7101AB53EE29}"/>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95119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049D51-8218-44DC-AE29-39D78A28B26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7F01B9B5-4F62-4600-921E-332F9AB681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6C75EB1D-5432-4EFF-9A1C-84857CDCE02D}"/>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BAF7DEA1-A965-4EE3-A9C3-B1D3C52F877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4E3D38D-ACA6-4EC0-BB4C-6C1B2299A80C}"/>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3861894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8C1C70-BDD6-48E6-B53C-8C8A5579311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70471C2-9346-43DB-B120-950AFF60CC0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5D1F305B-0EBE-4823-BB63-12943915AAC9}"/>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42F16978-D488-4CA0-89EF-FA63FFA02E42}"/>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6" name="Нижний колонтитул 5">
            <a:extLst>
              <a:ext uri="{FF2B5EF4-FFF2-40B4-BE49-F238E27FC236}">
                <a16:creationId xmlns:a16="http://schemas.microsoft.com/office/drawing/2014/main" id="{991DD534-B533-4E8C-BAC7-52F3345684F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BAED044-067F-4A73-9AAD-C90E08001AB9}"/>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27996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2F35E6-A339-4F44-9622-9DEA622B032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4F3D7D9C-8515-4B94-9508-FA159DE22C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4981837-4D60-4858-B952-E2FB3BBE9E1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3A152B1-D8BD-4614-958B-113F9346A6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165B602-C8B7-42EE-B631-B4BF7081A675}"/>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A4C770B9-701F-40B6-AAA9-B270219EA8D7}"/>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8" name="Нижний колонтитул 7">
            <a:extLst>
              <a:ext uri="{FF2B5EF4-FFF2-40B4-BE49-F238E27FC236}">
                <a16:creationId xmlns:a16="http://schemas.microsoft.com/office/drawing/2014/main" id="{C22310EE-E8FE-46A5-8007-18A9F0B24CE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3A1A46E3-7D1D-4A54-BD9E-C7FFD1850147}"/>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162114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CF4DD2-BD88-4707-BCEA-9D2718C41750}"/>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4128B03-DC37-40BF-97ED-43D62DA5B7BC}"/>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4" name="Нижний колонтитул 3">
            <a:extLst>
              <a:ext uri="{FF2B5EF4-FFF2-40B4-BE49-F238E27FC236}">
                <a16:creationId xmlns:a16="http://schemas.microsoft.com/office/drawing/2014/main" id="{B212B847-E6C7-4FCC-B443-BDE74773B38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40E268B-FCFC-41A0-B78D-AD7F5F8107BC}"/>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74072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73A9EF4-5365-4FB8-BD85-AFB464ECD0FF}"/>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3" name="Нижний колонтитул 2">
            <a:extLst>
              <a:ext uri="{FF2B5EF4-FFF2-40B4-BE49-F238E27FC236}">
                <a16:creationId xmlns:a16="http://schemas.microsoft.com/office/drawing/2014/main" id="{30856D66-952D-4A5C-A1AB-0EDB032BE39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3256873-4C73-4E06-95C0-7018655F9E17}"/>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39807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C4616C-7112-4C21-B9AB-C464E8D47BA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CFA6F4E-AC6B-49E6-99CE-9200606B22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FB24C889-F1A0-4E7C-A873-E707EBFA2A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DD51719-5077-46EC-A991-42128E5E7F17}"/>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6" name="Нижний колонтитул 5">
            <a:extLst>
              <a:ext uri="{FF2B5EF4-FFF2-40B4-BE49-F238E27FC236}">
                <a16:creationId xmlns:a16="http://schemas.microsoft.com/office/drawing/2014/main" id="{98B16B4A-67C3-4FD0-A96A-22C0AFD247B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70173C5-717B-4F3D-9BFE-E9D6B6A16C79}"/>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3303297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05CB46-3021-4537-BA28-7170509A456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4065A7DA-316D-4E94-81F5-EEBC5846E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53FDD228-7D09-4FA9-8E69-C96699C46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93F4B59-E515-4088-BADC-600D6B82FEBA}"/>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6" name="Нижний колонтитул 5">
            <a:extLst>
              <a:ext uri="{FF2B5EF4-FFF2-40B4-BE49-F238E27FC236}">
                <a16:creationId xmlns:a16="http://schemas.microsoft.com/office/drawing/2014/main" id="{7DDB93C9-4273-4886-A7CC-C35C5B100E9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CC78BA5-2C60-45E5-BC1C-0E5DB6481CD3}"/>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433385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9EFC0D-7CE7-4054-944C-2B5771849FE2}"/>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3D96205-B7DC-4FB1-B8CD-EECF46371FC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22C0994-9E76-4334-B397-1B129850CC6F}"/>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9758DAD9-D444-4E21-81C2-A75C98AD212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FE29954-11B3-41F0-A9A7-2AF9960A124B}"/>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89139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5EDE96E-F4AC-4361-A59D-5284F89F2D7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5FED631-8316-4373-9D4B-68D4747DCEF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DF2DD9D-12CD-4B84-9276-9A60DE6AA0EB}"/>
              </a:ext>
            </a:extLst>
          </p:cNvPr>
          <p:cNvSpPr>
            <a:spLocks noGrp="1"/>
          </p:cNvSpPr>
          <p:nvPr>
            <p:ph type="dt" sz="half" idx="10"/>
          </p:nvPr>
        </p:nvSpPr>
        <p:spPr/>
        <p:txBody>
          <a:body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5B75BBD5-7646-46E9-B3A1-57DE994F0BD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6F23C25-D330-45E8-AD86-DB7A08B7BC42}"/>
              </a:ext>
            </a:extLst>
          </p:cNvPr>
          <p:cNvSpPr>
            <a:spLocks noGrp="1"/>
          </p:cNvSpPr>
          <p:nvPr>
            <p:ph type="sldNum" sz="quarter" idx="12"/>
          </p:nvPr>
        </p:nvSpPr>
        <p:spPr/>
        <p:txBody>
          <a:bodyPr/>
          <a:lstStyle/>
          <a:p>
            <a:fld id="{3C1822FF-6F83-4E26-93DF-E6DE79D7B39D}" type="slidenum">
              <a:rPr lang="ru-RU" smtClean="0"/>
              <a:pPr/>
              <a:t>‹Nº›</a:t>
            </a:fld>
            <a:endParaRPr lang="ru-RU"/>
          </a:p>
        </p:txBody>
      </p:sp>
    </p:spTree>
    <p:extLst>
      <p:ext uri="{BB962C8B-B14F-4D97-AF65-F5344CB8AC3E}">
        <p14:creationId xmlns:p14="http://schemas.microsoft.com/office/powerpoint/2010/main" val="208572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0841F3-1442-45DA-992E-A959969C32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61045B3-FF43-4CFF-81F8-6A16320028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8D6405-8B8B-496D-940B-777F4CCC4E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92B12E-09F9-4A42-8633-91B79DAE53B2}" type="datetimeFigureOut">
              <a:rPr lang="ru-RU" smtClean="0"/>
              <a:pPr/>
              <a:t>16.09.2024</a:t>
            </a:fld>
            <a:endParaRPr lang="ru-RU"/>
          </a:p>
        </p:txBody>
      </p:sp>
      <p:sp>
        <p:nvSpPr>
          <p:cNvPr id="5" name="Нижний колонтитул 4">
            <a:extLst>
              <a:ext uri="{FF2B5EF4-FFF2-40B4-BE49-F238E27FC236}">
                <a16:creationId xmlns:a16="http://schemas.microsoft.com/office/drawing/2014/main" id="{8FE8012C-E990-44BB-8052-A055E16420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3EEDB793-D120-4A2A-AB46-88D5FB97C9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1822FF-6F83-4E26-93DF-E6DE79D7B39D}" type="slidenum">
              <a:rPr lang="ru-RU" smtClean="0"/>
              <a:pPr/>
              <a:t>‹Nº›</a:t>
            </a:fld>
            <a:endParaRPr lang="ru-RU"/>
          </a:p>
        </p:txBody>
      </p:sp>
    </p:spTree>
    <p:extLst>
      <p:ext uri="{BB962C8B-B14F-4D97-AF65-F5344CB8AC3E}">
        <p14:creationId xmlns:p14="http://schemas.microsoft.com/office/powerpoint/2010/main" val="758078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3.png"/><Relationship Id="rId7" Type="http://schemas.openxmlformats.org/officeDocument/2006/relationships/customXml" Target="../ink/ink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20.png"/><Relationship Id="rId4" Type="http://schemas.openxmlformats.org/officeDocument/2006/relationships/customXml" Target="../ink/ink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ustomXml" Target="../ink/ink5.xml"/><Relationship Id="rId5" Type="http://schemas.openxmlformats.org/officeDocument/2006/relationships/image" Target="../media/image13.png"/><Relationship Id="rId4" Type="http://schemas.openxmlformats.org/officeDocument/2006/relationships/customXml" Target="../ink/ink4.xml"/></Relationships>
</file>

<file path=ppt/slides/_rels/slide25.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6.png"/><Relationship Id="rId12" Type="http://schemas.openxmlformats.org/officeDocument/2006/relationships/customXml" Target="../ink/ink10.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ustomXml" Target="../ink/ink7.xml"/><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0.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17.png"/><Relationship Id="rId14" Type="http://schemas.openxmlformats.org/officeDocument/2006/relationships/customXml" Target="../ink/ink1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customXml" Target="../ink/ink1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customXml" Target="../ink/ink13.xml"/></Relationships>
</file>

<file path=ppt/slides/_rels/slide36.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35.png"/><Relationship Id="rId3" Type="http://schemas.openxmlformats.org/officeDocument/2006/relationships/image" Target="../media/image5.png"/><Relationship Id="rId7" Type="http://schemas.openxmlformats.org/officeDocument/2006/relationships/image" Target="../media/image32.png"/><Relationship Id="rId12" Type="http://schemas.openxmlformats.org/officeDocument/2006/relationships/customXml" Target="../ink/ink18.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ustomXml" Target="../ink/ink15.xml"/><Relationship Id="rId11" Type="http://schemas.openxmlformats.org/officeDocument/2006/relationships/image" Target="../media/image34.png"/><Relationship Id="rId5" Type="http://schemas.openxmlformats.org/officeDocument/2006/relationships/image" Target="../media/image31.png"/><Relationship Id="rId10" Type="http://schemas.openxmlformats.org/officeDocument/2006/relationships/customXml" Target="../ink/ink17.xml"/><Relationship Id="rId4" Type="http://schemas.openxmlformats.org/officeDocument/2006/relationships/customXml" Target="../ink/ink14.xml"/><Relationship Id="rId9"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Прямоугольник 2"/>
          <p:cNvSpPr/>
          <p:nvPr/>
        </p:nvSpPr>
        <p:spPr>
          <a:xfrm>
            <a:off x="0" y="12527"/>
            <a:ext cx="12192000" cy="6858000"/>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9" name="Рисунок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190751"/>
            <a:ext cx="8248650" cy="4667250"/>
          </a:xfrm>
          <a:prstGeom prst="rect">
            <a:avLst/>
          </a:prstGeom>
        </p:spPr>
      </p:pic>
      <p:sp>
        <p:nvSpPr>
          <p:cNvPr id="5" name="TextBox 4"/>
          <p:cNvSpPr txBox="1"/>
          <p:nvPr/>
        </p:nvSpPr>
        <p:spPr>
          <a:xfrm>
            <a:off x="307648" y="2334140"/>
            <a:ext cx="11494094" cy="2062103"/>
          </a:xfrm>
          <a:prstGeom prst="rect">
            <a:avLst/>
          </a:prstGeom>
          <a:noFill/>
        </p:spPr>
        <p:txBody>
          <a:bodyPr wrap="square" rtlCol="0">
            <a:spAutoFit/>
          </a:bodyPr>
          <a:lstStyle/>
          <a:p>
            <a:pPr algn="ctr"/>
            <a:r>
              <a:rPr lang="ru-RU" sz="3200" b="1" dirty="0">
                <a:solidFill>
                  <a:srgbClr val="FFFFFF"/>
                </a:solidFill>
                <a:latin typeface="PT Sans"/>
                <a:ea typeface="PT Sans"/>
                <a:cs typeface="PT Sans"/>
                <a:sym typeface="PT Sans"/>
              </a:rPr>
              <a:t>Вычислительная математика </a:t>
            </a:r>
          </a:p>
          <a:p>
            <a:pPr algn="ctr"/>
            <a:endParaRPr lang="ru-RU" sz="3200" b="1" dirty="0">
              <a:solidFill>
                <a:srgbClr val="FFFFFF"/>
              </a:solidFill>
              <a:latin typeface="PT Sans"/>
              <a:ea typeface="PT Sans"/>
              <a:sym typeface="PT Sans"/>
            </a:endParaRPr>
          </a:p>
          <a:p>
            <a:pPr algn="ctr"/>
            <a:r>
              <a:rPr lang="ru-RU" sz="3200" b="1" dirty="0">
                <a:solidFill>
                  <a:srgbClr val="FFFFFF"/>
                </a:solidFill>
                <a:latin typeface="PT Sans"/>
                <a:sym typeface="PT Sans"/>
              </a:rPr>
              <a:t>Лекция 1</a:t>
            </a:r>
          </a:p>
          <a:p>
            <a:pPr algn="ctr"/>
            <a:r>
              <a:rPr lang="ru-RU" sz="3200" b="1" dirty="0">
                <a:solidFill>
                  <a:srgbClr val="FFFFFF"/>
                </a:solidFill>
                <a:latin typeface="PT Sans"/>
                <a:sym typeface="PT Sans"/>
              </a:rPr>
              <a:t>Введение</a:t>
            </a:r>
          </a:p>
        </p:txBody>
      </p:sp>
      <p:pic>
        <p:nvPicPr>
          <p:cNvPr id="10" name="Рисунок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5325" y="0"/>
            <a:ext cx="3876675" cy="2676525"/>
          </a:xfrm>
          <a:prstGeom prst="rect">
            <a:avLst/>
          </a:prstGeom>
        </p:spPr>
      </p:pic>
    </p:spTree>
    <p:extLst>
      <p:ext uri="{BB962C8B-B14F-4D97-AF65-F5344CB8AC3E}">
        <p14:creationId xmlns:p14="http://schemas.microsoft.com/office/powerpoint/2010/main" val="648629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Как зовут преподавателя?</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990398"/>
            <a:ext cx="10147567" cy="3970318"/>
          </a:xfrm>
          <a:prstGeom prst="rect">
            <a:avLst/>
          </a:prstGeom>
          <a:noFill/>
        </p:spPr>
        <p:txBody>
          <a:bodyPr wrap="square" rtlCol="0">
            <a:spAutoFit/>
          </a:bodyPr>
          <a:lstStyle/>
          <a:p>
            <a:r>
              <a:rPr lang="ru-RU" b="1" dirty="0" err="1"/>
              <a:t>Дударин</a:t>
            </a:r>
            <a:r>
              <a:rPr lang="ru-RU" b="1" dirty="0"/>
              <a:t> Павел Владимирович, к.т.н. доцент каф. </a:t>
            </a:r>
            <a:r>
              <a:rPr lang="en-US" b="1" dirty="0"/>
              <a:t>“</a:t>
            </a:r>
            <a:r>
              <a:rPr lang="ru-RU" b="1" dirty="0"/>
              <a:t>Информационные системы</a:t>
            </a:r>
            <a:r>
              <a:rPr lang="en-US" b="1" dirty="0"/>
              <a:t>”</a:t>
            </a:r>
            <a:endParaRPr lang="ru-RU" b="1" dirty="0"/>
          </a:p>
          <a:p>
            <a:endParaRPr lang="ru-RU" b="1" dirty="0"/>
          </a:p>
          <a:p>
            <a:r>
              <a:rPr lang="ru-RU" b="1" dirty="0"/>
              <a:t>Основные дисциплины:</a:t>
            </a:r>
          </a:p>
          <a:p>
            <a:pPr marL="171450" indent="-171450">
              <a:buFontTx/>
              <a:buChar char="-"/>
            </a:pPr>
            <a:r>
              <a:rPr lang="ru-RU" dirty="0"/>
              <a:t>Исследование операций и методы оптимизации</a:t>
            </a:r>
          </a:p>
          <a:p>
            <a:pPr marL="171450" indent="-171450">
              <a:buFontTx/>
              <a:buChar char="-"/>
            </a:pPr>
            <a:r>
              <a:rPr lang="ru-RU" dirty="0"/>
              <a:t>Вычислительная математика</a:t>
            </a:r>
          </a:p>
          <a:p>
            <a:pPr marL="171450" indent="-171450">
              <a:buFontTx/>
              <a:buChar char="-"/>
            </a:pPr>
            <a:r>
              <a:rPr lang="ru-RU" dirty="0"/>
              <a:t>Методы оптимизации</a:t>
            </a:r>
          </a:p>
          <a:p>
            <a:endParaRPr lang="ru-RU" dirty="0"/>
          </a:p>
          <a:p>
            <a:r>
              <a:rPr lang="ru-RU" b="1" dirty="0"/>
              <a:t>Образование:</a:t>
            </a:r>
          </a:p>
          <a:p>
            <a:r>
              <a:rPr lang="ru-RU" dirty="0"/>
              <a:t>- </a:t>
            </a:r>
            <a:r>
              <a:rPr lang="ru-RU" dirty="0" err="1"/>
              <a:t>Аспиртанура</a:t>
            </a:r>
            <a:r>
              <a:rPr lang="ru-RU" dirty="0"/>
              <a:t> </a:t>
            </a:r>
            <a:r>
              <a:rPr lang="ru-RU" dirty="0" err="1"/>
              <a:t>УлГТУ</a:t>
            </a:r>
            <a:r>
              <a:rPr lang="ru-RU" dirty="0"/>
              <a:t> (математическое моделирование, численные методы и комплексы программ)</a:t>
            </a:r>
          </a:p>
          <a:p>
            <a:r>
              <a:rPr lang="ru-RU" dirty="0"/>
              <a:t>- </a:t>
            </a:r>
            <a:r>
              <a:rPr lang="ru-RU" dirty="0" err="1"/>
              <a:t>Специалитет</a:t>
            </a:r>
            <a:r>
              <a:rPr lang="ru-RU" dirty="0"/>
              <a:t> </a:t>
            </a:r>
            <a:r>
              <a:rPr lang="ru-RU" dirty="0" err="1"/>
              <a:t>УлГУ</a:t>
            </a:r>
            <a:r>
              <a:rPr lang="ru-RU" dirty="0"/>
              <a:t>   (прикладная математика и информатика)</a:t>
            </a:r>
          </a:p>
          <a:p>
            <a:endParaRPr lang="ru-RU" dirty="0"/>
          </a:p>
          <a:p>
            <a:r>
              <a:rPr lang="ru-RU" b="1" dirty="0"/>
              <a:t>Вне университета: </a:t>
            </a:r>
          </a:p>
          <a:p>
            <a:pPr marL="171450" indent="-171450">
              <a:buFontTx/>
              <a:buChar char="-"/>
            </a:pPr>
            <a:r>
              <a:rPr lang="en-US" dirty="0"/>
              <a:t>IBS</a:t>
            </a:r>
            <a:r>
              <a:rPr lang="ru-RU" dirty="0"/>
              <a:t> - технический директор продуктового направления (9 лет)</a:t>
            </a:r>
          </a:p>
          <a:p>
            <a:pPr marL="171450" indent="-171450">
              <a:buFontTx/>
              <a:buChar char="-"/>
            </a:pPr>
            <a:r>
              <a:rPr lang="ru-RU" dirty="0"/>
              <a:t>Авиакомпания Волга-Днепр (10 лет)</a:t>
            </a:r>
          </a:p>
        </p:txBody>
      </p:sp>
    </p:spTree>
    <p:extLst>
      <p:ext uri="{BB962C8B-B14F-4D97-AF65-F5344CB8AC3E}">
        <p14:creationId xmlns:p14="http://schemas.microsoft.com/office/powerpoint/2010/main" val="1988281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Основные правила</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990398"/>
            <a:ext cx="10147567" cy="3970318"/>
          </a:xfrm>
          <a:prstGeom prst="rect">
            <a:avLst/>
          </a:prstGeom>
          <a:noFill/>
        </p:spPr>
        <p:txBody>
          <a:bodyPr wrap="square" rtlCol="0">
            <a:spAutoFit/>
          </a:bodyPr>
          <a:lstStyle/>
          <a:p>
            <a:pPr marL="228600" indent="-228600">
              <a:buFontTx/>
              <a:buAutoNum type="arabicPeriod"/>
            </a:pPr>
            <a:r>
              <a:rPr lang="ru-RU" dirty="0"/>
              <a:t>Все лекции в </a:t>
            </a:r>
            <a:r>
              <a:rPr lang="ru-RU" dirty="0" err="1"/>
              <a:t>дистанте</a:t>
            </a:r>
            <a:r>
              <a:rPr lang="ru-RU" dirty="0"/>
              <a:t> в </a:t>
            </a:r>
            <a:r>
              <a:rPr lang="ru-RU" dirty="0" err="1"/>
              <a:t>дискорде</a:t>
            </a:r>
            <a:r>
              <a:rPr lang="ru-RU" dirty="0"/>
              <a:t>, там же будут ответы на популярные вопросы и важные уточнения. </a:t>
            </a:r>
          </a:p>
          <a:p>
            <a:pPr marL="228600" indent="-228600">
              <a:buFontTx/>
              <a:buAutoNum type="arabicPeriod"/>
            </a:pPr>
            <a:endParaRPr lang="ru-RU" dirty="0"/>
          </a:p>
          <a:p>
            <a:pPr marL="228600" indent="-228600">
              <a:buFontTx/>
              <a:buAutoNum type="arabicPeriod"/>
            </a:pPr>
            <a:r>
              <a:rPr lang="ru-RU" dirty="0"/>
              <a:t>В каждой лекции содержатся практические задания для семинарских занятий, которые ведет другой преподаватель.    </a:t>
            </a:r>
          </a:p>
          <a:p>
            <a:pPr marL="228600" indent="-228600">
              <a:buAutoNum type="arabicPeriod"/>
            </a:pPr>
            <a:endParaRPr lang="ru-RU" dirty="0"/>
          </a:p>
          <a:p>
            <a:pPr marL="228600" indent="-228600">
              <a:buAutoNum type="arabicPeriod"/>
            </a:pPr>
            <a:r>
              <a:rPr lang="ru-RU" dirty="0"/>
              <a:t>Два семестра, каждый по два цикла. В каждом семестре лекции и семинары (решение задач в группах по 3-4 человека). А также небольшие лабораторные работы в конце каждого семестра. </a:t>
            </a:r>
            <a:endParaRPr lang="en-US" dirty="0"/>
          </a:p>
          <a:p>
            <a:pPr marL="228600" indent="-228600">
              <a:buAutoNum type="arabicPeriod"/>
            </a:pPr>
            <a:endParaRPr lang="en-US" dirty="0"/>
          </a:p>
          <a:p>
            <a:pPr marL="228600" indent="-228600">
              <a:buAutoNum type="arabicPeriod"/>
            </a:pPr>
            <a:r>
              <a:rPr lang="ru-RU" dirty="0"/>
              <a:t>В первом семестре зачет. Допуск к зачету - все задания с семинаров и лабораторные работы качественно и вовремя. Зачет = репетиция экзамена на объеме семестра. </a:t>
            </a:r>
          </a:p>
          <a:p>
            <a:pPr marL="228600" indent="-228600">
              <a:buAutoNum type="arabicPeriod"/>
            </a:pPr>
            <a:endParaRPr lang="ru-RU" dirty="0"/>
          </a:p>
          <a:p>
            <a:pPr marL="228600" indent="-228600">
              <a:buAutoNum type="arabicPeriod"/>
            </a:pPr>
            <a:r>
              <a:rPr lang="ru-RU" dirty="0"/>
              <a:t>Во втором семестре экзамен. Допуск к экзамену - все задания с семинаров и лабораторные работы качественно и вовремя.</a:t>
            </a:r>
            <a:endParaRPr lang="ru-RU" b="1" dirty="0"/>
          </a:p>
        </p:txBody>
      </p:sp>
    </p:spTree>
    <p:extLst>
      <p:ext uri="{BB962C8B-B14F-4D97-AF65-F5344CB8AC3E}">
        <p14:creationId xmlns:p14="http://schemas.microsoft.com/office/powerpoint/2010/main" val="286758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Вычислительная математика</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838313"/>
            <a:ext cx="10147567" cy="5355312"/>
          </a:xfrm>
          <a:prstGeom prst="rect">
            <a:avLst/>
          </a:prstGeom>
          <a:noFill/>
        </p:spPr>
        <p:txBody>
          <a:bodyPr wrap="square" rtlCol="0">
            <a:spAutoFit/>
          </a:bodyPr>
          <a:lstStyle/>
          <a:p>
            <a:endParaRPr lang="ru-RU" b="1" dirty="0"/>
          </a:p>
          <a:p>
            <a:r>
              <a:rPr lang="ru-RU" b="1" dirty="0"/>
              <a:t>О чем этот предмет?</a:t>
            </a:r>
          </a:p>
          <a:p>
            <a:r>
              <a:rPr lang="ru-RU" dirty="0"/>
              <a:t>Еще со школьных времен мы помним что иногда проще подобрать ответ и доказать что он верный, чем решить уравнение. </a:t>
            </a:r>
          </a:p>
          <a:p>
            <a:endParaRPr lang="ru-RU" dirty="0"/>
          </a:p>
          <a:p>
            <a:r>
              <a:rPr lang="ru-RU" dirty="0"/>
              <a:t>Вычислительная математика - это раздел математики, который занимается разработкой и применением численных методов и алгоритмов для решения математических задач с использованием компьютеров. Она включает в себя широкий круг вопросов, связанных с производством разнообразных вычислений, анализом математических моделей и реализацией полученных результатов. Вычислительная математика объединяет в себе теоретические основы и практические методы численного анализа, что позволяет решать сложные задачи, которые не поддаются аналитическому решению.</a:t>
            </a:r>
          </a:p>
          <a:p>
            <a:endParaRPr lang="ru-RU" dirty="0"/>
          </a:p>
          <a:p>
            <a:r>
              <a:rPr lang="ru-RU" dirty="0"/>
              <a:t>Основные задачи, решаемые вычислительной математикой, включают в себя численное решение уравнений, оптимизацию, аппроксимацию функций, обработку данных и моделирование сложных систем. </a:t>
            </a:r>
          </a:p>
          <a:p>
            <a:endParaRPr lang="ru-RU" dirty="0"/>
          </a:p>
          <a:p>
            <a:r>
              <a:rPr lang="ru-RU" dirty="0"/>
              <a:t>С точки зрения прикладной области методы вычислительной математики развивались в рамках дисциплины </a:t>
            </a:r>
            <a:r>
              <a:rPr lang="en-US" dirty="0"/>
              <a:t>“</a:t>
            </a:r>
            <a:r>
              <a:rPr lang="ru-RU" dirty="0"/>
              <a:t>Исследование операций</a:t>
            </a:r>
            <a:r>
              <a:rPr lang="en-US" dirty="0"/>
              <a:t>”</a:t>
            </a:r>
            <a:r>
              <a:rPr lang="ru-RU" dirty="0"/>
              <a:t>, которой и будет посвящена первая часть лекций. </a:t>
            </a:r>
          </a:p>
        </p:txBody>
      </p:sp>
    </p:spTree>
    <p:extLst>
      <p:ext uri="{BB962C8B-B14F-4D97-AF65-F5344CB8AC3E}">
        <p14:creationId xmlns:p14="http://schemas.microsoft.com/office/powerpoint/2010/main" val="2622171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Исследование операций и методы оптимизации</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838313"/>
            <a:ext cx="10147567" cy="3139321"/>
          </a:xfrm>
          <a:prstGeom prst="rect">
            <a:avLst/>
          </a:prstGeom>
          <a:noFill/>
        </p:spPr>
        <p:txBody>
          <a:bodyPr wrap="square" rtlCol="0">
            <a:spAutoFit/>
          </a:bodyPr>
          <a:lstStyle/>
          <a:p>
            <a:endParaRPr lang="ru-RU" b="1" dirty="0"/>
          </a:p>
          <a:p>
            <a:r>
              <a:rPr lang="ru-RU" dirty="0"/>
              <a:t>Исследование операций – научная дисциплина прикладного направления кибернетики, занимающаяся разработкой и практическим применением методов наиболее эффективного управления различными организационными (в том числе экономическими) системами. </a:t>
            </a:r>
          </a:p>
          <a:p>
            <a:endParaRPr lang="ru-RU" dirty="0"/>
          </a:p>
          <a:p>
            <a:r>
              <a:rPr lang="ru-RU" dirty="0"/>
              <a:t>Предмет исследования операций очень широк, на практике мы рассмотрим различные примеры приложения методов данной дисциплины.  </a:t>
            </a:r>
          </a:p>
          <a:p>
            <a:endParaRPr lang="en-US" dirty="0"/>
          </a:p>
          <a:p>
            <a:r>
              <a:rPr lang="ru-RU" dirty="0"/>
              <a:t>Теоретический аспект исследования операций состоит в построении и исследовании математических моделей принятия оптимальных решений.</a:t>
            </a:r>
          </a:p>
          <a:p>
            <a:endParaRPr lang="ru-RU" dirty="0"/>
          </a:p>
        </p:txBody>
      </p:sp>
    </p:spTree>
    <p:extLst>
      <p:ext uri="{BB962C8B-B14F-4D97-AF65-F5344CB8AC3E}">
        <p14:creationId xmlns:p14="http://schemas.microsoft.com/office/powerpoint/2010/main" val="3518274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Исследование операций и методы оптимизации</a:t>
            </a:r>
          </a:p>
        </p:txBody>
      </p:sp>
      <p:sp>
        <p:nvSpPr>
          <p:cNvPr id="13" name="TextBox 12"/>
          <p:cNvSpPr txBox="1"/>
          <p:nvPr/>
        </p:nvSpPr>
        <p:spPr>
          <a:xfrm>
            <a:off x="221241" y="1448729"/>
            <a:ext cx="10454051" cy="4031873"/>
          </a:xfrm>
          <a:prstGeom prst="rect">
            <a:avLst/>
          </a:prstGeom>
          <a:noFill/>
        </p:spPr>
        <p:txBody>
          <a:bodyPr wrap="square" rtlCol="0">
            <a:spAutoFit/>
          </a:bodyPr>
          <a:lstStyle/>
          <a:p>
            <a:r>
              <a:rPr lang="ru-RU" sz="1600" dirty="0"/>
              <a:t>Само это словосочетание возникло во время Второй мировой войны и вначале имело прямое отношение к военным операциям. В послевоенное время границы понятия были существенно расширены, под операцией</a:t>
            </a:r>
          </a:p>
          <a:p>
            <a:r>
              <a:rPr lang="ru-RU" sz="1600" dirty="0"/>
              <a:t>стала пониматься любая целенаправленная деятельность.</a:t>
            </a:r>
          </a:p>
          <a:p>
            <a:endParaRPr lang="ru-RU" sz="1600" dirty="0">
              <a:latin typeface="+mj-lt"/>
            </a:endParaRPr>
          </a:p>
          <a:p>
            <a:r>
              <a:rPr lang="ru-RU" sz="1600" i="1" dirty="0"/>
              <a:t>Исследование операций — прикладная математическая дисциплина, занимающаяся вопросами количественного обоснования решений по управлению целенаправленными процессами (операциями) в сложных системах.</a:t>
            </a:r>
          </a:p>
          <a:p>
            <a:endParaRPr lang="ru-RU" sz="1600" dirty="0"/>
          </a:p>
          <a:p>
            <a:r>
              <a:rPr lang="ru-RU" sz="1600" dirty="0"/>
              <a:t>В этом определении принципиально важными являются три ключевых момента.</a:t>
            </a:r>
          </a:p>
          <a:p>
            <a:endParaRPr lang="ru-RU" sz="1600" i="1" dirty="0"/>
          </a:p>
          <a:p>
            <a:r>
              <a:rPr lang="ru-RU" sz="1600" i="1" dirty="0"/>
              <a:t>• </a:t>
            </a:r>
            <a:r>
              <a:rPr lang="ru-RU" sz="1600" dirty="0"/>
              <a:t>Во-первых, устанавливается </a:t>
            </a:r>
            <a:r>
              <a:rPr lang="ru-RU" sz="1600" i="1" dirty="0"/>
              <a:t>объект исследования: </a:t>
            </a:r>
            <a:r>
              <a:rPr lang="ru-RU" sz="1600" dirty="0"/>
              <a:t>предметом изучения являются </a:t>
            </a:r>
            <a:r>
              <a:rPr lang="ru-RU" sz="1600" i="1" dirty="0"/>
              <a:t>управляющие решения</a:t>
            </a:r>
            <a:r>
              <a:rPr lang="ru-RU" sz="1600" dirty="0"/>
              <a:t>. Такими решениями могут быть, например, расстановка сил на поле боя, план производства продукции в компании, ход в карточной игре, выбор метода лечения больного и т. д. Несмотря на содержательное разнообразие, эти примеры имеют нечто общее, состоящее в том, что последствия принимаемых решений не всегда могут быть точно установлены из-за наличия неуправляемых факторов, и действовать приходится в условиях существенной неопределенности.</a:t>
            </a:r>
          </a:p>
          <a:p>
            <a:r>
              <a:rPr lang="ru-RU" sz="1600" i="1" dirty="0"/>
              <a:t>•</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648462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Исследование операций и методы оптимизации</a:t>
            </a:r>
          </a:p>
        </p:txBody>
      </p:sp>
      <p:sp>
        <p:nvSpPr>
          <p:cNvPr id="13" name="TextBox 12"/>
          <p:cNvSpPr txBox="1"/>
          <p:nvPr/>
        </p:nvSpPr>
        <p:spPr>
          <a:xfrm>
            <a:off x="221241" y="1448728"/>
            <a:ext cx="10454051" cy="3293209"/>
          </a:xfrm>
          <a:prstGeom prst="rect">
            <a:avLst/>
          </a:prstGeom>
          <a:noFill/>
        </p:spPr>
        <p:txBody>
          <a:bodyPr wrap="square" rtlCol="0">
            <a:spAutoFit/>
          </a:bodyPr>
          <a:lstStyle/>
          <a:p>
            <a:r>
              <a:rPr lang="ru-RU" sz="1600" i="1" dirty="0"/>
              <a:t>• </a:t>
            </a:r>
            <a:r>
              <a:rPr lang="ru-RU" sz="1600" dirty="0"/>
              <a:t>Во-вторых, подчеркивается специфический, субъективный </a:t>
            </a:r>
            <a:r>
              <a:rPr lang="ru-RU" sz="1600" i="1" dirty="0"/>
              <a:t>подход </a:t>
            </a:r>
            <a:r>
              <a:rPr lang="ru-RU" sz="1600" dirty="0"/>
              <a:t>к проблеме. Система рассматривается с точки зрения </a:t>
            </a:r>
            <a:r>
              <a:rPr lang="ru-RU" sz="1600" i="1" dirty="0"/>
              <a:t>целенаправленного </a:t>
            </a:r>
            <a:r>
              <a:rPr lang="ru-RU" sz="1600" dirty="0"/>
              <a:t>управления, то есть в анализируемой операции выделяется </a:t>
            </a:r>
            <a:r>
              <a:rPr lang="ru-RU" sz="1600" i="1" dirty="0"/>
              <a:t>оперирующая сторона </a:t>
            </a:r>
            <a:r>
              <a:rPr lang="ru-RU" sz="1600" dirty="0"/>
              <a:t>(лицо или группа лиц, принимающих решения), имеющая вполне определенную </a:t>
            </a:r>
            <a:r>
              <a:rPr lang="ru-RU" sz="1600" i="1" dirty="0"/>
              <a:t>цель</a:t>
            </a:r>
            <a:r>
              <a:rPr lang="ru-RU" sz="1600" dirty="0"/>
              <a:t>, которую она стремится достичь своими решениями. Понятие цели является центральным, определяющим при исследовании систем. Более того, само понятие ≪система≫ неотделимо от цели. Один и тот же объект реального мира, рассматриваемый с точки зрения различных целей, может представлять различные системы.</a:t>
            </a:r>
          </a:p>
          <a:p>
            <a:endParaRPr lang="ru-RU" sz="1600" dirty="0"/>
          </a:p>
          <a:p>
            <a:r>
              <a:rPr lang="ru-RU" sz="1600" i="1" dirty="0"/>
              <a:t>• </a:t>
            </a:r>
            <a:r>
              <a:rPr lang="ru-RU" sz="1600" dirty="0"/>
              <a:t>В-третьих, определяется </a:t>
            </a:r>
            <a:r>
              <a:rPr lang="ru-RU" sz="1600" i="1" dirty="0"/>
              <a:t>метод </a:t>
            </a:r>
            <a:r>
              <a:rPr lang="ru-RU" sz="1600" dirty="0"/>
              <a:t>исследования: обоснование решения должно носить количественный характер, то есть исследование должно проводиться с помощью математических моделей и методов. Это дает возможность в ряде случаев находить не просто хорошие, а в некотором смысле наилучшие, оптимальные решения.</a:t>
            </a:r>
          </a:p>
          <a:p>
            <a:endParaRPr lang="ru-RU" sz="1600" dirty="0"/>
          </a:p>
          <a:p>
            <a:r>
              <a:rPr lang="ru-RU" sz="1600" dirty="0"/>
              <a:t>Коротко резюмируя фундаментальные особенности исследования операций как самостоятельной научной дисциплины, ее можно определить как </a:t>
            </a:r>
            <a:r>
              <a:rPr lang="ru-RU" sz="1600" i="1" dirty="0"/>
              <a:t>теорию оптимальных решений.</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C3321CFC-62C9-F248-88D0-AB47F64C5DD0}"/>
                  </a:ext>
                </a:extLst>
              </p14:cNvPr>
              <p14:cNvContentPartPr/>
              <p14:nvPr/>
            </p14:nvContentPartPr>
            <p14:xfrm>
              <a:off x="3469019" y="4633451"/>
              <a:ext cx="3174480" cy="66960"/>
            </p14:xfrm>
          </p:contentPart>
        </mc:Choice>
        <mc:Fallback xmlns="">
          <p:pic>
            <p:nvPicPr>
              <p:cNvPr id="4" name="Entrada de lápiz 3">
                <a:extLst>
                  <a:ext uri="{FF2B5EF4-FFF2-40B4-BE49-F238E27FC236}">
                    <a16:creationId xmlns:a16="http://schemas.microsoft.com/office/drawing/2014/main" id="{C3321CFC-62C9-F248-88D0-AB47F64C5DD0}"/>
                  </a:ext>
                </a:extLst>
              </p:cNvPr>
              <p:cNvPicPr/>
              <p:nvPr/>
            </p:nvPicPr>
            <p:blipFill>
              <a:blip r:embed="rId5"/>
              <a:stretch>
                <a:fillRect/>
              </a:stretch>
            </p:blipFill>
            <p:spPr>
              <a:xfrm>
                <a:off x="3460379" y="4624451"/>
                <a:ext cx="3192120" cy="84600"/>
              </a:xfrm>
              <a:prstGeom prst="rect">
                <a:avLst/>
              </a:prstGeom>
            </p:spPr>
          </p:pic>
        </mc:Fallback>
      </mc:AlternateContent>
    </p:spTree>
    <p:extLst>
      <p:ext uri="{BB962C8B-B14F-4D97-AF65-F5344CB8AC3E}">
        <p14:creationId xmlns:p14="http://schemas.microsoft.com/office/powerpoint/2010/main" val="3224657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Задача-разминка</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990398"/>
            <a:ext cx="10147567" cy="2308324"/>
          </a:xfrm>
          <a:prstGeom prst="rect">
            <a:avLst/>
          </a:prstGeom>
          <a:noFill/>
        </p:spPr>
        <p:txBody>
          <a:bodyPr wrap="square" rtlCol="0">
            <a:spAutoFit/>
          </a:bodyPr>
          <a:lstStyle/>
          <a:p>
            <a:r>
              <a:rPr lang="ru-RU" dirty="0"/>
              <a:t>1. Задача из области оптимального проектирования. </a:t>
            </a:r>
          </a:p>
          <a:p>
            <a:r>
              <a:rPr lang="ru-RU" dirty="0"/>
              <a:t>Пусть коробка изготовляется из прямоугольного листа материала размером </a:t>
            </a:r>
            <a:r>
              <a:rPr lang="ru-RU" i="1" dirty="0" err="1"/>
              <a:t>a</a:t>
            </a:r>
            <a:r>
              <a:rPr lang="ru-RU" i="1" dirty="0"/>
              <a:t> </a:t>
            </a:r>
            <a:r>
              <a:rPr lang="ru-RU" dirty="0"/>
              <a:t>×</a:t>
            </a:r>
            <a:r>
              <a:rPr lang="ru-RU" i="1" dirty="0" err="1"/>
              <a:t>b</a:t>
            </a:r>
            <a:r>
              <a:rPr lang="ru-RU" dirty="0"/>
              <a:t>, </a:t>
            </a:r>
            <a:r>
              <a:rPr lang="ru-RU" i="1" dirty="0" err="1"/>
              <a:t>a</a:t>
            </a:r>
            <a:r>
              <a:rPr lang="ru-RU" i="1" dirty="0"/>
              <a:t> </a:t>
            </a:r>
            <a:r>
              <a:rPr lang="ru-RU" dirty="0"/>
              <a:t>&lt; </a:t>
            </a:r>
            <a:r>
              <a:rPr lang="ru-RU" i="1" dirty="0" err="1"/>
              <a:t>b</a:t>
            </a:r>
            <a:r>
              <a:rPr lang="ru-RU" i="1" dirty="0"/>
              <a:t> . </a:t>
            </a:r>
            <a:r>
              <a:rPr lang="ru-RU" dirty="0"/>
              <a:t>Для этого из четырех углов прямоугольника вырезаются квадраты со стороной </a:t>
            </a:r>
            <a:r>
              <a:rPr lang="ru-RU" i="1" dirty="0" err="1"/>
              <a:t>x</a:t>
            </a:r>
            <a:r>
              <a:rPr lang="ru-RU" i="1" dirty="0"/>
              <a:t> </a:t>
            </a:r>
            <a:r>
              <a:rPr lang="ru-RU" dirty="0"/>
              <a:t>и материал сгибается вдоль линий, отмеченных на рисунке штриховыми линиями</a:t>
            </a:r>
          </a:p>
          <a:p>
            <a:endParaRPr lang="ru-RU" dirty="0"/>
          </a:p>
          <a:p>
            <a:r>
              <a:rPr lang="ru-RU" dirty="0"/>
              <a:t>Задача определить </a:t>
            </a:r>
            <a:r>
              <a:rPr lang="en-US" dirty="0"/>
              <a:t>x </a:t>
            </a:r>
            <a:r>
              <a:rPr lang="ru-RU" dirty="0"/>
              <a:t>при котором достигается максимальный объем получившейся коробки </a:t>
            </a:r>
          </a:p>
          <a:p>
            <a:r>
              <a:rPr lang="ru-RU" dirty="0">
                <a:solidFill>
                  <a:srgbClr val="FF0000"/>
                </a:solidFill>
              </a:rPr>
              <a:t>(можно остановиться и подумать над этой задачей, на следующем слайде будет решение)</a:t>
            </a:r>
          </a:p>
          <a:p>
            <a:pPr marL="342900" indent="-342900">
              <a:buAutoNum type="arabicPeriod"/>
            </a:pPr>
            <a:endParaRPr lang="ru-RU" dirty="0"/>
          </a:p>
        </p:txBody>
      </p:sp>
      <p:pic>
        <p:nvPicPr>
          <p:cNvPr id="16" name="Picture 2">
            <a:extLst>
              <a:ext uri="{FF2B5EF4-FFF2-40B4-BE49-F238E27FC236}">
                <a16:creationId xmlns:a16="http://schemas.microsoft.com/office/drawing/2014/main" id="{8A506CF0-4A17-0C46-94B9-F93714B5C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9676" y="2919246"/>
            <a:ext cx="4625958" cy="3175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65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Задача-разминка</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990398"/>
            <a:ext cx="10147567" cy="2031325"/>
          </a:xfrm>
          <a:prstGeom prst="rect">
            <a:avLst/>
          </a:prstGeom>
          <a:noFill/>
        </p:spPr>
        <p:txBody>
          <a:bodyPr wrap="square" rtlCol="0">
            <a:spAutoFit/>
          </a:bodyPr>
          <a:lstStyle/>
          <a:p>
            <a:r>
              <a:rPr lang="ru-RU" dirty="0"/>
              <a:t>1. Задача из области оптимального проектирования. </a:t>
            </a:r>
          </a:p>
          <a:p>
            <a:r>
              <a:rPr lang="ru-RU" dirty="0"/>
              <a:t>Пусть коробка изготовляется из прямоугольного листа материала размером </a:t>
            </a:r>
            <a:r>
              <a:rPr lang="ru-RU" i="1" dirty="0" err="1"/>
              <a:t>a</a:t>
            </a:r>
            <a:r>
              <a:rPr lang="ru-RU" i="1" dirty="0"/>
              <a:t> </a:t>
            </a:r>
            <a:r>
              <a:rPr lang="ru-RU" dirty="0"/>
              <a:t>×</a:t>
            </a:r>
            <a:r>
              <a:rPr lang="ru-RU" i="1" dirty="0" err="1"/>
              <a:t>b</a:t>
            </a:r>
            <a:r>
              <a:rPr lang="ru-RU" dirty="0"/>
              <a:t>, </a:t>
            </a:r>
            <a:r>
              <a:rPr lang="ru-RU" i="1" dirty="0" err="1"/>
              <a:t>a</a:t>
            </a:r>
            <a:r>
              <a:rPr lang="ru-RU" i="1" dirty="0"/>
              <a:t> </a:t>
            </a:r>
            <a:r>
              <a:rPr lang="ru-RU" dirty="0"/>
              <a:t>&lt; </a:t>
            </a:r>
            <a:r>
              <a:rPr lang="ru-RU" i="1" dirty="0" err="1"/>
              <a:t>b</a:t>
            </a:r>
            <a:r>
              <a:rPr lang="ru-RU" i="1" dirty="0"/>
              <a:t> . </a:t>
            </a:r>
            <a:r>
              <a:rPr lang="ru-RU" dirty="0"/>
              <a:t>Для этого из четырех углов прямоугольника вырезаются квадраты со стороной </a:t>
            </a:r>
            <a:r>
              <a:rPr lang="ru-RU" i="1" dirty="0" err="1"/>
              <a:t>x</a:t>
            </a:r>
            <a:r>
              <a:rPr lang="ru-RU" i="1" dirty="0"/>
              <a:t> </a:t>
            </a:r>
            <a:r>
              <a:rPr lang="ru-RU" dirty="0"/>
              <a:t>и материал сгибается вдоль линий, отмеченных на рисунке штриховыми линиями</a:t>
            </a:r>
          </a:p>
          <a:p>
            <a:endParaRPr lang="ru-RU" dirty="0"/>
          </a:p>
          <a:p>
            <a:r>
              <a:rPr lang="ru-RU" dirty="0"/>
              <a:t>Задача определить </a:t>
            </a:r>
            <a:r>
              <a:rPr lang="en-US" dirty="0"/>
              <a:t>x </a:t>
            </a:r>
            <a:r>
              <a:rPr lang="ru-RU" dirty="0"/>
              <a:t>при котором достигается максимальный объем получившейся коробки</a:t>
            </a:r>
          </a:p>
          <a:p>
            <a:pPr marL="342900" indent="-342900">
              <a:buAutoNum type="arabicPeriod"/>
            </a:pPr>
            <a:endParaRPr lang="ru-RU" dirty="0"/>
          </a:p>
        </p:txBody>
      </p:sp>
      <p:pic>
        <p:nvPicPr>
          <p:cNvPr id="15" name="Picture 2">
            <a:extLst>
              <a:ext uri="{FF2B5EF4-FFF2-40B4-BE49-F238E27FC236}">
                <a16:creationId xmlns:a16="http://schemas.microsoft.com/office/drawing/2014/main" id="{700DE1B5-C1A1-FA44-9AEE-E04903F4BD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71" y="3780903"/>
            <a:ext cx="5602112" cy="1438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a:extLst>
              <a:ext uri="{FF2B5EF4-FFF2-40B4-BE49-F238E27FC236}">
                <a16:creationId xmlns:a16="http://schemas.microsoft.com/office/drawing/2014/main" id="{8A506CF0-4A17-0C46-94B9-F93714B5C9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7280" y="2912755"/>
            <a:ext cx="4625958" cy="3175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6359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Исследование операций и методы оптимизации</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7" name="TextBox 16"/>
          <p:cNvSpPr txBox="1"/>
          <p:nvPr/>
        </p:nvSpPr>
        <p:spPr>
          <a:xfrm>
            <a:off x="1695671" y="990398"/>
            <a:ext cx="10147567" cy="5016758"/>
          </a:xfrm>
          <a:prstGeom prst="rect">
            <a:avLst/>
          </a:prstGeom>
          <a:noFill/>
        </p:spPr>
        <p:txBody>
          <a:bodyPr wrap="square" rtlCol="0">
            <a:spAutoFit/>
          </a:bodyPr>
          <a:lstStyle/>
          <a:p>
            <a:endParaRPr lang="ru-RU" sz="1600" dirty="0"/>
          </a:p>
          <a:p>
            <a:r>
              <a:rPr lang="ru-RU" sz="1600" dirty="0"/>
              <a:t>Исследование операций образовалась как синтетическая наука на границе нескольких смежных дисциплин и тесно с ними взаимодействует.</a:t>
            </a:r>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endParaRPr lang="ru-RU" sz="1600" dirty="0"/>
          </a:p>
          <a:p>
            <a:r>
              <a:rPr lang="ru-RU" sz="1600" dirty="0"/>
              <a:t>Фильмы для просмотра:</a:t>
            </a:r>
          </a:p>
          <a:p>
            <a:pPr marL="838179" lvl="1" indent="-228594">
              <a:buFont typeface="Arial" panose="020B0604020202020204" pitchFamily="34" charset="0"/>
              <a:buChar char="•"/>
            </a:pPr>
            <a:r>
              <a:rPr lang="ru-RU" sz="1600" dirty="0"/>
              <a:t>Игры разума </a:t>
            </a:r>
            <a:r>
              <a:rPr lang="en-US" sz="1600" dirty="0"/>
              <a:t>/ </a:t>
            </a:r>
            <a:r>
              <a:rPr lang="en-GB" sz="1600" dirty="0"/>
              <a:t>A Beautiful Mind</a:t>
            </a:r>
            <a:r>
              <a:rPr lang="en-US" sz="1600" dirty="0"/>
              <a:t> (2001)</a:t>
            </a:r>
            <a:endParaRPr lang="ru-RU" sz="1600" dirty="0"/>
          </a:p>
          <a:p>
            <a:pPr marL="838179" lvl="1" indent="-228594">
              <a:buFont typeface="Arial" panose="020B0604020202020204" pitchFamily="34" charset="0"/>
              <a:buChar char="•"/>
            </a:pPr>
            <a:r>
              <a:rPr lang="ru-RU" sz="1600" dirty="0"/>
              <a:t>Доказательство</a:t>
            </a:r>
            <a:r>
              <a:rPr lang="en-US" sz="1600" dirty="0"/>
              <a:t> / Proof </a:t>
            </a:r>
            <a:r>
              <a:rPr lang="ru-RU" sz="1600" dirty="0"/>
              <a:t>(2004)</a:t>
            </a:r>
          </a:p>
          <a:p>
            <a:endParaRPr lang="ru-RU" sz="1600" dirty="0"/>
          </a:p>
          <a:p>
            <a:endParaRPr lang="ru-RU" sz="1600" dirty="0"/>
          </a:p>
        </p:txBody>
      </p:sp>
      <p:pic>
        <p:nvPicPr>
          <p:cNvPr id="9" name="Picture 2">
            <a:extLst>
              <a:ext uri="{FF2B5EF4-FFF2-40B4-BE49-F238E27FC236}">
                <a16:creationId xmlns:a16="http://schemas.microsoft.com/office/drawing/2014/main" id="{23518817-77C3-D140-8F80-8298FE141F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4668" y="1958059"/>
            <a:ext cx="7392343" cy="238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7812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Исследование операций и методы оптимизации</a:t>
            </a:r>
          </a:p>
        </p:txBody>
      </p:sp>
      <p:sp>
        <p:nvSpPr>
          <p:cNvPr id="13" name="TextBox 12"/>
          <p:cNvSpPr txBox="1"/>
          <p:nvPr/>
        </p:nvSpPr>
        <p:spPr>
          <a:xfrm>
            <a:off x="221241" y="1448729"/>
            <a:ext cx="10454051" cy="4770537"/>
          </a:xfrm>
          <a:prstGeom prst="rect">
            <a:avLst/>
          </a:prstGeom>
          <a:noFill/>
        </p:spPr>
        <p:txBody>
          <a:bodyPr wrap="square" rtlCol="0">
            <a:spAutoFit/>
          </a:bodyPr>
          <a:lstStyle/>
          <a:p>
            <a:r>
              <a:rPr lang="ru-RU" sz="1600" dirty="0"/>
              <a:t>Прежде всего следует упомянуть </a:t>
            </a:r>
            <a:r>
              <a:rPr lang="ru-RU" sz="1600" i="1" dirty="0"/>
              <a:t>системный анализ</a:t>
            </a:r>
            <a:r>
              <a:rPr lang="ru-RU" sz="1600" dirty="0"/>
              <a:t>, принципы и методология которого лежат в основе любого операционного исследования.</a:t>
            </a:r>
          </a:p>
          <a:p>
            <a:endParaRPr lang="ru-RU" sz="1600" dirty="0"/>
          </a:p>
          <a:p>
            <a:r>
              <a:rPr lang="ru-RU" sz="1600" dirty="0"/>
              <a:t>Далее, поскольку сами операции возникают не на основе абстрактных рассуждений, а порождаются самой жизнью, то исследование операций сохраняет глубокую связь с </a:t>
            </a:r>
            <a:r>
              <a:rPr lang="ru-RU" sz="1600" i="1" dirty="0"/>
              <a:t>предметными науками </a:t>
            </a:r>
            <a:r>
              <a:rPr lang="ru-RU" sz="1600" dirty="0"/>
              <a:t>(экономикой, инженерией, военным делом и т. п.) и питается их идеями.</a:t>
            </a:r>
          </a:p>
          <a:p>
            <a:endParaRPr lang="ru-RU" sz="1600" dirty="0"/>
          </a:p>
          <a:p>
            <a:r>
              <a:rPr lang="ru-RU" sz="1600" dirty="0"/>
              <a:t>Очень интересной и продуктивной является связь с </a:t>
            </a:r>
            <a:r>
              <a:rPr lang="ru-RU" sz="1600" i="1" dirty="0"/>
              <a:t>психологией</a:t>
            </a:r>
            <a:r>
              <a:rPr lang="ru-RU" sz="1600" dirty="0"/>
              <a:t>. Так как в любой операции обязательно присутствует лицо, принимающее решение (ЛПР), то в теории принятия решений невозможно обойтись без таких психологических понятий, как субъективные предпочтения, уверенность, оптимизм, отношение к риску и т. д.</a:t>
            </a:r>
          </a:p>
          <a:p>
            <a:endParaRPr lang="ru-RU" sz="1600" dirty="0">
              <a:latin typeface="+mj-lt"/>
            </a:endParaRPr>
          </a:p>
          <a:p>
            <a:r>
              <a:rPr lang="ru-RU" sz="1600" dirty="0">
                <a:latin typeface="+mj-lt"/>
              </a:rPr>
              <a:t>Как следует из определения, основным рабочим инструментом исследования операций является прикладная математика. Широко используются все ее разделы (математический анализ, теория вероятностей и математическая статистика, классические методы оптимизации, дискретная математика, теория графов и др.). Более того, специфические задачи исследования операций, возникшие в предметных областях, стимулировали появление новых разделов прикладной математики. Так, проблема планирования производства привела к созданию линейного программирования, частная задача анализа эффективности работы телефонных станций послужила основой для развития общей теории массового обслуживания, военные конфликты стимулировали развитие</a:t>
            </a:r>
          </a:p>
          <a:p>
            <a:r>
              <a:rPr lang="ru-RU" sz="1600" dirty="0">
                <a:latin typeface="+mj-lt"/>
              </a:rPr>
              <a:t>общей теории игр и т. д. </a:t>
            </a: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454984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endParaRPr lang="ru-RU" sz="2400" dirty="0">
              <a:solidFill>
                <a:schemeClr val="accent5">
                  <a:lumMod val="60000"/>
                  <a:lumOff val="40000"/>
                </a:schemeClr>
              </a:solidFill>
            </a:endParaRPr>
          </a:p>
        </p:txBody>
      </p:sp>
      <p:sp>
        <p:nvSpPr>
          <p:cNvPr id="13" name="TextBox 12"/>
          <p:cNvSpPr txBox="1"/>
          <p:nvPr/>
        </p:nvSpPr>
        <p:spPr>
          <a:xfrm>
            <a:off x="221241" y="1448728"/>
            <a:ext cx="10454051" cy="5016758"/>
          </a:xfrm>
          <a:prstGeom prst="rect">
            <a:avLst/>
          </a:prstGeom>
          <a:noFill/>
        </p:spPr>
        <p:txBody>
          <a:bodyPr wrap="square" rtlCol="0">
            <a:spAutoFit/>
          </a:bodyPr>
          <a:lstStyle/>
          <a:p>
            <a:r>
              <a:rPr lang="ru-RU" sz="1600" dirty="0"/>
              <a:t>1) Предыстория: Д. Бернулли, В. Парето, Д. фон Нейман, О. Моргенштерн (</a:t>
            </a:r>
            <a:r>
              <a:rPr lang="ru-RU" sz="1600" dirty="0" err="1"/>
              <a:t>Theory</a:t>
            </a:r>
            <a:r>
              <a:rPr lang="ru-RU" sz="1600" dirty="0"/>
              <a:t> </a:t>
            </a:r>
            <a:r>
              <a:rPr lang="ru-RU" sz="1600" dirty="0" err="1"/>
              <a:t>of</a:t>
            </a:r>
            <a:r>
              <a:rPr lang="ru-RU" sz="1600" dirty="0"/>
              <a:t> </a:t>
            </a:r>
            <a:r>
              <a:rPr lang="ru-RU" sz="1600" dirty="0" err="1"/>
              <a:t>Games</a:t>
            </a:r>
            <a:r>
              <a:rPr lang="ru-RU" sz="1600" dirty="0"/>
              <a:t> </a:t>
            </a:r>
            <a:r>
              <a:rPr lang="ru-RU" sz="1600" dirty="0" err="1"/>
              <a:t>and</a:t>
            </a:r>
            <a:r>
              <a:rPr lang="ru-RU" sz="1600" dirty="0"/>
              <a:t> </a:t>
            </a:r>
            <a:r>
              <a:rPr lang="ru-RU" sz="1600" dirty="0" err="1"/>
              <a:t>Economic</a:t>
            </a:r>
            <a:r>
              <a:rPr lang="ru-RU" sz="1600" dirty="0"/>
              <a:t> </a:t>
            </a:r>
            <a:r>
              <a:rPr lang="ru-RU" sz="1600" dirty="0" err="1"/>
              <a:t>Behavior</a:t>
            </a:r>
            <a:r>
              <a:rPr lang="ru-RU" sz="1600" dirty="0"/>
              <a:t>), Л. Канторович</a:t>
            </a:r>
          </a:p>
          <a:p>
            <a:pPr marL="304792" indent="-304792">
              <a:buAutoNum type="arabicParenR"/>
            </a:pPr>
            <a:endParaRPr lang="ru-RU" sz="1600" dirty="0"/>
          </a:p>
          <a:p>
            <a:r>
              <a:rPr lang="ru-RU" sz="1600" dirty="0"/>
              <a:t>2) Вторая мировая война: П. </a:t>
            </a:r>
            <a:r>
              <a:rPr lang="ru-RU" sz="1600" dirty="0" err="1"/>
              <a:t>Блэкетт</a:t>
            </a:r>
            <a:r>
              <a:rPr lang="ru-RU" sz="1600" dirty="0"/>
              <a:t>, Ф. </a:t>
            </a:r>
            <a:r>
              <a:rPr lang="ru-RU" sz="1600" dirty="0" err="1"/>
              <a:t>Морз</a:t>
            </a:r>
            <a:r>
              <a:rPr lang="ru-RU" sz="1600" dirty="0"/>
              <a:t>, Д. Данциг, Л. Канторович (занявшись планированием работы агрегатов фанерной фабрики, решил несколько задач: о наилучшей загрузке оборудования, о раскрое</a:t>
            </a:r>
          </a:p>
          <a:p>
            <a:r>
              <a:rPr lang="ru-RU" sz="1600" dirty="0"/>
              <a:t>материалов с наименьшими потерями, о распределении грузов по нескольким видам транспорта и др. Л.В. Канторович сформулировал новый класс условно-экстремальных задач и предложил универсальный метод их решения, положив начало новому </a:t>
            </a:r>
            <a:r>
              <a:rPr lang="ru-RU" sz="1600" dirty="0" err="1"/>
              <a:t>напрвлению</a:t>
            </a:r>
            <a:r>
              <a:rPr lang="ru-RU" sz="1600" dirty="0"/>
              <a:t> прикладной математики — линейному программированию.)</a:t>
            </a:r>
          </a:p>
          <a:p>
            <a:endParaRPr lang="ru-RU" sz="1600" dirty="0"/>
          </a:p>
          <a:p>
            <a:r>
              <a:rPr lang="ru-RU" sz="1600" dirty="0"/>
              <a:t>3) Послевоенный период: RAND (</a:t>
            </a:r>
            <a:r>
              <a:rPr lang="en-US" sz="1600" dirty="0"/>
              <a:t>R&amp;D), </a:t>
            </a:r>
            <a:r>
              <a:rPr lang="ru-RU" sz="1600" dirty="0"/>
              <a:t>Р. </a:t>
            </a:r>
            <a:r>
              <a:rPr lang="ru-RU" sz="1600" dirty="0" err="1"/>
              <a:t>Бэллман</a:t>
            </a:r>
            <a:r>
              <a:rPr lang="ru-RU" sz="1600" dirty="0"/>
              <a:t>, Р. </a:t>
            </a:r>
            <a:r>
              <a:rPr lang="ru-RU" sz="1600" dirty="0" err="1"/>
              <a:t>Айзекс</a:t>
            </a:r>
            <a:r>
              <a:rPr lang="ru-RU" sz="1600" dirty="0"/>
              <a:t>, Л. Канторович, Дж. </a:t>
            </a:r>
            <a:r>
              <a:rPr lang="ru-RU" sz="1600" dirty="0" err="1"/>
              <a:t>Нэш</a:t>
            </a:r>
            <a:endParaRPr lang="ru-RU" sz="1600" dirty="0"/>
          </a:p>
          <a:p>
            <a:endParaRPr lang="ru-RU" sz="1600" dirty="0"/>
          </a:p>
          <a:p>
            <a:r>
              <a:rPr lang="ru-RU" sz="1600" dirty="0"/>
              <a:t>4) В</a:t>
            </a:r>
            <a:r>
              <a:rPr lang="en-US" sz="1600" dirty="0"/>
              <a:t> </a:t>
            </a:r>
            <a:r>
              <a:rPr lang="ru-RU" sz="1600" dirty="0"/>
              <a:t>СССР теория научного коммунизма: согласно официальному учению, точные науки</a:t>
            </a:r>
            <a:r>
              <a:rPr lang="en-US" sz="1600" dirty="0"/>
              <a:t> </a:t>
            </a:r>
            <a:r>
              <a:rPr lang="ru-RU" sz="1600" dirty="0"/>
              <a:t>могли быть применены только к неодушевленным объектам, а любые общественные процессы представляли собой принципиально</a:t>
            </a:r>
            <a:r>
              <a:rPr lang="en-US" sz="1600" dirty="0"/>
              <a:t> </a:t>
            </a:r>
            <a:r>
              <a:rPr lang="ru-RU" sz="1600" dirty="0"/>
              <a:t>другую и неподвластную математике форму движения материи</a:t>
            </a:r>
            <a:r>
              <a:rPr lang="en-US" sz="1600" dirty="0"/>
              <a:t>.</a:t>
            </a:r>
            <a:endParaRPr lang="ru-RU" sz="1600" dirty="0"/>
          </a:p>
          <a:p>
            <a:r>
              <a:rPr lang="ru-RU" sz="1600" dirty="0"/>
              <a:t>     А. Колмогоров, </a:t>
            </a:r>
            <a:r>
              <a:rPr lang="ru-RU" sz="1600" dirty="0" err="1"/>
              <a:t>А.Берг</a:t>
            </a:r>
            <a:r>
              <a:rPr lang="ru-RU" sz="1600" dirty="0"/>
              <a:t>, В. Глушков</a:t>
            </a:r>
          </a:p>
          <a:p>
            <a:endParaRPr lang="ru-RU" sz="1600" dirty="0"/>
          </a:p>
          <a:p>
            <a:endParaRPr lang="ru-RU" sz="1600" dirty="0">
              <a:latin typeface="+mj-lt"/>
            </a:endParaRPr>
          </a:p>
          <a:p>
            <a:endParaRPr lang="ru-RU" sz="1600" dirty="0">
              <a:latin typeface="+mj-lt"/>
            </a:endParaRPr>
          </a:p>
          <a:p>
            <a:endParaRPr lang="ru-RU" sz="1600" dirty="0">
              <a:latin typeface="+mj-lt"/>
            </a:endParaRPr>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1225282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9"/>
            <a:ext cx="10454051" cy="4524315"/>
          </a:xfrm>
          <a:prstGeom prst="rect">
            <a:avLst/>
          </a:prstGeom>
          <a:noFill/>
        </p:spPr>
        <p:txBody>
          <a:bodyPr wrap="square" rtlCol="0">
            <a:spAutoFit/>
          </a:bodyPr>
          <a:lstStyle/>
          <a:p>
            <a:r>
              <a:rPr lang="ru-RU" sz="1600" dirty="0"/>
              <a:t>Первые задачи теории принятия решений были сформулированы еще в XVIII веке. </a:t>
            </a:r>
            <a:r>
              <a:rPr lang="ru-RU" sz="1600" dirty="0" err="1"/>
              <a:t>Диниила</a:t>
            </a:r>
            <a:r>
              <a:rPr lang="ru-RU" sz="1600" dirty="0"/>
              <a:t> Бернулли (</a:t>
            </a:r>
            <a:r>
              <a:rPr lang="ru-RU" sz="1600" dirty="0" err="1"/>
              <a:t>Bernoulli</a:t>
            </a:r>
            <a:r>
              <a:rPr lang="ru-RU" sz="1600" dirty="0"/>
              <a:t>, </a:t>
            </a:r>
            <a:r>
              <a:rPr lang="ru-RU" sz="1600" dirty="0" err="1"/>
              <a:t>Daniel</a:t>
            </a:r>
            <a:r>
              <a:rPr lang="ru-RU" sz="1600" dirty="0"/>
              <a:t>; 1700– 1782). В конце XIX века были сделаны попытки применить математический аппарат к экономике и социологии. К ним относятся, в частности, работы итальянского экономиста </a:t>
            </a:r>
            <a:r>
              <a:rPr lang="ru-RU" sz="1600" dirty="0" err="1"/>
              <a:t>Вильфредо</a:t>
            </a:r>
            <a:r>
              <a:rPr lang="ru-RU" sz="1600" dirty="0"/>
              <a:t> Парето (</a:t>
            </a:r>
            <a:r>
              <a:rPr lang="ru-RU" sz="1600" dirty="0" err="1"/>
              <a:t>Pareto</a:t>
            </a:r>
            <a:r>
              <a:rPr lang="ru-RU" sz="1600" dirty="0"/>
              <a:t>, </a:t>
            </a:r>
            <a:r>
              <a:rPr lang="ru-RU" sz="1600" dirty="0" err="1"/>
              <a:t>Vilfredo</a:t>
            </a:r>
            <a:r>
              <a:rPr lang="ru-RU" sz="1600" dirty="0"/>
              <a:t>; 1848-1923). Понятия ≪множество Парето≫ и ≪оптимальность по Парето≫ широко используются в современной</a:t>
            </a:r>
          </a:p>
          <a:p>
            <a:r>
              <a:rPr lang="ru-RU" sz="1600" dirty="0"/>
              <a:t>теории принятия решений. </a:t>
            </a:r>
          </a:p>
          <a:p>
            <a:r>
              <a:rPr lang="ru-RU" sz="1600" dirty="0"/>
              <a:t>В первой половине XX века началось систематическое изучение математических моделей принятия решений при неопределенности и противодействии, которое впоследствии оформилось в теорию игр. Решающую роль здесь сыграл выдающийся математик Джон фон Нейман (</a:t>
            </a:r>
            <a:r>
              <a:rPr lang="ru-RU" sz="1600" dirty="0" err="1"/>
              <a:t>von</a:t>
            </a:r>
            <a:r>
              <a:rPr lang="ru-RU" sz="1600" dirty="0"/>
              <a:t> </a:t>
            </a:r>
            <a:r>
              <a:rPr lang="ru-RU" sz="1600" dirty="0" err="1"/>
              <a:t>Neumann</a:t>
            </a:r>
            <a:r>
              <a:rPr lang="ru-RU" sz="1600" dirty="0"/>
              <a:t>, </a:t>
            </a:r>
            <a:r>
              <a:rPr lang="ru-RU" sz="1600" dirty="0" err="1"/>
              <a:t>John</a:t>
            </a:r>
            <a:r>
              <a:rPr lang="ru-RU" sz="1600" dirty="0"/>
              <a:t>; 1903 – 1957). Еще в 1929 г. он сформулировал и доказал основную теорему матричных</a:t>
            </a:r>
            <a:r>
              <a:rPr lang="en-US" sz="1600" dirty="0"/>
              <a:t> </a:t>
            </a:r>
            <a:r>
              <a:rPr lang="ru-RU" sz="1600" dirty="0"/>
              <a:t>игр — так называемую теорему о минимаксе, а в 1944 г. вместе с экономистом Оскаром Моргенштерном (</a:t>
            </a:r>
            <a:r>
              <a:rPr lang="ru-RU" sz="1600" dirty="0" err="1"/>
              <a:t>Morgenstern</a:t>
            </a:r>
            <a:r>
              <a:rPr lang="ru-RU" sz="1600" dirty="0"/>
              <a:t>, </a:t>
            </a:r>
            <a:r>
              <a:rPr lang="ru-RU" sz="1600" dirty="0" err="1"/>
              <a:t>Oscar</a:t>
            </a:r>
            <a:r>
              <a:rPr lang="ru-RU" sz="1600" dirty="0"/>
              <a:t>; 1902– 1977) опубликовал классическую монографию ≪</a:t>
            </a:r>
            <a:r>
              <a:rPr lang="ru-RU" sz="1600" dirty="0" err="1"/>
              <a:t>Theory</a:t>
            </a:r>
            <a:r>
              <a:rPr lang="ru-RU" sz="1600" dirty="0"/>
              <a:t> </a:t>
            </a:r>
            <a:r>
              <a:rPr lang="ru-RU" sz="1600" dirty="0" err="1"/>
              <a:t>of</a:t>
            </a:r>
            <a:r>
              <a:rPr lang="ru-RU" sz="1600" dirty="0"/>
              <a:t> </a:t>
            </a:r>
            <a:r>
              <a:rPr lang="ru-RU" sz="1600" dirty="0" err="1"/>
              <a:t>Games</a:t>
            </a:r>
            <a:r>
              <a:rPr lang="ru-RU" sz="1600" dirty="0"/>
              <a:t> </a:t>
            </a:r>
            <a:r>
              <a:rPr lang="ru-RU" sz="1600" dirty="0" err="1"/>
              <a:t>and</a:t>
            </a:r>
            <a:r>
              <a:rPr lang="ru-RU" sz="1600" dirty="0"/>
              <a:t> </a:t>
            </a:r>
            <a:r>
              <a:rPr lang="ru-RU" sz="1600" dirty="0" err="1"/>
              <a:t>Economic</a:t>
            </a:r>
            <a:r>
              <a:rPr lang="ru-RU" sz="1600" dirty="0"/>
              <a:t> </a:t>
            </a:r>
            <a:r>
              <a:rPr lang="ru-RU" sz="1600" dirty="0" err="1"/>
              <a:t>Behavior</a:t>
            </a:r>
            <a:r>
              <a:rPr lang="ru-RU" sz="1600" dirty="0"/>
              <a:t> — Теория игр и экономическое поведение≫,</a:t>
            </a:r>
          </a:p>
          <a:p>
            <a:r>
              <a:rPr lang="ru-RU" sz="1600" dirty="0"/>
              <a:t>которая стала библией по этому предмету для последующих поколений ученых.</a:t>
            </a:r>
          </a:p>
          <a:p>
            <a:endParaRPr lang="ru-RU" sz="1600" dirty="0"/>
          </a:p>
          <a:p>
            <a:r>
              <a:rPr lang="ru-RU" sz="1600" dirty="0"/>
              <a:t>К этому времени относятся и пионерские работы нашего соотечественника Леонида Витальевича Канторовича по линейному программированию (о них мы подробнее поговорим в гл. 2), исследования по моделям массового обслуживания, сетевому планированию и управлению и т. д. </a:t>
            </a:r>
          </a:p>
          <a:p>
            <a:r>
              <a:rPr lang="ru-RU" sz="1600" dirty="0"/>
              <a:t>В целом, к середине XX века был накоплен багаж разрозненных научных результатов, достаточный</a:t>
            </a:r>
          </a:p>
          <a:p>
            <a:r>
              <a:rPr lang="ru-RU" sz="1600" dirty="0"/>
              <a:t>для решения многих практических задач принятия решений.</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1292549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9"/>
            <a:ext cx="10454051" cy="5016758"/>
          </a:xfrm>
          <a:prstGeom prst="rect">
            <a:avLst/>
          </a:prstGeom>
          <a:noFill/>
        </p:spPr>
        <p:txBody>
          <a:bodyPr wrap="square" rtlCol="0">
            <a:spAutoFit/>
          </a:bodyPr>
          <a:lstStyle/>
          <a:p>
            <a:r>
              <a:rPr lang="ru-RU" sz="1600" dirty="0"/>
              <a:t>Мощный толчок развитию прикладных научных исследований дала Вторая мировая война. Собственно, тогда и появился термин ≪исследование операций≫, который был предложен военными, и означал научное, с  применением математических моделей и методов, исследование военных операций. Исторически первым </a:t>
            </a:r>
            <a:r>
              <a:rPr lang="ru-RU" sz="1600" dirty="0" err="1"/>
              <a:t>опы</a:t>
            </a:r>
            <a:r>
              <a:rPr lang="ru-RU" sz="1600" dirty="0"/>
              <a:t>-</a:t>
            </a:r>
          </a:p>
          <a:p>
            <a:r>
              <a:rPr lang="ru-RU" sz="1600" dirty="0"/>
              <a:t>том успешного взаимодействия ученых с военными считается развертывание системы противовоздушной обороны Великобритании в 1938–1941 гг. с использованием новейшей радиолокационной техники. Для решения сложных технических и организационных проблем была создана междисциплинарная группа исследователей, ставшая известной по имени ее руководителя, будущего лауреата Нобелевской премии Патрика </a:t>
            </a:r>
            <a:r>
              <a:rPr lang="ru-RU" sz="1600" dirty="0" err="1"/>
              <a:t>Блэкетта</a:t>
            </a:r>
            <a:r>
              <a:rPr lang="ru-RU" sz="1600" dirty="0"/>
              <a:t> (</a:t>
            </a:r>
            <a:r>
              <a:rPr lang="ru-RU" sz="1600" dirty="0" err="1"/>
              <a:t>Blackett</a:t>
            </a:r>
            <a:r>
              <a:rPr lang="ru-RU" sz="1600" dirty="0"/>
              <a:t>,</a:t>
            </a:r>
          </a:p>
          <a:p>
            <a:r>
              <a:rPr lang="ru-RU" sz="1600" dirty="0" err="1"/>
              <a:t>Patrick</a:t>
            </a:r>
            <a:r>
              <a:rPr lang="ru-RU" sz="1600" dirty="0"/>
              <a:t>; 1897–1974), как ≪кружок </a:t>
            </a:r>
            <a:r>
              <a:rPr lang="ru-RU" sz="1600" dirty="0" err="1"/>
              <a:t>Блэкетта</a:t>
            </a:r>
            <a:r>
              <a:rPr lang="ru-RU" sz="1600" dirty="0"/>
              <a:t>≫. Результаты ее деятельности оказались исключительно эффективными, более того, здесь были сформулированы фундаментальные принципы любого операционного исследования: системный подход к проблеме, работа смешанными творческими коллективами, включающими специалистов различных отраслей знаний, использование математических моделей и методов.</a:t>
            </a:r>
          </a:p>
          <a:p>
            <a:r>
              <a:rPr lang="ru-RU" sz="1600" dirty="0"/>
              <a:t>Когда в войну вступили Соединенные Штаты, их военное командование изучило британский опыт и осознало целесообразность привлечения ученых к разработке военных операций. Многие талантливые математики и физики были мобилизованы в армию и использовались в качестве научных советников. В частности, группу по исследованию операций на флоте возглавил физик, директор вычислительного центра </a:t>
            </a:r>
            <a:r>
              <a:rPr lang="ru-RU" sz="1600" dirty="0" err="1"/>
              <a:t>Массачусетсского</a:t>
            </a:r>
            <a:r>
              <a:rPr lang="ru-RU" sz="1600" dirty="0"/>
              <a:t> техно-</a:t>
            </a:r>
          </a:p>
          <a:p>
            <a:r>
              <a:rPr lang="ru-RU" sz="1600" dirty="0"/>
              <a:t>логического института Филипп </a:t>
            </a:r>
            <a:r>
              <a:rPr lang="ru-RU" sz="1600" dirty="0" err="1"/>
              <a:t>Морз</a:t>
            </a:r>
            <a:r>
              <a:rPr lang="ru-RU" sz="1600" dirty="0"/>
              <a:t> (</a:t>
            </a:r>
            <a:r>
              <a:rPr lang="ru-RU" sz="1600" dirty="0" err="1"/>
              <a:t>Morse</a:t>
            </a:r>
            <a:r>
              <a:rPr lang="ru-RU" sz="1600" dirty="0"/>
              <a:t>, </a:t>
            </a:r>
            <a:r>
              <a:rPr lang="ru-RU" sz="1600" dirty="0" err="1"/>
              <a:t>Philip</a:t>
            </a:r>
            <a:r>
              <a:rPr lang="ru-RU" sz="1600" dirty="0"/>
              <a:t> </a:t>
            </a:r>
            <a:r>
              <a:rPr lang="ru-RU" sz="1600" dirty="0" err="1"/>
              <a:t>McCord</a:t>
            </a:r>
            <a:r>
              <a:rPr lang="ru-RU" sz="1600" dirty="0"/>
              <a:t>; 1903–1985), считающийся ≪отцом исследования операций≫ в США. В главном штабе ВВС работал один из создателей линейного программирования математик Джордж Данциг и т. д. Имеется множество примеров успешно решенных военных задач — от оптимального размещения кораблей сторожевой охраны до обеспечения войск продовольствием и вооружением. К концу войны общее число ученых в Англии, Америке и Канаде превышало 700 человек.</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194065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8"/>
            <a:ext cx="10454051" cy="4278094"/>
          </a:xfrm>
          <a:prstGeom prst="rect">
            <a:avLst/>
          </a:prstGeom>
          <a:noFill/>
        </p:spPr>
        <p:txBody>
          <a:bodyPr wrap="square" rtlCol="0">
            <a:spAutoFit/>
          </a:bodyPr>
          <a:lstStyle/>
          <a:p>
            <a:r>
              <a:rPr lang="ru-RU" sz="1600" dirty="0"/>
              <a:t>Хотя большинство специалистов, занимавшихся во время войны исследованиями операций, вернулись после ее окончания к своей довоенной деятельности, многие продолжили исследования и показали возможность использования новой синтетической науки о функциональных системах в мирное время.</a:t>
            </a:r>
          </a:p>
          <a:p>
            <a:r>
              <a:rPr lang="ru-RU" sz="1600" dirty="0"/>
              <a:t>Строго говоря, это время можно назвать мирным только относительно. Сразу после окончания Второй мировой войны началась ≪холодная война≫, начало которой положила знаменитая ≪Фултонская речь≫ Уинстона Черчилля, произнесенная им 5 марта 1946 г. в американском университетском городке Фултон, штат Миссури. Бывшие союзники по антигитлеровской коалиции, разделенные непреодолимыми идеологическими противоречиями, стали готовиться к третьей мировой войне, которая казалась неизбежной. Спешно создавались системы ракетно-ядерного оружия, изучались новые театры военных действий, моделировались сценарии будущих вооруженных конфликтов. Цифры военных расходов достигли астрономических значений, при этом существенная</a:t>
            </a:r>
          </a:p>
          <a:p>
            <a:r>
              <a:rPr lang="ru-RU" sz="1600" dirty="0"/>
              <a:t>доля их тратилась на научные исследования и разработки.</a:t>
            </a:r>
          </a:p>
          <a:p>
            <a:r>
              <a:rPr lang="ru-RU" sz="1600" dirty="0"/>
              <a:t>Следует признать, что послевоенные годы стали золотым временем для ученых, занимавшихся прикладными математическими исследованиями во всех направлениях. При этом разработанные изначально для военных целей модели и методы стали с успехом применяться и в гражданских отраслях народного хозяйства.</a:t>
            </a:r>
          </a:p>
          <a:p>
            <a:r>
              <a:rPr lang="ru-RU" sz="1600" dirty="0"/>
              <a:t>Созданные во время войны группы и отделы по исследованию операций постепенно трансформировались в самостоятельные консультационные фирмы — ≪фабрики мысли≫ [11], многие из которых достигли замечательных успехов.</a:t>
            </a: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2107880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8"/>
            <a:ext cx="10454051" cy="5016758"/>
          </a:xfrm>
          <a:prstGeom prst="rect">
            <a:avLst/>
          </a:prstGeom>
          <a:noFill/>
        </p:spPr>
        <p:txBody>
          <a:bodyPr wrap="square" rtlCol="0">
            <a:spAutoFit/>
          </a:bodyPr>
          <a:lstStyle/>
          <a:p>
            <a:r>
              <a:rPr lang="ru-RU" sz="1600" dirty="0"/>
              <a:t>Показательна в этом отношении судьба корпорации RAND</a:t>
            </a:r>
            <a:r>
              <a:rPr lang="en-US" sz="1600" dirty="0"/>
              <a:t> </a:t>
            </a:r>
            <a:r>
              <a:rPr lang="ru-RU" sz="1600" dirty="0"/>
              <a:t>(</a:t>
            </a:r>
            <a:r>
              <a:rPr lang="ru-RU" sz="1600" dirty="0" err="1"/>
              <a:t>Research</a:t>
            </a:r>
            <a:r>
              <a:rPr lang="ru-RU" sz="1600" dirty="0"/>
              <a:t> </a:t>
            </a:r>
            <a:r>
              <a:rPr lang="ru-RU" sz="1600" dirty="0" err="1"/>
              <a:t>ANd</a:t>
            </a:r>
            <a:r>
              <a:rPr lang="ru-RU" sz="1600" dirty="0"/>
              <a:t> </a:t>
            </a:r>
            <a:r>
              <a:rPr lang="ru-RU" sz="1600" dirty="0" err="1"/>
              <a:t>Development</a:t>
            </a:r>
            <a:r>
              <a:rPr lang="ru-RU" sz="1600" dirty="0"/>
              <a:t> —исследования и разработки). Она</a:t>
            </a:r>
            <a:r>
              <a:rPr lang="en-US" sz="1600" dirty="0"/>
              <a:t> </a:t>
            </a:r>
            <a:r>
              <a:rPr lang="ru-RU" sz="1600" dirty="0"/>
              <a:t>была основана ВВС США и </a:t>
            </a:r>
            <a:r>
              <a:rPr lang="ru-RU" sz="1600" dirty="0" err="1"/>
              <a:t>Douglas</a:t>
            </a:r>
            <a:r>
              <a:rPr lang="ru-RU" sz="1600" dirty="0"/>
              <a:t> </a:t>
            </a:r>
            <a:r>
              <a:rPr lang="ru-RU" sz="1600" dirty="0" err="1"/>
              <a:t>Aircraft</a:t>
            </a:r>
            <a:r>
              <a:rPr lang="ru-RU" sz="1600" dirty="0"/>
              <a:t> </a:t>
            </a:r>
            <a:r>
              <a:rPr lang="ru-RU" sz="1600" dirty="0" err="1"/>
              <a:t>Company</a:t>
            </a:r>
            <a:r>
              <a:rPr lang="ru-RU" sz="1600" dirty="0"/>
              <a:t> в 1946 г. Как</a:t>
            </a:r>
            <a:r>
              <a:rPr lang="en-US" sz="1600" dirty="0"/>
              <a:t> </a:t>
            </a:r>
            <a:r>
              <a:rPr lang="ru-RU" sz="1600" dirty="0"/>
              <a:t>чисто военный ≪проект RAND≫, но в 1948 г. преобразована в самостоятельную некоммерческую компанию со значительно более</a:t>
            </a:r>
            <a:r>
              <a:rPr lang="en-US" sz="1600" dirty="0"/>
              <a:t> </a:t>
            </a:r>
            <a:r>
              <a:rPr lang="ru-RU" sz="1600" dirty="0"/>
              <a:t>широким полем деятельности. Штаб-квартира компании расположена в Санта-Монике, штат Калифорния, кроме того, имеются</a:t>
            </a:r>
          </a:p>
          <a:p>
            <a:r>
              <a:rPr lang="ru-RU" sz="1600" dirty="0"/>
              <a:t>филиалы в нескольких городах США и Европы. В 2008 г. в ее</a:t>
            </a:r>
            <a:r>
              <a:rPr lang="en-US" sz="1600" dirty="0"/>
              <a:t> </a:t>
            </a:r>
            <a:r>
              <a:rPr lang="ru-RU" sz="1600" dirty="0"/>
              <a:t>штате было около 1600 сотрудников, годовой бюджет составлял</a:t>
            </a:r>
            <a:r>
              <a:rPr lang="en-US" sz="1600" dirty="0"/>
              <a:t> </a:t>
            </a:r>
            <a:r>
              <a:rPr lang="ru-RU" sz="1600" dirty="0"/>
              <a:t>более 200 млн долларов</a:t>
            </a:r>
            <a:r>
              <a:rPr lang="en-US" sz="1600" dirty="0"/>
              <a:t> (10 </a:t>
            </a:r>
            <a:r>
              <a:rPr lang="ru-RU" sz="1600" dirty="0"/>
              <a:t> млн </a:t>
            </a:r>
            <a:r>
              <a:rPr lang="ru-RU" sz="1600" dirty="0" err="1"/>
              <a:t>руб</a:t>
            </a:r>
            <a:r>
              <a:rPr lang="ru-RU" sz="1600" dirty="0"/>
              <a:t> на человека).</a:t>
            </a:r>
          </a:p>
          <a:p>
            <a:r>
              <a:rPr lang="ru-RU" sz="1600" dirty="0"/>
              <a:t>Главный офис RAND </a:t>
            </a:r>
            <a:r>
              <a:rPr lang="ru-RU" sz="1600" dirty="0" err="1"/>
              <a:t>Corporation</a:t>
            </a:r>
            <a:r>
              <a:rPr lang="ru-RU" sz="1600" dirty="0"/>
              <a:t> размещается в двух больших розовых зданиях, окна которых выходят на пляж. Во время обеденного перерыва многие занимаются плаванием, в одежде нет строгости, сами сотрудники общительны и держатся непринужденно. Кабинеты, как правило, изящно обставлены в соответствии с тем, как принято себе представлять профессорские апартаменты. Осуществляются строгие меры по обеспечению безопасности, но делается это исподволь. Несмотря на то, что это одно из важнейших вспомогательных учреждений страны, связанных с военной деятельностью, при его посещении скорее вспоминается курорт, чем Пентагон [11].</a:t>
            </a:r>
          </a:p>
          <a:p>
            <a:r>
              <a:rPr lang="ru-RU" sz="1600" dirty="0"/>
              <a:t>Эта исследовательская организация прославила себя замечательными научными достижениями. За первые 20 лет существования ею было опубликовано около 11 тыс. книг, отчетов и статей.</a:t>
            </a:r>
          </a:p>
          <a:p>
            <a:r>
              <a:rPr lang="ru-RU" sz="1600" dirty="0"/>
              <a:t>Более 30 исследователей, так или иначе связанных с RAND, удостоены Нобелевской премии. Здесь разрабатывались космические проекты, была предложена идея современных компьютерных сетей (Пол </a:t>
            </a:r>
            <a:r>
              <a:rPr lang="ru-RU" sz="1600" dirty="0" err="1"/>
              <a:t>Бэрэн</a:t>
            </a:r>
            <a:r>
              <a:rPr lang="ru-RU" sz="1600" dirty="0"/>
              <a:t>, 1962), созданы математические методы линейного программирования (Джордж Данциг, 1947), динамического</a:t>
            </a:r>
          </a:p>
          <a:p>
            <a:r>
              <a:rPr lang="ru-RU" sz="1600" dirty="0"/>
              <a:t>программирования (Ричард Беллман, 1957), дифференциальных игр (</a:t>
            </a:r>
            <a:r>
              <a:rPr lang="ru-RU" sz="1600" dirty="0" err="1"/>
              <a:t>Руфус</a:t>
            </a:r>
            <a:r>
              <a:rPr lang="ru-RU" sz="1600" dirty="0"/>
              <a:t> </a:t>
            </a:r>
            <a:r>
              <a:rPr lang="ru-RU" sz="1600" dirty="0" err="1"/>
              <a:t>Айзекс</a:t>
            </a:r>
            <a:r>
              <a:rPr lang="ru-RU" sz="1600" dirty="0"/>
              <a:t>, 1954) и т. д. Выходцы из RAND не раз занимали высокие государственные посты (Джеймс </a:t>
            </a:r>
            <a:r>
              <a:rPr lang="ru-RU" sz="1600" dirty="0" err="1"/>
              <a:t>Шлезингер</a:t>
            </a:r>
            <a:r>
              <a:rPr lang="ru-RU" sz="1600" dirty="0"/>
              <a:t> —министр обороны в правительстве Никсона, </a:t>
            </a:r>
            <a:r>
              <a:rPr lang="ru-RU" sz="1600" dirty="0" err="1"/>
              <a:t>Кондолизза</a:t>
            </a:r>
            <a:r>
              <a:rPr lang="ru-RU" sz="1600" dirty="0"/>
              <a:t> Райс —государственный секретарь в правительстве Буша и др.). </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307359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9"/>
            <a:ext cx="10454051" cy="5016758"/>
          </a:xfrm>
          <a:prstGeom prst="rect">
            <a:avLst/>
          </a:prstGeom>
          <a:noFill/>
        </p:spPr>
        <p:txBody>
          <a:bodyPr wrap="square" rtlCol="0">
            <a:spAutoFit/>
          </a:bodyPr>
          <a:lstStyle/>
          <a:p>
            <a:r>
              <a:rPr lang="ru-RU" sz="1600" dirty="0"/>
              <a:t>Научные исследования, проведенные в RAND, существенным образом влияли не только на науку, но и на национальную политику и экономику США. В целом в послевоенное время исследование операций за рубежом переживало период расцвета. Бурно развивающаяся экономика США и других передовых капиталистических стран охотно воспринимала научные методы управления, многие крупные компании пользовались услугами консультационных фирм либо организовали у себя исследовательские подразделения, помогающие развивать бизнес в условиях жесткой конкуренции.</a:t>
            </a:r>
          </a:p>
          <a:p>
            <a:r>
              <a:rPr lang="ru-RU" sz="1600" dirty="0"/>
              <a:t>Инновационные технологии управления стали использоваться также в государственном и муниципальном управлении. Так, например, в 1968 г. был основан Институт городского хозяйства, а в 1969 г. — Институт развития города Нью-Йорка. Оба эти института разработали весьма разнообразные и эффективные программы, в которых предусматривалось использование методов исследования операций.</a:t>
            </a:r>
          </a:p>
          <a:p>
            <a:r>
              <a:rPr lang="ru-RU" sz="1600" dirty="0"/>
              <a:t>Важнейшим фактором, повлиявшим на быстрое развитие прикладных математических исследований в послевоенное время, стало создание и широкое внедрение электронных вычислительных машин, позволивших реализовать сложные вычислительные и моделирующие алгоритмы.</a:t>
            </a:r>
          </a:p>
          <a:p>
            <a:r>
              <a:rPr lang="ru-RU" sz="1600" dirty="0"/>
              <a:t>Параллельно развивалась научно-образовательная инфраструктура в области исследования операций: были образованы соответствующие научные общества, основаны научные журналы, присваивались ученые степени, регулярно проводились национальные и международные конференции. После того как в 1968 г. Государственным банком Швеции по случаю своего 300-летия была учреждена Нобелевская премия по экономике, ею были отмечены выдающиеся достижения в области исследования операций, имеющие выраженную экономическую интерпретацию (Канторович и </a:t>
            </a:r>
            <a:r>
              <a:rPr lang="ru-RU" sz="1600" dirty="0" err="1"/>
              <a:t>Купманс</a:t>
            </a:r>
            <a:r>
              <a:rPr lang="ru-RU" sz="1600" dirty="0"/>
              <a:t> за теорию распределения ресурсов в 1975 г., Джон </a:t>
            </a:r>
            <a:r>
              <a:rPr lang="ru-RU" sz="1600" dirty="0" err="1"/>
              <a:t>Нэш</a:t>
            </a:r>
            <a:r>
              <a:rPr lang="ru-RU" sz="1600" dirty="0"/>
              <a:t> за исследования по теории игр в 1994 г. и </a:t>
            </a:r>
            <a:r>
              <a:rPr lang="ru-RU" sz="1600" dirty="0" err="1"/>
              <a:t>др</a:t>
            </a:r>
            <a:r>
              <a:rPr lang="ru-RU" sz="1600" dirty="0"/>
              <a:t>).</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3869703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8"/>
            <a:ext cx="10454051" cy="3785652"/>
          </a:xfrm>
          <a:prstGeom prst="rect">
            <a:avLst/>
          </a:prstGeom>
          <a:noFill/>
        </p:spPr>
        <p:txBody>
          <a:bodyPr wrap="square" rtlCol="0">
            <a:spAutoFit/>
          </a:bodyPr>
          <a:lstStyle/>
          <a:p>
            <a:r>
              <a:rPr lang="ru-RU" sz="1600" dirty="0"/>
              <a:t>Командно-административная система Советского Союза долгое время не признавала точных научных методов</a:t>
            </a:r>
          </a:p>
          <a:p>
            <a:r>
              <a:rPr lang="ru-RU" sz="1600" dirty="0"/>
              <a:t>управления. Советская управленческая и экономическая наука,  пережившая яркий, но краткий расцвет в начале 1920-х годов, в годы культа личности Сталина была разгромлена и подменена схоластичной и крайне </a:t>
            </a:r>
            <a:r>
              <a:rPr lang="ru-RU" sz="1600" dirty="0" err="1"/>
              <a:t>идеологизированной</a:t>
            </a:r>
            <a:r>
              <a:rPr lang="ru-RU" sz="1600" dirty="0"/>
              <a:t> ≪теорией научного коммунизма≫. Согласно официальному учению, точные науки</a:t>
            </a:r>
          </a:p>
          <a:p>
            <a:r>
              <a:rPr lang="ru-RU" sz="1600" dirty="0"/>
              <a:t>могли быть применены только к неодушевленным объектам, а любые общественные процессы представляли собой принципиально другую и неподвластную математике форму движения материи. </a:t>
            </a:r>
          </a:p>
          <a:p>
            <a:r>
              <a:rPr lang="ru-RU" sz="1600" dirty="0"/>
              <a:t>Интерес к исследованию операций пробудился в начале 1960-х годов, когда немного ослаб идеологический пресс и, благодаря усилиям выдающихся ученых – Андрея Николаевича Колмогорова (1903–1987), Акселя Ивановича Берга (1893–1979), Виктора Михайловича Глушкова (1923–1972) и ряда других, общая наука об управлении — кибернетика, бывшая до тех пор ≪реакционной лженаукой, формой современного механицизма≫3, вышла из </a:t>
            </a:r>
            <a:r>
              <a:rPr lang="ru-RU" sz="1600" dirty="0" err="1"/>
              <a:t>опа</a:t>
            </a:r>
            <a:r>
              <a:rPr lang="ru-RU" sz="1600" dirty="0"/>
              <a:t>-</a:t>
            </a:r>
          </a:p>
          <a:p>
            <a:r>
              <a:rPr lang="ru-RU" sz="1600" dirty="0" err="1"/>
              <a:t>лы</a:t>
            </a:r>
            <a:r>
              <a:rPr lang="ru-RU" sz="1600" dirty="0"/>
              <a:t> и была поставлена ≪на службу коммунизму≫4. Инициаторами этого процесса стали военные исследователь-</a:t>
            </a:r>
          </a:p>
          <a:p>
            <a:r>
              <a:rPr lang="ru-RU" sz="1600" dirty="0" err="1"/>
              <a:t>ские</a:t>
            </a:r>
            <a:r>
              <a:rPr lang="ru-RU" sz="1600" dirty="0"/>
              <a:t> институты, которые были в курсе событий, происходящих за ≪железным занавесом≫ и получали по своим каналам зарубежные книги и журналы, недоступные рядовым читателям. В это время были переведены на русский язык классические зарубежные учебники [7, 8], написаны первые отечественные книги по линейному программированию [13, 14] и другим разделам исследования операций (</a:t>
            </a:r>
            <a:r>
              <a:rPr lang="ru-RU" sz="1600" dirty="0" err="1"/>
              <a:t>Стефанюк</a:t>
            </a:r>
            <a:r>
              <a:rPr lang="ru-RU" sz="1600" dirty="0"/>
              <a:t> Вадим Львович).</a:t>
            </a: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2816971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История дисциплины</a:t>
            </a:r>
          </a:p>
        </p:txBody>
      </p:sp>
      <p:sp>
        <p:nvSpPr>
          <p:cNvPr id="13" name="TextBox 12"/>
          <p:cNvSpPr txBox="1"/>
          <p:nvPr/>
        </p:nvSpPr>
        <p:spPr>
          <a:xfrm>
            <a:off x="221241" y="1448728"/>
            <a:ext cx="10454051" cy="5262979"/>
          </a:xfrm>
          <a:prstGeom prst="rect">
            <a:avLst/>
          </a:prstGeom>
          <a:noFill/>
        </p:spPr>
        <p:txBody>
          <a:bodyPr wrap="square" rtlCol="0">
            <a:spAutoFit/>
          </a:bodyPr>
          <a:lstStyle/>
          <a:p>
            <a:r>
              <a:rPr lang="ru-RU" sz="1600" dirty="0"/>
              <a:t>В середине 1960-х годов, после отставки </a:t>
            </a:r>
            <a:r>
              <a:rPr lang="ru-RU" sz="1600" dirty="0" err="1"/>
              <a:t>Н.С.Хрущева</a:t>
            </a:r>
            <a:r>
              <a:rPr lang="ru-RU" sz="1600" dirty="0"/>
              <a:t> новое советское руководство во главе с молодым еще генсеком </a:t>
            </a:r>
            <a:r>
              <a:rPr lang="ru-RU" sz="1600" dirty="0" err="1"/>
              <a:t>Л.И.Брежневым</a:t>
            </a:r>
            <a:r>
              <a:rPr lang="ru-RU" sz="1600" dirty="0"/>
              <a:t> и энергичным председателем правительства А. Н. Косыгиным взяло курс на экономические реформы с использованием научных методов управления и электронных вычислительных машин. В стране начался ≪кибернетический бум≫: образованы научно-исследовательские кибернетические и экономико-</a:t>
            </a:r>
          </a:p>
          <a:p>
            <a:r>
              <a:rPr lang="ru-RU" sz="1600" dirty="0"/>
              <a:t>математические институты, развернулось производство современных компьютеров, на всех уровнях велась разработка автоматизированных систем управления (АСУ), основаны специализированные журналы, в ряде вузов открылись новые факультеты и специальности. В частности, 1967 г. по инициативе известного философа и социолога </a:t>
            </a:r>
            <a:r>
              <a:rPr lang="ru-RU" sz="1600" dirty="0" err="1"/>
              <a:t>Джермейна</a:t>
            </a:r>
            <a:r>
              <a:rPr lang="ru-RU" sz="1600" dirty="0"/>
              <a:t> Михайловича </a:t>
            </a:r>
            <a:r>
              <a:rPr lang="ru-RU" sz="1600" dirty="0" err="1"/>
              <a:t>Гвишиани</a:t>
            </a:r>
            <a:r>
              <a:rPr lang="ru-RU" sz="1600" dirty="0"/>
              <a:t> был создан ВНИИСИ — Всесоюзный институт системных исследований</a:t>
            </a:r>
          </a:p>
          <a:p>
            <a:r>
              <a:rPr lang="ru-RU" sz="1600" dirty="0"/>
              <a:t>(с 1992 г. ИСА — Институт системного анализа Российской академии наук). По задумке институт должен был стать советским аналогом RAND </a:t>
            </a:r>
            <a:r>
              <a:rPr lang="ru-RU" sz="1600" dirty="0" err="1"/>
              <a:t>Corporation</a:t>
            </a:r>
            <a:r>
              <a:rPr lang="ru-RU" sz="1600" dirty="0"/>
              <a:t> и объединить ученых различных областей.</a:t>
            </a:r>
          </a:p>
          <a:p>
            <a:r>
              <a:rPr lang="ru-RU" sz="1600" dirty="0"/>
              <a:t>К 1980-м годам ажиотаж вокруг АСУ стих, даже сама эта аббревиатура вышла из употребления, ее заменило словосочетание ≪информационная управляющая система — </a:t>
            </a:r>
            <a:r>
              <a:rPr lang="ru-RU" sz="1600" dirty="0" err="1"/>
              <a:t>Management</a:t>
            </a:r>
            <a:r>
              <a:rPr lang="ru-RU" sz="1600" dirty="0"/>
              <a:t> </a:t>
            </a:r>
            <a:r>
              <a:rPr lang="ru-RU" sz="1600" dirty="0" err="1"/>
              <a:t>Information</a:t>
            </a:r>
            <a:endParaRPr lang="ru-RU" sz="1600" dirty="0"/>
          </a:p>
          <a:p>
            <a:r>
              <a:rPr lang="ru-RU" sz="1600" dirty="0" err="1"/>
              <a:t>System</a:t>
            </a:r>
            <a:r>
              <a:rPr lang="ru-RU" sz="1600" dirty="0"/>
              <a:t> (MIS)≫, однако суть дела от этого не изменилась. Всем стало ясно, что эффективное управление современным производством невозможно без использования компьютеров с соответствующим математическим и программным обеспечением. И хотя компьютеризация любого управленческого процесса начинается с информационно-учетных задач, на следующих этапах эволюции автоматизированных систем все более необходимыми являются средства, помогающие лицу, принимающему решения, сделать правильный выбор в той или иной ситуации. Совокупность таких средств получила название ≪система поддержки принятия решений — </a:t>
            </a:r>
            <a:r>
              <a:rPr lang="en-GB" sz="1600" dirty="0"/>
              <a:t>Decision Support System (DSS)≫. </a:t>
            </a:r>
            <a:r>
              <a:rPr lang="ru-RU" sz="1600" dirty="0"/>
              <a:t>Приобретая готовую или создавая оригинальную информационную управляющую систему, нужно иметь в виду, что самым наукоемким и, как следствие, самым дорогим ее компонентом является DSS, алгоритмическую основу которой в значительной мере составляют математические методы исследования операций.</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369379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Определения</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7" name="TextBox 12">
            <a:extLst>
              <a:ext uri="{FF2B5EF4-FFF2-40B4-BE49-F238E27FC236}">
                <a16:creationId xmlns:a16="http://schemas.microsoft.com/office/drawing/2014/main" id="{18ED35B5-EEAC-8341-AFD5-29BF2580A8E4}"/>
              </a:ext>
            </a:extLst>
          </p:cNvPr>
          <p:cNvSpPr txBox="1"/>
          <p:nvPr/>
        </p:nvSpPr>
        <p:spPr>
          <a:xfrm>
            <a:off x="1818299" y="1038831"/>
            <a:ext cx="9611701" cy="5016758"/>
          </a:xfrm>
          <a:prstGeom prst="rect">
            <a:avLst/>
          </a:prstGeom>
          <a:noFill/>
        </p:spPr>
        <p:txBody>
          <a:bodyPr wrap="square" rtlCol="0">
            <a:spAutoFit/>
          </a:bodyPr>
          <a:lstStyle/>
          <a:p>
            <a:r>
              <a:rPr lang="ru-RU" sz="1600" b="1" i="1" dirty="0"/>
              <a:t>Операция </a:t>
            </a:r>
            <a:r>
              <a:rPr lang="ru-RU" sz="1600" dirty="0"/>
              <a:t>– любое управляемое мероприятие, направленное на достижение цели.</a:t>
            </a:r>
          </a:p>
          <a:p>
            <a:r>
              <a:rPr lang="ru-RU" sz="1600" dirty="0"/>
              <a:t>Результат операции зависит от способа ее проведения, т.е. от выбора некоторых параметров. Всякий определенный выбор параметров называется </a:t>
            </a:r>
            <a:r>
              <a:rPr lang="ru-RU" sz="1600" i="1" dirty="0"/>
              <a:t>решением. </a:t>
            </a:r>
          </a:p>
          <a:p>
            <a:r>
              <a:rPr lang="ru-RU" sz="1600" i="1" dirty="0"/>
              <a:t>Оптимальными </a:t>
            </a:r>
            <a:r>
              <a:rPr lang="ru-RU" sz="1600" dirty="0"/>
              <a:t>считают те решения, которые по тем или иным соображениям предпочтительней других.</a:t>
            </a:r>
          </a:p>
          <a:p>
            <a:endParaRPr lang="ru-RU" sz="1600" b="1" dirty="0"/>
          </a:p>
          <a:p>
            <a:r>
              <a:rPr lang="ru-RU" sz="1600" b="1" dirty="0"/>
              <a:t>Модель операции</a:t>
            </a:r>
            <a:r>
              <a:rPr lang="ru-RU" sz="1600" dirty="0"/>
              <a:t>. Для применения количественных методов исследования операций необходимо построить </a:t>
            </a:r>
            <a:r>
              <a:rPr lang="ru-RU" sz="1600" i="1" dirty="0"/>
              <a:t>математическую модель операции. </a:t>
            </a:r>
            <a:r>
              <a:rPr lang="ru-RU" sz="1600" dirty="0"/>
              <a:t>При построении модели операция, как правило, упрощается, схематизируется и схема операции описывается с помощью того или иного математического аппарата. </a:t>
            </a:r>
          </a:p>
          <a:p>
            <a:endParaRPr lang="ru-RU" sz="1600" dirty="0"/>
          </a:p>
          <a:p>
            <a:r>
              <a:rPr lang="ru-RU" sz="1600" dirty="0"/>
              <a:t>Модель </a:t>
            </a:r>
            <a:r>
              <a:rPr lang="ru-RU" sz="1600" i="1" dirty="0"/>
              <a:t>операции — </a:t>
            </a:r>
            <a:r>
              <a:rPr lang="ru-RU" sz="1600" dirty="0"/>
              <a:t>это достаточно точное описание операции с помощью математического аппарата (различного рода функций, уравнений, систем уравнений и неравенств и т.п.). Составление модели операции требует понимания сущности описываемого явления и знания математического аппарата.</a:t>
            </a:r>
          </a:p>
          <a:p>
            <a:endParaRPr lang="ru-RU" sz="1600" dirty="0"/>
          </a:p>
          <a:p>
            <a:r>
              <a:rPr lang="ru-RU" sz="1600" b="1" i="1" dirty="0"/>
              <a:t>Эффективность операции </a:t>
            </a:r>
            <a:r>
              <a:rPr lang="ru-RU" sz="1600" i="1" dirty="0"/>
              <a:t>— </a:t>
            </a:r>
            <a:r>
              <a:rPr lang="ru-RU" sz="1600" dirty="0"/>
              <a:t>степень ее приспособленности к выполнению задачи — количественно выражается в виде критерия эффективности — целевой функции. Например, в задаче об использовании ресурсов критерий эффективности — прибыль от реализации произведенной продукции, которую нужно максимизировать, в транспортной задаче — суммарные затраты на перевозку грузов от поставщиков к потребителям, которые нужно минимизировать. Выбор критерия эффективности определяет практическую ценность исследования.</a:t>
            </a:r>
          </a:p>
        </p:txBody>
      </p:sp>
    </p:spTree>
    <p:extLst>
      <p:ext uri="{BB962C8B-B14F-4D97-AF65-F5344CB8AC3E}">
        <p14:creationId xmlns:p14="http://schemas.microsoft.com/office/powerpoint/2010/main" val="1473205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Алгоритм исследования</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7" name="TextBox 12">
            <a:extLst>
              <a:ext uri="{FF2B5EF4-FFF2-40B4-BE49-F238E27FC236}">
                <a16:creationId xmlns:a16="http://schemas.microsoft.com/office/drawing/2014/main" id="{18ED35B5-EEAC-8341-AFD5-29BF2580A8E4}"/>
              </a:ext>
            </a:extLst>
          </p:cNvPr>
          <p:cNvSpPr txBox="1"/>
          <p:nvPr/>
        </p:nvSpPr>
        <p:spPr>
          <a:xfrm>
            <a:off x="1818299" y="1038831"/>
            <a:ext cx="4550085" cy="3539430"/>
          </a:xfrm>
          <a:prstGeom prst="rect">
            <a:avLst/>
          </a:prstGeom>
          <a:noFill/>
        </p:spPr>
        <p:txBody>
          <a:bodyPr wrap="square" rtlCol="0">
            <a:spAutoFit/>
          </a:bodyPr>
          <a:lstStyle/>
          <a:p>
            <a:pPr marL="228600" indent="-228600">
              <a:buAutoNum type="arabicPeriod"/>
            </a:pPr>
            <a:r>
              <a:rPr lang="ru-RU" sz="1600" dirty="0">
                <a:latin typeface="+mj-lt"/>
              </a:rPr>
              <a:t>Целеполагания – самый важный шаг, самая высокая стоимость ошибки</a:t>
            </a:r>
          </a:p>
          <a:p>
            <a:pPr marL="228600" indent="-228600">
              <a:buAutoNum type="arabicPeriod"/>
            </a:pPr>
            <a:endParaRPr lang="ru-RU" sz="1600" dirty="0">
              <a:latin typeface="+mj-lt"/>
            </a:endParaRPr>
          </a:p>
          <a:p>
            <a:pPr marL="228600" indent="-228600">
              <a:buAutoNum type="arabicPeriod"/>
            </a:pPr>
            <a:r>
              <a:rPr lang="ru-RU" sz="1600" dirty="0">
                <a:latin typeface="+mj-lt"/>
              </a:rPr>
              <a:t>Построение модели</a:t>
            </a: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a:p>
            <a:pPr marL="228600" indent="-228600">
              <a:buAutoNum type="arabicPeriod"/>
            </a:pPr>
            <a:endParaRPr lang="ru-RU" sz="1600" dirty="0">
              <a:latin typeface="+mj-lt"/>
            </a:endParaRPr>
          </a:p>
        </p:txBody>
      </p:sp>
      <p:pic>
        <p:nvPicPr>
          <p:cNvPr id="9" name="Picture 2">
            <a:extLst>
              <a:ext uri="{FF2B5EF4-FFF2-40B4-BE49-F238E27FC236}">
                <a16:creationId xmlns:a16="http://schemas.microsoft.com/office/drawing/2014/main" id="{BE46E9EA-68F6-FD42-8D34-2D0296C4F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4922" y="1500992"/>
            <a:ext cx="4102668" cy="38560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a:extLst>
              <a:ext uri="{FF2B5EF4-FFF2-40B4-BE49-F238E27FC236}">
                <a16:creationId xmlns:a16="http://schemas.microsoft.com/office/drawing/2014/main" id="{8A2F63CD-8BD2-A245-AF6C-B3AB585006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1263" y="2494112"/>
            <a:ext cx="5022847" cy="1982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a:extLst>
              <a:ext uri="{FF2B5EF4-FFF2-40B4-BE49-F238E27FC236}">
                <a16:creationId xmlns:a16="http://schemas.microsoft.com/office/drawing/2014/main" id="{EBEFF4D6-42A8-ED48-A5BE-1392760DD5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7811" y="4558575"/>
            <a:ext cx="1809750" cy="43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7">
            <p14:nvContentPartPr>
              <p14:cNvPr id="3" name="Entrada de lápiz 2">
                <a:extLst>
                  <a:ext uri="{FF2B5EF4-FFF2-40B4-BE49-F238E27FC236}">
                    <a16:creationId xmlns:a16="http://schemas.microsoft.com/office/drawing/2014/main" id="{E1B86022-2E2A-AA4B-B5B1-A5FDEEFD88B4}"/>
                  </a:ext>
                </a:extLst>
              </p14:cNvPr>
              <p14:cNvContentPartPr/>
              <p14:nvPr/>
            </p14:nvContentPartPr>
            <p14:xfrm>
              <a:off x="2159555" y="1286923"/>
              <a:ext cx="1340640" cy="52920"/>
            </p14:xfrm>
          </p:contentPart>
        </mc:Choice>
        <mc:Fallback xmlns="">
          <p:pic>
            <p:nvPicPr>
              <p:cNvPr id="3" name="Entrada de lápiz 2">
                <a:extLst>
                  <a:ext uri="{FF2B5EF4-FFF2-40B4-BE49-F238E27FC236}">
                    <a16:creationId xmlns:a16="http://schemas.microsoft.com/office/drawing/2014/main" id="{E1B86022-2E2A-AA4B-B5B1-A5FDEEFD88B4}"/>
                  </a:ext>
                </a:extLst>
              </p:cNvPr>
              <p:cNvPicPr/>
              <p:nvPr/>
            </p:nvPicPr>
            <p:blipFill>
              <a:blip r:embed="rId8"/>
              <a:stretch>
                <a:fillRect/>
              </a:stretch>
            </p:blipFill>
            <p:spPr>
              <a:xfrm>
                <a:off x="2150555" y="1277923"/>
                <a:ext cx="1358280" cy="70560"/>
              </a:xfrm>
              <a:prstGeom prst="rect">
                <a:avLst/>
              </a:prstGeom>
            </p:spPr>
          </p:pic>
        </mc:Fallback>
      </mc:AlternateContent>
    </p:spTree>
    <p:extLst>
      <p:ext uri="{BB962C8B-B14F-4D97-AF65-F5344CB8AC3E}">
        <p14:creationId xmlns:p14="http://schemas.microsoft.com/office/powerpoint/2010/main" val="2577779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Алгоритм операционного исследования</a:t>
            </a:r>
          </a:p>
        </p:txBody>
      </p:sp>
      <p:sp>
        <p:nvSpPr>
          <p:cNvPr id="13" name="TextBox 12"/>
          <p:cNvSpPr txBox="1"/>
          <p:nvPr/>
        </p:nvSpPr>
        <p:spPr>
          <a:xfrm>
            <a:off x="221241" y="1448728"/>
            <a:ext cx="10454051" cy="3046988"/>
          </a:xfrm>
          <a:prstGeom prst="rect">
            <a:avLst/>
          </a:prstGeom>
          <a:noFill/>
        </p:spPr>
        <p:txBody>
          <a:bodyPr wrap="square" rtlCol="0">
            <a:spAutoFit/>
          </a:bodyPr>
          <a:lstStyle/>
          <a:p>
            <a:r>
              <a:rPr lang="ru-RU" sz="1600" dirty="0"/>
              <a:t>Независимо от того, какой конкретно выбран объект, процесс операционного исследования происходит по обобщенному алгоритму, представленному на рис. </a:t>
            </a:r>
          </a:p>
          <a:p>
            <a:r>
              <a:rPr lang="ru-RU" sz="1600" dirty="0"/>
              <a:t>Первый и, по-видимому, самый ответственный этап — постановка задачи. На этом этапе необходимо четко выявить цель операции, обозначить границы системы, в которой будет осуществляться операция, а также определить факторы, влияющие на операцию. Разумеется, этот процесс является творческим, здесь многое зависит от эрудиции и таланта исследователя, однако в прикладном системном анализе выработан ряд практических приемов и рекомендаций [1], которые помогают проводить целенаправленное выявление существенного в сложных реальных объектах.</a:t>
            </a:r>
          </a:p>
          <a:p>
            <a:r>
              <a:rPr lang="ru-RU" sz="1600" dirty="0"/>
              <a:t>Системный анализ всегда начинается с </a:t>
            </a:r>
            <a:r>
              <a:rPr lang="ru-RU" sz="1600" i="1" dirty="0" err="1"/>
              <a:t>целевыявления</a:t>
            </a:r>
            <a:r>
              <a:rPr lang="ru-RU" sz="1600" dirty="0"/>
              <a:t>, во время которого формализуются и уточняются </a:t>
            </a:r>
            <a:r>
              <a:rPr lang="ru-RU" sz="1600" i="1" dirty="0"/>
              <a:t>истинные </a:t>
            </a:r>
            <a:r>
              <a:rPr lang="ru-RU" sz="1600" dirty="0"/>
              <a:t>цели оперирующей стороны. Нечего и говорить, что конечный успех всего дела самым существенным образом зависит от правильного </a:t>
            </a:r>
            <a:r>
              <a:rPr lang="ru-RU" sz="1600" dirty="0" err="1"/>
              <a:t>целевыявления</a:t>
            </a:r>
            <a:r>
              <a:rPr lang="ru-RU" sz="1600" dirty="0"/>
              <a:t>.</a:t>
            </a:r>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4257352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Алгоритм операционного исследования</a:t>
            </a:r>
          </a:p>
        </p:txBody>
      </p:sp>
      <p:sp>
        <p:nvSpPr>
          <p:cNvPr id="13" name="TextBox 12"/>
          <p:cNvSpPr txBox="1"/>
          <p:nvPr/>
        </p:nvSpPr>
        <p:spPr>
          <a:xfrm>
            <a:off x="221241" y="1448729"/>
            <a:ext cx="10454051" cy="4524315"/>
          </a:xfrm>
          <a:prstGeom prst="rect">
            <a:avLst/>
          </a:prstGeom>
          <a:noFill/>
        </p:spPr>
        <p:txBody>
          <a:bodyPr wrap="square" rtlCol="0">
            <a:spAutoFit/>
          </a:bodyPr>
          <a:lstStyle/>
          <a:p>
            <a:r>
              <a:rPr lang="ru-RU" sz="1600" dirty="0"/>
              <a:t>Вот хрестоматийный пример, приводимый во многих учебниках по исследованию операций. Руководству крупной компании, располагающейся в небоскребе, стали поступать жалобы от сотрудников на долгое ожидание лифтов в вестибюлях. Объективный хронометраж подтвердил существование проблемы: лифты старой конструкции не справлялись с потоком служащих, хотя время ожидания с точки производственной необходимости не было слишком большим. Руководство обратилось в строительную фирму, которая предложила на выбор три способа решения проблемы: 1) увеличить число лифтовых шахт; 2) заменить лифты на более быстрые; 3) установить компьютерную систему управления лифтами, оптимизирующую их движение в зависимости от времени суток, числа ожидающих на каждом этаже и т. д. Каждый из вариантов требовал миллионных затрат и долгого времени на</a:t>
            </a:r>
          </a:p>
          <a:p>
            <a:r>
              <a:rPr lang="ru-RU" sz="1600" dirty="0"/>
              <a:t>реализацию. </a:t>
            </a:r>
          </a:p>
          <a:p>
            <a:r>
              <a:rPr lang="ru-RU" sz="1600" dirty="0"/>
              <a:t>Случилось так, что в момент обсуждения вариантов в кабинете оказался специалист из консалтинговой компании, который взялся разрешить проблемную ситуацию принципиально другим способом. Когда его спросили, сколько это будет стоить и сколько потребуется для этого времени, он пообещал сделать все к завтрашнему дню за тысячу долларов. Когда наутро сотрудники пришли на работу, они увидели, что в лифтовых вестибюлях установлены удобные кресла, а на стенах развешаны зеркала. Женщины тут же устремились к ним и начали прихорашиваться, а мужчины сели в кресла и с интересом стали разглядывать крутящихся перед зеркалами женщин. И те и другие нашли себе занятие, ожидание лифта перестало быть томительным. Проблемная ситуация таким образом была легко разрешена потому, что истинной целью операции была не минимизация времени ожидания лифтов, которое объективно было вполне приемлемым, а минимизация недовольства служащих.</a:t>
            </a: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C4827203-92DB-3A40-B347-45B2D5F8AB9F}"/>
                  </a:ext>
                </a:extLst>
              </p14:cNvPr>
              <p14:cNvContentPartPr/>
              <p14:nvPr/>
            </p14:nvContentPartPr>
            <p14:xfrm>
              <a:off x="28355" y="1501123"/>
              <a:ext cx="248040" cy="4442040"/>
            </p14:xfrm>
          </p:contentPart>
        </mc:Choice>
        <mc:Fallback xmlns="">
          <p:pic>
            <p:nvPicPr>
              <p:cNvPr id="4" name="Entrada de lápiz 3">
                <a:extLst>
                  <a:ext uri="{FF2B5EF4-FFF2-40B4-BE49-F238E27FC236}">
                    <a16:creationId xmlns:a16="http://schemas.microsoft.com/office/drawing/2014/main" id="{C4827203-92DB-3A40-B347-45B2D5F8AB9F}"/>
                  </a:ext>
                </a:extLst>
              </p:cNvPr>
              <p:cNvPicPr/>
              <p:nvPr/>
            </p:nvPicPr>
            <p:blipFill>
              <a:blip r:embed="rId5"/>
              <a:stretch>
                <a:fillRect/>
              </a:stretch>
            </p:blipFill>
            <p:spPr>
              <a:xfrm>
                <a:off x="19715" y="1492123"/>
                <a:ext cx="265680" cy="4459680"/>
              </a:xfrm>
              <a:prstGeom prst="rect">
                <a:avLst/>
              </a:prstGeom>
            </p:spPr>
          </p:pic>
        </mc:Fallback>
      </mc:AlternateContent>
    </p:spTree>
    <p:extLst>
      <p:ext uri="{BB962C8B-B14F-4D97-AF65-F5344CB8AC3E}">
        <p14:creationId xmlns:p14="http://schemas.microsoft.com/office/powerpoint/2010/main" val="4163415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Алгоритм операционного исследования</a:t>
            </a:r>
          </a:p>
        </p:txBody>
      </p:sp>
      <p:sp>
        <p:nvSpPr>
          <p:cNvPr id="13" name="TextBox 12"/>
          <p:cNvSpPr txBox="1"/>
          <p:nvPr/>
        </p:nvSpPr>
        <p:spPr>
          <a:xfrm>
            <a:off x="221241" y="1448729"/>
            <a:ext cx="10454051" cy="3785652"/>
          </a:xfrm>
          <a:prstGeom prst="rect">
            <a:avLst/>
          </a:prstGeom>
          <a:noFill/>
        </p:spPr>
        <p:txBody>
          <a:bodyPr wrap="square" rtlCol="0">
            <a:spAutoFit/>
          </a:bodyPr>
          <a:lstStyle/>
          <a:p>
            <a:r>
              <a:rPr lang="ru-RU" sz="1600" dirty="0"/>
              <a:t>Приведенный пример показывает особенность процесса </a:t>
            </a:r>
            <a:r>
              <a:rPr lang="ru-RU" sz="1600" dirty="0" err="1"/>
              <a:t>целевыявления</a:t>
            </a:r>
            <a:r>
              <a:rPr lang="ru-RU" sz="1600" dirty="0"/>
              <a:t> в реальных жизненных ситуациях. Для того, чтобы правильно определить цель некоторой операции, полезно проанализировать охватывающую ее операцию и т. д. При глубоком анализе проблемной ситуации истинная цель операции может оказаться далекой от той, которая виделась при поверхностном знакомстве. Эту мысль образно сформулировал один из генералов,</a:t>
            </a:r>
          </a:p>
          <a:p>
            <a:r>
              <a:rPr lang="ru-RU" sz="1600" dirty="0"/>
              <a:t>давая характеристику находящейся при его штабе группе ученых:</a:t>
            </a:r>
          </a:p>
          <a:p>
            <a:r>
              <a:rPr lang="ru-RU" sz="1600" dirty="0"/>
              <a:t>≪Эти парни не возьмут в руки паяльника, пока не разберутся в стратегии действий союзников на тихоокеанском театре военных действий≫.</a:t>
            </a:r>
          </a:p>
          <a:p>
            <a:r>
              <a:rPr lang="ru-RU" sz="1600" dirty="0"/>
              <a:t>После того, как поставлена цель, возможен принципиально важный переход от бесконечно сложного реального объекта к конечной </a:t>
            </a:r>
            <a:r>
              <a:rPr lang="ru-RU" sz="1600" i="1" dirty="0"/>
              <a:t>системе</a:t>
            </a:r>
            <a:r>
              <a:rPr lang="ru-RU" sz="1600" dirty="0"/>
              <a:t>. Поскольку всякий реальный объект обладает необозримым множеством составляющих частей и связан с внешним миром бесчисленным количеством связей, то для того, чтобы</a:t>
            </a:r>
          </a:p>
          <a:p>
            <a:r>
              <a:rPr lang="ru-RU" sz="1600" dirty="0"/>
              <a:t>иметь возможность исследовать его конечными методами, нужно выделить в объекте некоторое число самых главных, самых существенных </a:t>
            </a:r>
            <a:r>
              <a:rPr lang="ru-RU" sz="1600" i="1" dirty="0"/>
              <a:t>с точки зрения поставленной цели </a:t>
            </a:r>
            <a:r>
              <a:rPr lang="ru-RU" sz="1600" dirty="0"/>
              <a:t>элементов, свойств и отношений, отбросив все остальные как несущественные. Таким образом из реального мира вычленяется </a:t>
            </a:r>
            <a:r>
              <a:rPr lang="ru-RU" sz="1600" i="1" dirty="0"/>
              <a:t>система</a:t>
            </a:r>
            <a:r>
              <a:rPr lang="ru-RU" sz="1600" dirty="0"/>
              <a:t>, соответствующая цели операции; все остальное понимается как </a:t>
            </a:r>
            <a:r>
              <a:rPr lang="ru-RU" sz="1600" i="1" dirty="0"/>
              <a:t>окружающая среда</a:t>
            </a:r>
            <a:r>
              <a:rPr lang="ru-RU" sz="1600" dirty="0"/>
              <a:t>, взаимодействующая с системой через относительно небольшое число существенных связей (рис. 1.3, </a:t>
            </a:r>
            <a:r>
              <a:rPr lang="ru-RU" sz="1600" i="1" dirty="0"/>
              <a:t>a</a:t>
            </a:r>
            <a:r>
              <a:rPr lang="ru-RU" sz="1600" dirty="0"/>
              <a:t>).</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15170862-F5EF-814A-A13D-808D1A753C6E}"/>
                  </a:ext>
                </a:extLst>
              </p14:cNvPr>
              <p14:cNvContentPartPr/>
              <p14:nvPr/>
            </p14:nvContentPartPr>
            <p14:xfrm>
              <a:off x="179555" y="3267283"/>
              <a:ext cx="34200" cy="1096560"/>
            </p14:xfrm>
          </p:contentPart>
        </mc:Choice>
        <mc:Fallback xmlns="">
          <p:pic>
            <p:nvPicPr>
              <p:cNvPr id="4" name="Entrada de lápiz 3">
                <a:extLst>
                  <a:ext uri="{FF2B5EF4-FFF2-40B4-BE49-F238E27FC236}">
                    <a16:creationId xmlns:a16="http://schemas.microsoft.com/office/drawing/2014/main" id="{15170862-F5EF-814A-A13D-808D1A753C6E}"/>
                  </a:ext>
                </a:extLst>
              </p:cNvPr>
              <p:cNvPicPr/>
              <p:nvPr/>
            </p:nvPicPr>
            <p:blipFill>
              <a:blip r:embed="rId5"/>
              <a:stretch>
                <a:fillRect/>
              </a:stretch>
            </p:blipFill>
            <p:spPr>
              <a:xfrm>
                <a:off x="170555" y="3258283"/>
                <a:ext cx="51840" cy="111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Entrada de lápiz 4">
                <a:extLst>
                  <a:ext uri="{FF2B5EF4-FFF2-40B4-BE49-F238E27FC236}">
                    <a16:creationId xmlns:a16="http://schemas.microsoft.com/office/drawing/2014/main" id="{9463C921-E5B2-2B46-BA6D-0BBA20B6F178}"/>
                  </a:ext>
                </a:extLst>
              </p14:cNvPr>
              <p14:cNvContentPartPr/>
              <p14:nvPr/>
            </p14:nvContentPartPr>
            <p14:xfrm>
              <a:off x="213395" y="4363483"/>
              <a:ext cx="10440" cy="1022760"/>
            </p14:xfrm>
          </p:contentPart>
        </mc:Choice>
        <mc:Fallback xmlns="">
          <p:pic>
            <p:nvPicPr>
              <p:cNvPr id="5" name="Entrada de lápiz 4">
                <a:extLst>
                  <a:ext uri="{FF2B5EF4-FFF2-40B4-BE49-F238E27FC236}">
                    <a16:creationId xmlns:a16="http://schemas.microsoft.com/office/drawing/2014/main" id="{9463C921-E5B2-2B46-BA6D-0BBA20B6F178}"/>
                  </a:ext>
                </a:extLst>
              </p:cNvPr>
              <p:cNvPicPr/>
              <p:nvPr/>
            </p:nvPicPr>
            <p:blipFill>
              <a:blip r:embed="rId7"/>
              <a:stretch>
                <a:fillRect/>
              </a:stretch>
            </p:blipFill>
            <p:spPr>
              <a:xfrm>
                <a:off x="204755" y="4354843"/>
                <a:ext cx="28080" cy="1040400"/>
              </a:xfrm>
              <a:prstGeom prst="rect">
                <a:avLst/>
              </a:prstGeom>
            </p:spPr>
          </p:pic>
        </mc:Fallback>
      </mc:AlternateContent>
    </p:spTree>
    <p:extLst>
      <p:ext uri="{BB962C8B-B14F-4D97-AF65-F5344CB8AC3E}">
        <p14:creationId xmlns:p14="http://schemas.microsoft.com/office/powerpoint/2010/main" val="3447702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Алгоритм операционного исследования</a:t>
            </a:r>
          </a:p>
        </p:txBody>
      </p:sp>
      <p:sp>
        <p:nvSpPr>
          <p:cNvPr id="13" name="TextBox 12"/>
          <p:cNvSpPr txBox="1"/>
          <p:nvPr/>
        </p:nvSpPr>
        <p:spPr>
          <a:xfrm>
            <a:off x="221241" y="1448729"/>
            <a:ext cx="10454051" cy="4031873"/>
          </a:xfrm>
          <a:prstGeom prst="rect">
            <a:avLst/>
          </a:prstGeom>
          <a:noFill/>
        </p:spPr>
        <p:txBody>
          <a:bodyPr wrap="square" rtlCol="0">
            <a:spAutoFit/>
          </a:bodyPr>
          <a:lstStyle/>
          <a:p>
            <a:r>
              <a:rPr lang="ru-RU" sz="1600" dirty="0">
                <a:latin typeface="+mj-lt"/>
              </a:rPr>
              <a:t> </a:t>
            </a:r>
            <a:r>
              <a:rPr lang="ru-RU" sz="1600" dirty="0"/>
              <a:t>Определив существенные свойства и связи, можно переходить к следующему шагу: построению модели системы на уровне черного ящика (см. рис. 1.3, </a:t>
            </a:r>
            <a:r>
              <a:rPr lang="ru-RU" sz="1600" i="1" dirty="0"/>
              <a:t>б </a:t>
            </a:r>
            <a:r>
              <a:rPr lang="ru-RU" sz="1600" dirty="0"/>
              <a:t>). На этом уровне моделирования внешние связи системы делятся на две группы: входные </a:t>
            </a:r>
            <a:r>
              <a:rPr lang="ru-RU" sz="1600" i="1" dirty="0"/>
              <a:t>−→</a:t>
            </a:r>
            <a:r>
              <a:rPr lang="en-GB" sz="1600" i="1" dirty="0"/>
              <a:t>X,−→Y </a:t>
            </a:r>
            <a:r>
              <a:rPr lang="ru-RU" sz="1600" dirty="0"/>
              <a:t>и выходные</a:t>
            </a:r>
            <a:r>
              <a:rPr lang="en-GB" sz="1600" i="1" dirty="0"/>
              <a:t>−→Z </a:t>
            </a:r>
            <a:r>
              <a:rPr lang="en-GB" sz="1600" dirty="0"/>
              <a:t>. </a:t>
            </a:r>
            <a:r>
              <a:rPr lang="ru-RU" sz="1600" dirty="0"/>
              <a:t>По внешним связям в систему поступают воздействия (факторы), целиком определяющие ее поведение; выходные связи несут оперирующей стороне информацию о состоянии системы. Далее, входные факторы следует подразделить на два типа:</a:t>
            </a:r>
          </a:p>
          <a:p>
            <a:r>
              <a:rPr lang="ru-RU" sz="1600" i="1" dirty="0"/>
              <a:t>управляемые (контролируемые)</a:t>
            </a:r>
            <a:r>
              <a:rPr lang="en-GB" sz="1600" i="1" dirty="0"/>
              <a:t>−→X </a:t>
            </a:r>
            <a:r>
              <a:rPr lang="ru-RU" sz="1600" dirty="0"/>
              <a:t>и </a:t>
            </a:r>
            <a:r>
              <a:rPr lang="ru-RU" sz="1600" i="1" dirty="0"/>
              <a:t>неуправляемые (неконтролируемые)</a:t>
            </a:r>
            <a:r>
              <a:rPr lang="en-GB" sz="1600" i="1" dirty="0"/>
              <a:t>−→Y </a:t>
            </a:r>
            <a:r>
              <a:rPr lang="en-GB" sz="1600" dirty="0"/>
              <a:t>.</a:t>
            </a:r>
            <a:endParaRPr lang="ru-RU" sz="1600" dirty="0"/>
          </a:p>
          <a:p>
            <a:endParaRPr lang="ru-RU" sz="1600" dirty="0">
              <a:latin typeface="+mj-lt"/>
            </a:endParaRPr>
          </a:p>
          <a:p>
            <a:r>
              <a:rPr lang="ru-RU" sz="1600" dirty="0"/>
              <a:t>Контролируемые факторы находятся в руках </a:t>
            </a:r>
            <a:r>
              <a:rPr lang="ru-RU" sz="1600" i="1" dirty="0"/>
              <a:t>оперирующей стороны</a:t>
            </a:r>
            <a:r>
              <a:rPr lang="ru-RU" sz="1600" dirty="0"/>
              <a:t>, то есть субъекта, осуществляющего целенаправленное управление. Он реализует это управление, принимая </a:t>
            </a:r>
            <a:r>
              <a:rPr lang="ru-RU" sz="1600" i="1" dirty="0"/>
              <a:t>решение </a:t>
            </a:r>
            <a:r>
              <a:rPr lang="ru-RU" sz="1600" dirty="0"/>
              <a:t>о выборе тех или иных значений контролируемых факторов из </a:t>
            </a:r>
            <a:r>
              <a:rPr lang="ru-RU" sz="1600" i="1" dirty="0"/>
              <a:t>множества возможных значений</a:t>
            </a:r>
            <a:r>
              <a:rPr lang="ru-RU" sz="1600" dirty="0"/>
              <a:t>. Оперирующей стороной может быть </a:t>
            </a:r>
            <a:r>
              <a:rPr lang="ru-RU" sz="1600" i="1" dirty="0"/>
              <a:t>лицо, принимающее решение (ЛПР)</a:t>
            </a:r>
            <a:r>
              <a:rPr lang="ru-RU" sz="1600" dirty="0"/>
              <a:t>, если речь идет об индивидуальном управлении, либо группа лиц, когда решения</a:t>
            </a:r>
          </a:p>
          <a:p>
            <a:r>
              <a:rPr lang="ru-RU" sz="1600" dirty="0"/>
              <a:t>принимаются сообща. Множество допустимых решений может быть конечным или бесконечным в зависимости от специфики системы. Например, врачу может быть доступен лишь конечный набор методов лечения, а участник дуэли может выбрать момент выстрела на непрерывном отрезки времени.</a:t>
            </a:r>
          </a:p>
          <a:p>
            <a:endParaRPr lang="ru-RU" sz="1600" dirty="0">
              <a:latin typeface="+mj-lt"/>
            </a:endParaRPr>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grpSp>
        <p:nvGrpSpPr>
          <p:cNvPr id="11" name="Grupo 10">
            <a:extLst>
              <a:ext uri="{FF2B5EF4-FFF2-40B4-BE49-F238E27FC236}">
                <a16:creationId xmlns:a16="http://schemas.microsoft.com/office/drawing/2014/main" id="{C4FE609D-5F7F-864D-8746-1A3C1149DD87}"/>
              </a:ext>
            </a:extLst>
          </p:cNvPr>
          <p:cNvGrpSpPr/>
          <p:nvPr/>
        </p:nvGrpSpPr>
        <p:grpSpPr>
          <a:xfrm>
            <a:off x="202235" y="2821243"/>
            <a:ext cx="6858360" cy="217800"/>
            <a:chOff x="202235" y="2821243"/>
            <a:chExt cx="6858360" cy="217800"/>
          </a:xfrm>
        </p:grpSpPr>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5F43EA72-559E-5341-989B-B3D0D1AE9A4C}"/>
                    </a:ext>
                  </a:extLst>
                </p14:cNvPr>
                <p14:cNvContentPartPr/>
                <p14:nvPr/>
              </p14:nvContentPartPr>
              <p14:xfrm>
                <a:off x="202235" y="2821243"/>
                <a:ext cx="360" cy="191520"/>
              </p14:xfrm>
            </p:contentPart>
          </mc:Choice>
          <mc:Fallback xmlns="">
            <p:pic>
              <p:nvPicPr>
                <p:cNvPr id="4" name="Entrada de lápiz 3">
                  <a:extLst>
                    <a:ext uri="{FF2B5EF4-FFF2-40B4-BE49-F238E27FC236}">
                      <a16:creationId xmlns:a16="http://schemas.microsoft.com/office/drawing/2014/main" id="{5F43EA72-559E-5341-989B-B3D0D1AE9A4C}"/>
                    </a:ext>
                  </a:extLst>
                </p:cNvPr>
                <p:cNvPicPr/>
                <p:nvPr/>
              </p:nvPicPr>
              <p:blipFill>
                <a:blip r:embed="rId5"/>
                <a:stretch>
                  <a:fillRect/>
                </a:stretch>
              </p:blipFill>
              <p:spPr>
                <a:xfrm>
                  <a:off x="193595" y="2812603"/>
                  <a:ext cx="180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Entrada de lápiz 4">
                  <a:extLst>
                    <a:ext uri="{FF2B5EF4-FFF2-40B4-BE49-F238E27FC236}">
                      <a16:creationId xmlns:a16="http://schemas.microsoft.com/office/drawing/2014/main" id="{06F9FE69-2F48-0F40-B0E3-ECBE964FB569}"/>
                    </a:ext>
                  </a:extLst>
                </p14:cNvPr>
                <p14:cNvContentPartPr/>
                <p14:nvPr/>
              </p14:nvContentPartPr>
              <p14:xfrm>
                <a:off x="368555" y="2922403"/>
                <a:ext cx="2884680" cy="116640"/>
              </p14:xfrm>
            </p:contentPart>
          </mc:Choice>
          <mc:Fallback xmlns="">
            <p:pic>
              <p:nvPicPr>
                <p:cNvPr id="5" name="Entrada de lápiz 4">
                  <a:extLst>
                    <a:ext uri="{FF2B5EF4-FFF2-40B4-BE49-F238E27FC236}">
                      <a16:creationId xmlns:a16="http://schemas.microsoft.com/office/drawing/2014/main" id="{06F9FE69-2F48-0F40-B0E3-ECBE964FB569}"/>
                    </a:ext>
                  </a:extLst>
                </p:cNvPr>
                <p:cNvPicPr/>
                <p:nvPr/>
              </p:nvPicPr>
              <p:blipFill>
                <a:blip r:embed="rId7"/>
                <a:stretch>
                  <a:fillRect/>
                </a:stretch>
              </p:blipFill>
              <p:spPr>
                <a:xfrm>
                  <a:off x="359555" y="2913403"/>
                  <a:ext cx="2902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Entrada de lápiz 6">
                  <a:extLst>
                    <a:ext uri="{FF2B5EF4-FFF2-40B4-BE49-F238E27FC236}">
                      <a16:creationId xmlns:a16="http://schemas.microsoft.com/office/drawing/2014/main" id="{F6D27E39-796F-AF46-81EF-618DC983E62C}"/>
                    </a:ext>
                  </a:extLst>
                </p14:cNvPr>
                <p14:cNvContentPartPr/>
                <p14:nvPr/>
              </p14:nvContentPartPr>
              <p14:xfrm>
                <a:off x="3813035" y="2951923"/>
                <a:ext cx="2854440" cy="36360"/>
              </p14:xfrm>
            </p:contentPart>
          </mc:Choice>
          <mc:Fallback xmlns="">
            <p:pic>
              <p:nvPicPr>
                <p:cNvPr id="7" name="Entrada de lápiz 6">
                  <a:extLst>
                    <a:ext uri="{FF2B5EF4-FFF2-40B4-BE49-F238E27FC236}">
                      <a16:creationId xmlns:a16="http://schemas.microsoft.com/office/drawing/2014/main" id="{F6D27E39-796F-AF46-81EF-618DC983E62C}"/>
                    </a:ext>
                  </a:extLst>
                </p:cNvPr>
                <p:cNvPicPr/>
                <p:nvPr/>
              </p:nvPicPr>
              <p:blipFill>
                <a:blip r:embed="rId9"/>
                <a:stretch>
                  <a:fillRect/>
                </a:stretch>
              </p:blipFill>
              <p:spPr>
                <a:xfrm>
                  <a:off x="3804395" y="2942923"/>
                  <a:ext cx="28720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Entrada de lápiz 7">
                  <a:extLst>
                    <a:ext uri="{FF2B5EF4-FFF2-40B4-BE49-F238E27FC236}">
                      <a16:creationId xmlns:a16="http://schemas.microsoft.com/office/drawing/2014/main" id="{1FBDA6E4-BDF4-CE49-B4F2-3636C4B655C9}"/>
                    </a:ext>
                  </a:extLst>
                </p14:cNvPr>
                <p14:cNvContentPartPr/>
                <p14:nvPr/>
              </p14:nvContentPartPr>
              <p14:xfrm>
                <a:off x="6667115" y="2951203"/>
                <a:ext cx="393480" cy="10800"/>
              </p14:xfrm>
            </p:contentPart>
          </mc:Choice>
          <mc:Fallback xmlns="">
            <p:pic>
              <p:nvPicPr>
                <p:cNvPr id="8" name="Entrada de lápiz 7">
                  <a:extLst>
                    <a:ext uri="{FF2B5EF4-FFF2-40B4-BE49-F238E27FC236}">
                      <a16:creationId xmlns:a16="http://schemas.microsoft.com/office/drawing/2014/main" id="{1FBDA6E4-BDF4-CE49-B4F2-3636C4B655C9}"/>
                    </a:ext>
                  </a:extLst>
                </p:cNvPr>
                <p:cNvPicPr/>
                <p:nvPr/>
              </p:nvPicPr>
              <p:blipFill>
                <a:blip r:embed="rId11"/>
                <a:stretch>
                  <a:fillRect/>
                </a:stretch>
              </p:blipFill>
              <p:spPr>
                <a:xfrm>
                  <a:off x="6658115" y="2942563"/>
                  <a:ext cx="411120" cy="28440"/>
                </a:xfrm>
                <a:prstGeom prst="rect">
                  <a:avLst/>
                </a:prstGeom>
              </p:spPr>
            </p:pic>
          </mc:Fallback>
        </mc:AlternateContent>
      </p:grpSp>
      <p:grpSp>
        <p:nvGrpSpPr>
          <p:cNvPr id="17" name="Grupo 16">
            <a:extLst>
              <a:ext uri="{FF2B5EF4-FFF2-40B4-BE49-F238E27FC236}">
                <a16:creationId xmlns:a16="http://schemas.microsoft.com/office/drawing/2014/main" id="{C4946B68-DD09-C642-9648-6EA7E039C75B}"/>
              </a:ext>
            </a:extLst>
          </p:cNvPr>
          <p:cNvGrpSpPr/>
          <p:nvPr/>
        </p:nvGrpSpPr>
        <p:grpSpPr>
          <a:xfrm>
            <a:off x="2387075" y="4338461"/>
            <a:ext cx="7818480" cy="104400"/>
            <a:chOff x="2387075" y="4338461"/>
            <a:chExt cx="7818480" cy="104400"/>
          </a:xfrm>
        </p:grpSpPr>
        <mc:AlternateContent xmlns:mc="http://schemas.openxmlformats.org/markup-compatibility/2006" xmlns:p14="http://schemas.microsoft.com/office/powerpoint/2010/main">
          <mc:Choice Requires="p14">
            <p:contentPart p14:bwMode="auto" r:id="rId12">
              <p14:nvContentPartPr>
                <p14:cNvPr id="15" name="Entrada de lápiz 14">
                  <a:extLst>
                    <a:ext uri="{FF2B5EF4-FFF2-40B4-BE49-F238E27FC236}">
                      <a16:creationId xmlns:a16="http://schemas.microsoft.com/office/drawing/2014/main" id="{B0B22946-7019-8142-925B-10D5726053BF}"/>
                    </a:ext>
                  </a:extLst>
                </p14:cNvPr>
                <p14:cNvContentPartPr/>
                <p14:nvPr/>
              </p14:nvContentPartPr>
              <p14:xfrm>
                <a:off x="2387075" y="4403261"/>
                <a:ext cx="4505040" cy="39600"/>
              </p14:xfrm>
            </p:contentPart>
          </mc:Choice>
          <mc:Fallback xmlns="">
            <p:pic>
              <p:nvPicPr>
                <p:cNvPr id="15" name="Entrada de lápiz 14">
                  <a:extLst>
                    <a:ext uri="{FF2B5EF4-FFF2-40B4-BE49-F238E27FC236}">
                      <a16:creationId xmlns:a16="http://schemas.microsoft.com/office/drawing/2014/main" id="{B0B22946-7019-8142-925B-10D5726053BF}"/>
                    </a:ext>
                  </a:extLst>
                </p:cNvPr>
                <p:cNvPicPr/>
                <p:nvPr/>
              </p:nvPicPr>
              <p:blipFill>
                <a:blip r:embed="rId13"/>
                <a:stretch>
                  <a:fillRect/>
                </a:stretch>
              </p:blipFill>
              <p:spPr>
                <a:xfrm>
                  <a:off x="2378075" y="4394621"/>
                  <a:ext cx="45226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Entrada de lápiz 15">
                  <a:extLst>
                    <a:ext uri="{FF2B5EF4-FFF2-40B4-BE49-F238E27FC236}">
                      <a16:creationId xmlns:a16="http://schemas.microsoft.com/office/drawing/2014/main" id="{C2190EDB-7EC6-FE46-BCC1-534893849661}"/>
                    </a:ext>
                  </a:extLst>
                </p14:cNvPr>
                <p14:cNvContentPartPr/>
                <p14:nvPr/>
              </p14:nvContentPartPr>
              <p14:xfrm>
                <a:off x="6894275" y="4338461"/>
                <a:ext cx="3311280" cy="96120"/>
              </p14:xfrm>
            </p:contentPart>
          </mc:Choice>
          <mc:Fallback xmlns="">
            <p:pic>
              <p:nvPicPr>
                <p:cNvPr id="16" name="Entrada de lápiz 15">
                  <a:extLst>
                    <a:ext uri="{FF2B5EF4-FFF2-40B4-BE49-F238E27FC236}">
                      <a16:creationId xmlns:a16="http://schemas.microsoft.com/office/drawing/2014/main" id="{C2190EDB-7EC6-FE46-BCC1-534893849661}"/>
                    </a:ext>
                  </a:extLst>
                </p:cNvPr>
                <p:cNvPicPr/>
                <p:nvPr/>
              </p:nvPicPr>
              <p:blipFill>
                <a:blip r:embed="rId15"/>
                <a:stretch>
                  <a:fillRect/>
                </a:stretch>
              </p:blipFill>
              <p:spPr>
                <a:xfrm>
                  <a:off x="6885635" y="4329461"/>
                  <a:ext cx="3328920" cy="113760"/>
                </a:xfrm>
                <a:prstGeom prst="rect">
                  <a:avLst/>
                </a:prstGeom>
              </p:spPr>
            </p:pic>
          </mc:Fallback>
        </mc:AlternateContent>
      </p:grpSp>
    </p:spTree>
    <p:extLst>
      <p:ext uri="{BB962C8B-B14F-4D97-AF65-F5344CB8AC3E}">
        <p14:creationId xmlns:p14="http://schemas.microsoft.com/office/powerpoint/2010/main" val="3960956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Алгоритм операционного исследования</a:t>
            </a:r>
          </a:p>
        </p:txBody>
      </p:sp>
      <p:sp>
        <p:nvSpPr>
          <p:cNvPr id="13" name="TextBox 12"/>
          <p:cNvSpPr txBox="1"/>
          <p:nvPr/>
        </p:nvSpPr>
        <p:spPr>
          <a:xfrm>
            <a:off x="221241" y="1448729"/>
            <a:ext cx="10454051" cy="2800767"/>
          </a:xfrm>
          <a:prstGeom prst="rect">
            <a:avLst/>
          </a:prstGeom>
          <a:noFill/>
        </p:spPr>
        <p:txBody>
          <a:bodyPr wrap="square" rtlCol="0">
            <a:spAutoFit/>
          </a:bodyPr>
          <a:lstStyle/>
          <a:p>
            <a:r>
              <a:rPr lang="ru-RU" sz="1600" dirty="0"/>
              <a:t>Неконтролируемые факторы являются </a:t>
            </a:r>
            <a:r>
              <a:rPr lang="ru-RU" sz="1600" dirty="0" err="1"/>
              <a:t>неуправляеми</a:t>
            </a:r>
            <a:r>
              <a:rPr lang="ru-RU" sz="1600" dirty="0"/>
              <a:t> со стороны субъекта, принимающего решения. Более того, он даже может не знать, какие значения они примут в действительности. Такая неопределенность является характерной для сложных систем: ведь система является сложной именно тогда, когда результат управления в значительной мере непредсказуем, и принимать решения приходится в условиях неопределенности, вызванной </a:t>
            </a:r>
            <a:r>
              <a:rPr lang="ru-RU" sz="1600" dirty="0" err="1"/>
              <a:t>не-</a:t>
            </a:r>
            <a:endParaRPr lang="ru-RU" sz="1600" dirty="0"/>
          </a:p>
          <a:p>
            <a:r>
              <a:rPr lang="ru-RU" sz="1600" dirty="0"/>
              <a:t>знанием существенных неконтролируемых факторов. Классификацию типов неопределенностей и связанных с ними подходов к выбору решений мы рассмотрим чуть позже, а сейчас обратимся к выходным связям системы.</a:t>
            </a:r>
          </a:p>
          <a:p>
            <a:r>
              <a:rPr lang="ru-RU" sz="1600" dirty="0"/>
              <a:t>Поскольку на данном уровне моделирования система представляется ≪черным ящиком≫, то состояние системы, ее реакцию на управление можно получить только по наблюдениям выходов </a:t>
            </a:r>
            <a:r>
              <a:rPr lang="en-GB" sz="1600" i="1" dirty="0"/>
              <a:t>−→Z </a:t>
            </a:r>
            <a:r>
              <a:rPr lang="en-GB" sz="1600" dirty="0"/>
              <a:t>. </a:t>
            </a:r>
            <a:r>
              <a:rPr lang="ru-RU" sz="1600" dirty="0"/>
              <a:t>Зависимость </a:t>
            </a:r>
            <a:r>
              <a:rPr lang="en-GB" sz="1600" i="1" dirty="0"/>
              <a:t>−→Z </a:t>
            </a:r>
            <a:r>
              <a:rPr lang="en-GB" sz="1600" dirty="0"/>
              <a:t>= </a:t>
            </a:r>
            <a:r>
              <a:rPr lang="en-GB" sz="1600" i="1" dirty="0"/>
              <a:t>f</a:t>
            </a:r>
            <a:r>
              <a:rPr lang="en-GB" sz="1600" dirty="0"/>
              <a:t>(</a:t>
            </a:r>
            <a:r>
              <a:rPr lang="ru-RU" sz="1600" i="1" dirty="0"/>
              <a:t>−→</a:t>
            </a:r>
            <a:r>
              <a:rPr lang="en-GB" sz="1600" i="1" dirty="0"/>
              <a:t>X,−→Y </a:t>
            </a:r>
            <a:r>
              <a:rPr lang="en-GB" sz="1600" dirty="0"/>
              <a:t>) </a:t>
            </a:r>
            <a:r>
              <a:rPr lang="ru-RU" sz="1600" dirty="0"/>
              <a:t>представляет собой модель системы на макроскопическом уровне.</a:t>
            </a:r>
          </a:p>
          <a:p>
            <a:endParaRPr lang="ru-RU" sz="1600" dirty="0"/>
          </a:p>
          <a:p>
            <a:r>
              <a:rPr lang="ru-RU" sz="1600" dirty="0"/>
              <a:t>Каким образом может быть найдена эта зависимость? Здесь можно идти двумя путями.</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1838679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Типовые математические модели (1)</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3" name="CuadroTexto 2">
            <a:extLst>
              <a:ext uri="{FF2B5EF4-FFF2-40B4-BE49-F238E27FC236}">
                <a16:creationId xmlns:a16="http://schemas.microsoft.com/office/drawing/2014/main" id="{E45D873E-5349-8B4C-94F2-79D26E1BBA25}"/>
              </a:ext>
            </a:extLst>
          </p:cNvPr>
          <p:cNvSpPr txBox="1"/>
          <p:nvPr/>
        </p:nvSpPr>
        <p:spPr>
          <a:xfrm>
            <a:off x="1532608" y="929519"/>
            <a:ext cx="10535346" cy="3970318"/>
          </a:xfrm>
          <a:prstGeom prst="rect">
            <a:avLst/>
          </a:prstGeom>
          <a:noFill/>
        </p:spPr>
        <p:txBody>
          <a:bodyPr wrap="square" rtlCol="0">
            <a:spAutoFit/>
          </a:bodyPr>
          <a:lstStyle/>
          <a:p>
            <a:r>
              <a:rPr lang="ru-RU" dirty="0"/>
              <a:t>Несмотря на то, что реальных объектов великое множество и все они неповторимы, </a:t>
            </a:r>
          </a:p>
          <a:p>
            <a:r>
              <a:rPr lang="ru-RU" dirty="0"/>
              <a:t>в исследовании операций сформировался ряд хорошо изученных и проверенных на практике типовых</a:t>
            </a:r>
          </a:p>
          <a:p>
            <a:r>
              <a:rPr lang="ru-RU" dirty="0"/>
              <a:t>математических моделей систем. Вот только некоторые из них.</a:t>
            </a:r>
          </a:p>
          <a:p>
            <a:endParaRPr lang="ru-RU" dirty="0"/>
          </a:p>
          <a:p>
            <a:r>
              <a:rPr lang="ru-RU" i="1" dirty="0"/>
              <a:t>Распределение ресурсов. </a:t>
            </a:r>
            <a:r>
              <a:rPr lang="ru-RU" dirty="0"/>
              <a:t>Проблема распределения ресурсов возникает, </a:t>
            </a:r>
          </a:p>
          <a:p>
            <a:r>
              <a:rPr lang="ru-RU" dirty="0"/>
              <a:t>когда существует ряд видов деятельности, требующих для своего выполнения некоторых материальных </a:t>
            </a:r>
          </a:p>
          <a:p>
            <a:r>
              <a:rPr lang="ru-RU" dirty="0"/>
              <a:t>или финансовых ресурсов. Типичными примерами таких операций являются управление инвестициями, </a:t>
            </a:r>
          </a:p>
          <a:p>
            <a:r>
              <a:rPr lang="ru-RU" dirty="0"/>
              <a:t>производственное планирование, перевозка товаров и т. д. Управляемыми факторами являются объемы </a:t>
            </a:r>
          </a:p>
          <a:p>
            <a:r>
              <a:rPr lang="ru-RU" dirty="0"/>
              <a:t>выделяемых ресурсов по видам деятельности, неуправляемыми — общие объемы доступных ресурсов </a:t>
            </a:r>
          </a:p>
          <a:p>
            <a:r>
              <a:rPr lang="ru-RU" dirty="0"/>
              <a:t>и показатели эффективности их использования в видах деятельности, выходными — суммарная прибыль </a:t>
            </a:r>
          </a:p>
          <a:p>
            <a:r>
              <a:rPr lang="ru-RU" dirty="0"/>
              <a:t>или затраты. Модели распределительных операций строятся с помощью линейного, нелинейного </a:t>
            </a:r>
          </a:p>
          <a:p>
            <a:r>
              <a:rPr lang="ru-RU" dirty="0"/>
              <a:t>и динамического программирования.</a:t>
            </a:r>
          </a:p>
          <a:p>
            <a:endParaRPr lang="ru-RU" dirty="0"/>
          </a:p>
          <a:p>
            <a:endParaRPr lang="es-RU" dirty="0"/>
          </a:p>
        </p:txBody>
      </p:sp>
    </p:spTree>
    <p:extLst>
      <p:ext uri="{BB962C8B-B14F-4D97-AF65-F5344CB8AC3E}">
        <p14:creationId xmlns:p14="http://schemas.microsoft.com/office/powerpoint/2010/main" val="1195130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Типовые математические модели (2)</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3" name="CuadroTexto 2">
            <a:extLst>
              <a:ext uri="{FF2B5EF4-FFF2-40B4-BE49-F238E27FC236}">
                <a16:creationId xmlns:a16="http://schemas.microsoft.com/office/drawing/2014/main" id="{E45D873E-5349-8B4C-94F2-79D26E1BBA25}"/>
              </a:ext>
            </a:extLst>
          </p:cNvPr>
          <p:cNvSpPr txBox="1"/>
          <p:nvPr/>
        </p:nvSpPr>
        <p:spPr>
          <a:xfrm>
            <a:off x="1532608" y="929519"/>
            <a:ext cx="10535346" cy="2862322"/>
          </a:xfrm>
          <a:prstGeom prst="rect">
            <a:avLst/>
          </a:prstGeom>
          <a:noFill/>
        </p:spPr>
        <p:txBody>
          <a:bodyPr wrap="square" rtlCol="0">
            <a:spAutoFit/>
          </a:bodyPr>
          <a:lstStyle/>
          <a:p>
            <a:r>
              <a:rPr lang="ru-RU" i="1" dirty="0"/>
              <a:t>Управление проектами. </a:t>
            </a:r>
            <a:r>
              <a:rPr lang="ru-RU" dirty="0"/>
              <a:t>Под проектом понимается любой комплекс связанных между собой работ. Каждая работа требует определенных ресурсов (материальных, временных, трудовых, финансовых) и может быть начата только после того, как выполнены технологически предшествующие ей работы. </a:t>
            </a:r>
          </a:p>
          <a:p>
            <a:endParaRPr lang="ru-RU" dirty="0"/>
          </a:p>
          <a:p>
            <a:r>
              <a:rPr lang="ru-RU" dirty="0"/>
              <a:t>Типичные примеры проектов — строительство сооружения, разработка компьютерной программы, создание сложного изделия. Управление проектом заключается в календарном планировании проекта при заданных внешних условиях — длительности и стоимости отдельных работ, доступном объеме ресурсов и т. п., в качестве выходных выступают обычно глобальные характеристики проекта — время исполнения и стоимость. Модели управления проектами основаны на математическом аппарате теории графов, линейного программирования, математической статистики.</a:t>
            </a:r>
          </a:p>
        </p:txBody>
      </p:sp>
    </p:spTree>
    <p:extLst>
      <p:ext uri="{BB962C8B-B14F-4D97-AF65-F5344CB8AC3E}">
        <p14:creationId xmlns:p14="http://schemas.microsoft.com/office/powerpoint/2010/main" val="221234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Типовые математические модели (3)</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3" name="CuadroTexto 2">
            <a:extLst>
              <a:ext uri="{FF2B5EF4-FFF2-40B4-BE49-F238E27FC236}">
                <a16:creationId xmlns:a16="http://schemas.microsoft.com/office/drawing/2014/main" id="{E45D873E-5349-8B4C-94F2-79D26E1BBA25}"/>
              </a:ext>
            </a:extLst>
          </p:cNvPr>
          <p:cNvSpPr txBox="1"/>
          <p:nvPr/>
        </p:nvSpPr>
        <p:spPr>
          <a:xfrm>
            <a:off x="1532608" y="929519"/>
            <a:ext cx="10535346" cy="3139321"/>
          </a:xfrm>
          <a:prstGeom prst="rect">
            <a:avLst/>
          </a:prstGeom>
          <a:noFill/>
        </p:spPr>
        <p:txBody>
          <a:bodyPr wrap="square" rtlCol="0">
            <a:spAutoFit/>
          </a:bodyPr>
          <a:lstStyle/>
          <a:p>
            <a:r>
              <a:rPr lang="ru-RU" dirty="0"/>
              <a:t> </a:t>
            </a:r>
            <a:r>
              <a:rPr lang="ru-RU" i="1" dirty="0"/>
              <a:t>Массовое обслуживание. </a:t>
            </a:r>
            <a:r>
              <a:rPr lang="ru-RU" dirty="0"/>
              <a:t>Системы массового обслуживания моделируют ситуации, когда случайный поток объектов (клиентов, требований, вызовов) обрабатывается некоторыми обслуживающими устройствами. При этом возможны очереди и отказы в обслуживании из-за ограниченности числа устройств и их производительности. Классическим примером является обработка вызовов приборами телефонной станции, похожие ситуации возникают при обслуживании потока покупателей в магазинах, потока пассажиров на транспорте, потока прерываний процессором компьютера и т. п. Управляемыми факторами могут являться количество устройств, дисциплина обслуживания, неуправляемыми — интенсивность потока заявок и время обслуживания, выходными — вероятность отказа в обслуживании, среднее время ожидания в очереди или ее длина и т. п. Модели массового обслуживания в силу случайности исследуемых процессов широко используют математический аппарат теории вероятностей и математической статистики.</a:t>
            </a:r>
          </a:p>
        </p:txBody>
      </p:sp>
    </p:spTree>
    <p:extLst>
      <p:ext uri="{BB962C8B-B14F-4D97-AF65-F5344CB8AC3E}">
        <p14:creationId xmlns:p14="http://schemas.microsoft.com/office/powerpoint/2010/main" val="3897953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Типовые математические модели (4)</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3" name="CuadroTexto 2">
            <a:extLst>
              <a:ext uri="{FF2B5EF4-FFF2-40B4-BE49-F238E27FC236}">
                <a16:creationId xmlns:a16="http://schemas.microsoft.com/office/drawing/2014/main" id="{E45D873E-5349-8B4C-94F2-79D26E1BBA25}"/>
              </a:ext>
            </a:extLst>
          </p:cNvPr>
          <p:cNvSpPr txBox="1"/>
          <p:nvPr/>
        </p:nvSpPr>
        <p:spPr>
          <a:xfrm>
            <a:off x="1532608" y="929519"/>
            <a:ext cx="10535346" cy="2031325"/>
          </a:xfrm>
          <a:prstGeom prst="rect">
            <a:avLst/>
          </a:prstGeom>
          <a:noFill/>
        </p:spPr>
        <p:txBody>
          <a:bodyPr wrap="square" rtlCol="0">
            <a:spAutoFit/>
          </a:bodyPr>
          <a:lstStyle/>
          <a:p>
            <a:r>
              <a:rPr lang="ru-RU" i="1" dirty="0"/>
              <a:t>Управление запасами. </a:t>
            </a:r>
            <a:r>
              <a:rPr lang="ru-RU" dirty="0"/>
              <a:t>Управление запасами составляет существенную часть деятельности, которая получила название </a:t>
            </a:r>
            <a:r>
              <a:rPr lang="ru-RU" i="1" dirty="0"/>
              <a:t>логистики</a:t>
            </a:r>
            <a:r>
              <a:rPr lang="ru-RU" dirty="0"/>
              <a:t>. Они являются типичными для любого производстве и торговли. Соответствующие математические модели управления запасами создаются для обоснования решений по определению момента и объема заказа товаров с учетом множества неконтролируемых факторов: интенсивности спроса, задержек с поставкой, стоимости хранения, естественной убыли и порчи при хранении, убытков от дефицита и т. п. В качестве существенных выходных факторов могут выступать издержки, связанные с созданием и хранением запасов.</a:t>
            </a:r>
          </a:p>
        </p:txBody>
      </p:sp>
    </p:spTree>
    <p:extLst>
      <p:ext uri="{BB962C8B-B14F-4D97-AF65-F5344CB8AC3E}">
        <p14:creationId xmlns:p14="http://schemas.microsoft.com/office/powerpoint/2010/main" val="1206239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Имитационное моделирование</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7" name="TextBox 12">
            <a:extLst>
              <a:ext uri="{FF2B5EF4-FFF2-40B4-BE49-F238E27FC236}">
                <a16:creationId xmlns:a16="http://schemas.microsoft.com/office/drawing/2014/main" id="{57D93266-E487-4448-A376-9248287636A2}"/>
              </a:ext>
            </a:extLst>
          </p:cNvPr>
          <p:cNvSpPr txBox="1"/>
          <p:nvPr/>
        </p:nvSpPr>
        <p:spPr>
          <a:xfrm>
            <a:off x="1589345" y="970969"/>
            <a:ext cx="7840538" cy="3416320"/>
          </a:xfrm>
          <a:prstGeom prst="rect">
            <a:avLst/>
          </a:prstGeom>
          <a:noFill/>
        </p:spPr>
        <p:txBody>
          <a:bodyPr wrap="square" rtlCol="0">
            <a:spAutoFit/>
          </a:bodyPr>
          <a:lstStyle/>
          <a:p>
            <a:r>
              <a:rPr lang="ru-RU" dirty="0"/>
              <a:t>Переход от модели системы можно перейти к </a:t>
            </a:r>
            <a:r>
              <a:rPr lang="ru-RU" i="1" dirty="0"/>
              <a:t>модели операции</a:t>
            </a:r>
          </a:p>
          <a:p>
            <a:endParaRPr lang="ru-RU" i="1" dirty="0"/>
          </a:p>
          <a:p>
            <a:endParaRPr lang="ru-RU" i="1" dirty="0"/>
          </a:p>
          <a:p>
            <a:r>
              <a:rPr lang="ru-RU" dirty="0"/>
              <a:t>Для оперирующей стороны состояния выходов неравноценны: одни из них предпочтительнее других</a:t>
            </a:r>
          </a:p>
          <a:p>
            <a:endParaRPr lang="ru-RU" dirty="0"/>
          </a:p>
          <a:p>
            <a:r>
              <a:rPr lang="ru-RU" dirty="0"/>
              <a:t>Целевая функция (</a:t>
            </a:r>
            <a:r>
              <a:rPr lang="ru-RU" dirty="0" err="1"/>
              <a:t>критериальная</a:t>
            </a:r>
            <a:r>
              <a:rPr lang="ru-RU" dirty="0"/>
              <a:t>)</a:t>
            </a:r>
          </a:p>
          <a:p>
            <a:endParaRPr lang="ru-RU" dirty="0"/>
          </a:p>
          <a:p>
            <a:r>
              <a:rPr lang="ru-RU" dirty="0"/>
              <a:t>Исход </a:t>
            </a:r>
            <a:r>
              <a:rPr lang="en-US" dirty="0"/>
              <a:t>Z</a:t>
            </a:r>
            <a:r>
              <a:rPr lang="en-US" baseline="-25000" dirty="0"/>
              <a:t>1</a:t>
            </a:r>
            <a:r>
              <a:rPr lang="en-US" dirty="0"/>
              <a:t> </a:t>
            </a:r>
            <a:r>
              <a:rPr lang="ru-RU" dirty="0"/>
              <a:t>предпочтительнее или равноценен исходу </a:t>
            </a:r>
            <a:r>
              <a:rPr lang="en-US" dirty="0"/>
              <a:t>Z</a:t>
            </a:r>
            <a:r>
              <a:rPr lang="en-US" baseline="-25000" dirty="0"/>
              <a:t>2</a:t>
            </a:r>
            <a:r>
              <a:rPr lang="en-US" dirty="0"/>
              <a:t> </a:t>
            </a:r>
            <a:r>
              <a:rPr lang="ru-RU" dirty="0"/>
              <a:t>тогда и только тогда:</a:t>
            </a:r>
          </a:p>
          <a:p>
            <a:endParaRPr lang="ru-RU" dirty="0"/>
          </a:p>
          <a:p>
            <a:endParaRPr lang="ru-RU" dirty="0">
              <a:latin typeface="+mj-lt"/>
            </a:endParaRPr>
          </a:p>
          <a:p>
            <a:endParaRPr lang="ru-RU" dirty="0">
              <a:latin typeface="+mj-lt"/>
            </a:endParaRPr>
          </a:p>
        </p:txBody>
      </p:sp>
      <p:pic>
        <p:nvPicPr>
          <p:cNvPr id="9" name="Picture 4">
            <a:extLst>
              <a:ext uri="{FF2B5EF4-FFF2-40B4-BE49-F238E27FC236}">
                <a16:creationId xmlns:a16="http://schemas.microsoft.com/office/drawing/2014/main" id="{DB8E710A-3B76-1345-B7D0-093CBDF26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0" y="1322687"/>
            <a:ext cx="1809750" cy="43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a:extLst>
              <a:ext uri="{FF2B5EF4-FFF2-40B4-BE49-F238E27FC236}">
                <a16:creationId xmlns:a16="http://schemas.microsoft.com/office/drawing/2014/main" id="{90AB2F2B-4FE1-9F45-B9BA-5658579386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9656" y="2602072"/>
            <a:ext cx="685800"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FCBBEBE4-421A-884B-ABD8-003C94099E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1958" y="3489918"/>
            <a:ext cx="181927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a:extLst>
              <a:ext uri="{FF2B5EF4-FFF2-40B4-BE49-F238E27FC236}">
                <a16:creationId xmlns:a16="http://schemas.microsoft.com/office/drawing/2014/main" id="{DB590D37-A26F-9C4C-9970-B87654C371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4791" y="3526831"/>
            <a:ext cx="11049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a:extLst>
              <a:ext uri="{FF2B5EF4-FFF2-40B4-BE49-F238E27FC236}">
                <a16:creationId xmlns:a16="http://schemas.microsoft.com/office/drawing/2014/main" id="{24B1AC8F-6DFD-6243-9F58-84064FE80D31}"/>
              </a:ext>
            </a:extLst>
          </p:cNvPr>
          <p:cNvSpPr txBox="1"/>
          <p:nvPr/>
        </p:nvSpPr>
        <p:spPr>
          <a:xfrm>
            <a:off x="1589345" y="3927824"/>
            <a:ext cx="7840538" cy="2031325"/>
          </a:xfrm>
          <a:prstGeom prst="rect">
            <a:avLst/>
          </a:prstGeom>
          <a:noFill/>
        </p:spPr>
        <p:txBody>
          <a:bodyPr wrap="square" rtlCol="0">
            <a:spAutoFit/>
          </a:bodyPr>
          <a:lstStyle/>
          <a:p>
            <a:r>
              <a:rPr lang="ru-RU" dirty="0">
                <a:latin typeface="+mj-lt"/>
              </a:rPr>
              <a:t>Поиск максимума </a:t>
            </a:r>
            <a:r>
              <a:rPr lang="en-US" dirty="0">
                <a:latin typeface="+mj-lt"/>
              </a:rPr>
              <a:t>(</a:t>
            </a:r>
            <a:r>
              <a:rPr lang="ru-RU" dirty="0">
                <a:latin typeface="+mj-lt"/>
              </a:rPr>
              <a:t>минимума) целевой функции</a:t>
            </a:r>
          </a:p>
          <a:p>
            <a:endParaRPr lang="ru-RU" dirty="0">
              <a:latin typeface="+mj-lt"/>
            </a:endParaRPr>
          </a:p>
          <a:p>
            <a:endParaRPr lang="ru-RU" dirty="0">
              <a:latin typeface="+mj-lt"/>
            </a:endParaRPr>
          </a:p>
          <a:p>
            <a:endParaRPr lang="ru-RU" dirty="0">
              <a:latin typeface="+mj-lt"/>
            </a:endParaRPr>
          </a:p>
          <a:p>
            <a:r>
              <a:rPr lang="ru-RU" dirty="0">
                <a:latin typeface="+mj-lt"/>
              </a:rPr>
              <a:t>Проверка решения на разумность</a:t>
            </a:r>
          </a:p>
          <a:p>
            <a:endParaRPr lang="ru-RU" dirty="0">
              <a:latin typeface="+mj-lt"/>
            </a:endParaRPr>
          </a:p>
          <a:p>
            <a:r>
              <a:rPr lang="ru-RU" dirty="0">
                <a:latin typeface="+mj-lt"/>
              </a:rPr>
              <a:t>Корректировка цели и модели</a:t>
            </a:r>
          </a:p>
        </p:txBody>
      </p:sp>
      <p:pic>
        <p:nvPicPr>
          <p:cNvPr id="14" name="Picture 2">
            <a:extLst>
              <a:ext uri="{FF2B5EF4-FFF2-40B4-BE49-F238E27FC236}">
                <a16:creationId xmlns:a16="http://schemas.microsoft.com/office/drawing/2014/main" id="{B03AB7B6-B8AD-A347-84A7-8E131FFD02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4317456"/>
            <a:ext cx="39814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5612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Классификация методов оптимизации</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7" name="TextBox 12">
            <a:extLst>
              <a:ext uri="{FF2B5EF4-FFF2-40B4-BE49-F238E27FC236}">
                <a16:creationId xmlns:a16="http://schemas.microsoft.com/office/drawing/2014/main" id="{583CBA5D-B725-2442-BEDC-AF2851E71E43}"/>
              </a:ext>
            </a:extLst>
          </p:cNvPr>
          <p:cNvSpPr txBox="1"/>
          <p:nvPr/>
        </p:nvSpPr>
        <p:spPr>
          <a:xfrm>
            <a:off x="8377428" y="3797283"/>
            <a:ext cx="1829827" cy="369332"/>
          </a:xfrm>
          <a:prstGeom prst="rect">
            <a:avLst/>
          </a:prstGeom>
          <a:noFill/>
        </p:spPr>
        <p:txBody>
          <a:bodyPr wrap="square" rtlCol="0">
            <a:spAutoFit/>
          </a:bodyPr>
          <a:lstStyle/>
          <a:p>
            <a:r>
              <a:rPr lang="ru-RU" dirty="0">
                <a:latin typeface="+mj-lt"/>
              </a:rPr>
              <a:t>Теория игр</a:t>
            </a:r>
          </a:p>
        </p:txBody>
      </p:sp>
      <p:pic>
        <p:nvPicPr>
          <p:cNvPr id="9" name="Picture 2">
            <a:extLst>
              <a:ext uri="{FF2B5EF4-FFF2-40B4-BE49-F238E27FC236}">
                <a16:creationId xmlns:a16="http://schemas.microsoft.com/office/drawing/2014/main" id="{0B4838F2-7D0A-F245-A44D-EF9FBD8C0D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71" y="929518"/>
            <a:ext cx="8817733" cy="2900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a:extLst>
              <a:ext uri="{FF2B5EF4-FFF2-40B4-BE49-F238E27FC236}">
                <a16:creationId xmlns:a16="http://schemas.microsoft.com/office/drawing/2014/main" id="{007575EF-192C-764C-8196-0513350F66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5671" y="3782476"/>
            <a:ext cx="1403228" cy="439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BC1EB926-DBA7-164B-A1DB-EC0855AA61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9328" y="3782476"/>
            <a:ext cx="1554593" cy="342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a:extLst>
              <a:ext uri="{FF2B5EF4-FFF2-40B4-BE49-F238E27FC236}">
                <a16:creationId xmlns:a16="http://schemas.microsoft.com/office/drawing/2014/main" id="{5771DCA0-BFDD-E840-92AE-BEB31267E9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4045" y="4374855"/>
            <a:ext cx="10707954" cy="10904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963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Классификация методов оптимизации</a:t>
            </a:r>
          </a:p>
        </p:txBody>
      </p:sp>
      <p:sp>
        <p:nvSpPr>
          <p:cNvPr id="13" name="TextBox 12"/>
          <p:cNvSpPr txBox="1"/>
          <p:nvPr/>
        </p:nvSpPr>
        <p:spPr>
          <a:xfrm>
            <a:off x="221241" y="1448728"/>
            <a:ext cx="10454051" cy="4031873"/>
          </a:xfrm>
          <a:prstGeom prst="rect">
            <a:avLst/>
          </a:prstGeom>
          <a:noFill/>
        </p:spPr>
        <p:txBody>
          <a:bodyPr wrap="square" rtlCol="0">
            <a:spAutoFit/>
          </a:bodyPr>
          <a:lstStyle/>
          <a:p>
            <a:r>
              <a:rPr lang="ru-RU" sz="1600" dirty="0"/>
              <a:t>Задачи и математические методы нахождения оптимальных решений можно классифицировать по виду неконтролируемых Факторов </a:t>
            </a:r>
            <a:r>
              <a:rPr lang="en-GB" sz="1600" i="1" dirty="0"/>
              <a:t>−→Y </a:t>
            </a:r>
            <a:r>
              <a:rPr lang="en-GB" sz="1600" dirty="0"/>
              <a:t>(</a:t>
            </a:r>
            <a:r>
              <a:rPr lang="ru-RU" sz="1600" dirty="0"/>
              <a:t>рис. 1.4).</a:t>
            </a:r>
          </a:p>
          <a:p>
            <a:r>
              <a:rPr lang="ru-RU" sz="1600" dirty="0"/>
              <a:t>В наиболее простом, вырожденном, случае неконтролируемые факторы известны оперирующей стороне, с математической точки зрения это равносильно тому, что их нет вообще. В этом случае мы имеем задачу принятия оптимальных решений </a:t>
            </a:r>
            <a:r>
              <a:rPr lang="ru-RU" sz="1600" i="1" dirty="0"/>
              <a:t>при определенности.</a:t>
            </a:r>
          </a:p>
          <a:p>
            <a:r>
              <a:rPr lang="ru-RU" sz="1600" dirty="0"/>
              <a:t>Обычно предполагается, что целевая функция (</a:t>
            </a:r>
            <a:r>
              <a:rPr lang="ru-RU" sz="1600" dirty="0" err="1"/>
              <a:t>критериальная</a:t>
            </a:r>
            <a:r>
              <a:rPr lang="ru-RU" sz="1600" dirty="0"/>
              <a:t> функция, критерий) единственна, поэтому формально задача нахождения оптимального решения сводится к поиску экстремума функции нескольких переменных (по числу контролируемых факторов) </a:t>
            </a:r>
            <a:r>
              <a:rPr lang="en-GB" sz="1600" i="1" dirty="0"/>
              <a:t>−→X </a:t>
            </a:r>
            <a:r>
              <a:rPr lang="en-GB" sz="1600" dirty="0"/>
              <a:t>= (</a:t>
            </a:r>
            <a:r>
              <a:rPr lang="en-GB" sz="1600" i="1" dirty="0"/>
              <a:t>x</a:t>
            </a:r>
            <a:r>
              <a:rPr lang="en-GB" sz="1600" dirty="0"/>
              <a:t>1</a:t>
            </a:r>
            <a:r>
              <a:rPr lang="en-GB" sz="1600" i="1" dirty="0"/>
              <a:t>, . . . , </a:t>
            </a:r>
            <a:r>
              <a:rPr lang="en-GB" sz="1600" i="1" dirty="0" err="1"/>
              <a:t>xn</a:t>
            </a:r>
            <a:r>
              <a:rPr lang="en-GB" sz="1600" dirty="0"/>
              <a:t>)</a:t>
            </a:r>
            <a:r>
              <a:rPr lang="ru-RU" sz="1600" dirty="0"/>
              <a:t> в области допустимых значений </a:t>
            </a:r>
            <a:r>
              <a:rPr lang="ru-RU" sz="1600" i="1" dirty="0"/>
              <a:t>D</a:t>
            </a:r>
            <a:r>
              <a:rPr lang="ru-RU" sz="1600" dirty="0"/>
              <a:t>.</a:t>
            </a:r>
          </a:p>
          <a:p>
            <a:r>
              <a:rPr lang="ru-RU" sz="1600" dirty="0"/>
              <a:t>В прикладной математике, изучающей различные методы оптимизации, эта задача называется задачей </a:t>
            </a:r>
            <a:r>
              <a:rPr lang="ru-RU" sz="1600" i="1" dirty="0"/>
              <a:t>математического программирования</a:t>
            </a:r>
            <a:r>
              <a:rPr lang="ru-RU" sz="1600" dirty="0"/>
              <a:t>.</a:t>
            </a:r>
          </a:p>
          <a:p>
            <a:r>
              <a:rPr lang="ru-RU" sz="1600" dirty="0"/>
              <a:t>Несмотря на простоту постановки, задачи математического программирования решаются с большим трудом. Все зависит от вида целевой функции и конфигурации области ограничений. Если целевая функция линейна, т. е. </a:t>
            </a:r>
            <a:r>
              <a:rPr lang="ru-RU" sz="1600" i="1" dirty="0"/>
              <a:t>Q</a:t>
            </a:r>
            <a:r>
              <a:rPr lang="ru-RU" sz="1600" dirty="0"/>
              <a:t>(</a:t>
            </a:r>
          </a:p>
          <a:p>
            <a:r>
              <a:rPr lang="en-GB" sz="1600" i="1" dirty="0"/>
              <a:t>−→X </a:t>
            </a:r>
            <a:r>
              <a:rPr lang="en-GB" sz="1600" dirty="0"/>
              <a:t>) = </a:t>
            </a:r>
            <a:r>
              <a:rPr lang="en-GB" sz="1600" i="1" dirty="0"/>
              <a:t>c</a:t>
            </a:r>
            <a:r>
              <a:rPr lang="en-GB" sz="1600" dirty="0"/>
              <a:t>1</a:t>
            </a:r>
            <a:r>
              <a:rPr lang="en-GB" sz="1600" i="1" dirty="0"/>
              <a:t>x</a:t>
            </a:r>
            <a:r>
              <a:rPr lang="en-GB" sz="1600" dirty="0"/>
              <a:t>1 + </a:t>
            </a:r>
            <a:r>
              <a:rPr lang="en-GB" sz="1600" i="1" dirty="0"/>
              <a:t>· · · </a:t>
            </a:r>
            <a:r>
              <a:rPr lang="en-GB" sz="1600" dirty="0"/>
              <a:t>+ </a:t>
            </a:r>
            <a:r>
              <a:rPr lang="en-GB" sz="1600" i="1" dirty="0" err="1"/>
              <a:t>cnxn</a:t>
            </a:r>
            <a:r>
              <a:rPr lang="en-GB" sz="1600" dirty="0"/>
              <a:t>, </a:t>
            </a:r>
            <a:r>
              <a:rPr lang="ru-RU" sz="1600" dirty="0"/>
              <a:t>а область допустимых значений </a:t>
            </a:r>
            <a:r>
              <a:rPr lang="ru-RU" sz="1600" i="1" dirty="0"/>
              <a:t>D </a:t>
            </a:r>
            <a:r>
              <a:rPr lang="ru-RU" sz="1600" dirty="0"/>
              <a:t>представляет собой выпуклый многогранник в многомерном пространстве, то мы имеем задачу </a:t>
            </a:r>
            <a:r>
              <a:rPr lang="ru-RU" sz="1600" i="1" dirty="0"/>
              <a:t>линейного программирования.</a:t>
            </a:r>
          </a:p>
          <a:p>
            <a:endParaRPr lang="ru-RU" sz="1600" dirty="0"/>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C0180BCF-8353-9B44-8295-C83C5B683F2E}"/>
                  </a:ext>
                </a:extLst>
              </p14:cNvPr>
              <p14:cNvContentPartPr/>
              <p14:nvPr/>
            </p14:nvContentPartPr>
            <p14:xfrm>
              <a:off x="180275" y="1981541"/>
              <a:ext cx="41040" cy="816480"/>
            </p14:xfrm>
          </p:contentPart>
        </mc:Choice>
        <mc:Fallback xmlns="">
          <p:pic>
            <p:nvPicPr>
              <p:cNvPr id="4" name="Entrada de lápiz 3">
                <a:extLst>
                  <a:ext uri="{FF2B5EF4-FFF2-40B4-BE49-F238E27FC236}">
                    <a16:creationId xmlns:a16="http://schemas.microsoft.com/office/drawing/2014/main" id="{C0180BCF-8353-9B44-8295-C83C5B683F2E}"/>
                  </a:ext>
                </a:extLst>
              </p:cNvPr>
              <p:cNvPicPr/>
              <p:nvPr/>
            </p:nvPicPr>
            <p:blipFill>
              <a:blip r:embed="rId5"/>
              <a:stretch>
                <a:fillRect/>
              </a:stretch>
            </p:blipFill>
            <p:spPr>
              <a:xfrm>
                <a:off x="171275" y="1972541"/>
                <a:ext cx="58680" cy="834120"/>
              </a:xfrm>
              <a:prstGeom prst="rect">
                <a:avLst/>
              </a:prstGeom>
            </p:spPr>
          </p:pic>
        </mc:Fallback>
      </mc:AlternateContent>
    </p:spTree>
    <p:extLst>
      <p:ext uri="{BB962C8B-B14F-4D97-AF65-F5344CB8AC3E}">
        <p14:creationId xmlns:p14="http://schemas.microsoft.com/office/powerpoint/2010/main" val="2780627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Классификация методов оптимизации</a:t>
            </a:r>
          </a:p>
        </p:txBody>
      </p:sp>
      <p:sp>
        <p:nvSpPr>
          <p:cNvPr id="13" name="TextBox 12"/>
          <p:cNvSpPr txBox="1"/>
          <p:nvPr/>
        </p:nvSpPr>
        <p:spPr>
          <a:xfrm>
            <a:off x="221241" y="1448729"/>
            <a:ext cx="10454051" cy="3539430"/>
          </a:xfrm>
          <a:prstGeom prst="rect">
            <a:avLst/>
          </a:prstGeom>
          <a:noFill/>
        </p:spPr>
        <p:txBody>
          <a:bodyPr wrap="square" rtlCol="0">
            <a:spAutoFit/>
          </a:bodyPr>
          <a:lstStyle/>
          <a:p>
            <a:r>
              <a:rPr lang="ru-RU" sz="1600" dirty="0"/>
              <a:t>Линейное программирование играет огромную роль в исследовании операций. Множество оптимизационных задач, особенно в области экономики, либо изначально ставится в линейном виде, либо приводится к нему. Мощные методы, разработанные во второй половине XX века, прежде всего </a:t>
            </a:r>
            <a:r>
              <a:rPr lang="ru-RU" sz="1600" i="1" dirty="0"/>
              <a:t>симплексный метод</a:t>
            </a:r>
            <a:r>
              <a:rPr lang="ru-RU" sz="1600" dirty="0"/>
              <a:t>, который мы будем изучать в гл. 4, способны решить любую задачу линейного программирования с большим числом переменных (десятки и сотни тысяч). Они реализованы на всех современных компьютерах и входят в золотой фонд прикладной математики. Изучению этих методов мы посвятим всю первую часть нашего курса.</a:t>
            </a:r>
          </a:p>
          <a:p>
            <a:endParaRPr lang="ru-RU" sz="1600" dirty="0"/>
          </a:p>
          <a:p>
            <a:r>
              <a:rPr lang="ru-RU" sz="1600" dirty="0"/>
              <a:t>К сожалению, далеко не все задачи оптимизации функции нескольких переменных имеют линейную структуру. Если целевая функция и/или ограничения </a:t>
            </a:r>
            <a:r>
              <a:rPr lang="ru-RU" sz="1600" dirty="0" err="1"/>
              <a:t>нелинейны</a:t>
            </a:r>
            <a:r>
              <a:rPr lang="ru-RU" sz="1600" dirty="0"/>
              <a:t>, то это — задача </a:t>
            </a:r>
            <a:r>
              <a:rPr lang="ru-RU" sz="1600" i="1" dirty="0"/>
              <a:t>нелинейного программирования. </a:t>
            </a:r>
            <a:r>
              <a:rPr lang="ru-RU" sz="1600" dirty="0"/>
              <a:t>Число различных методов нелинейного программирования огромно, это верный признак того, что задача в общем виде неразрешима и построить универсальный эффективный метод невозможно. Тем не менее для важных частных</a:t>
            </a:r>
          </a:p>
          <a:p>
            <a:r>
              <a:rPr lang="ru-RU" sz="1600" dirty="0"/>
              <a:t>случаев </a:t>
            </a:r>
            <a:r>
              <a:rPr lang="ru-RU" sz="1600" i="1" dirty="0"/>
              <a:t>выпуклого программирования </a:t>
            </a:r>
            <a:r>
              <a:rPr lang="ru-RU" sz="1600" dirty="0"/>
              <a:t>такие методы </a:t>
            </a:r>
            <a:r>
              <a:rPr lang="ru-RU" sz="1600" dirty="0" err="1"/>
              <a:t>изобретены,с</a:t>
            </a:r>
            <a:r>
              <a:rPr lang="ru-RU" sz="1600" dirty="0"/>
              <a:t> рядом из них мы познакомимся во второй части курса.</a:t>
            </a:r>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p:spTree>
    <p:extLst>
      <p:ext uri="{BB962C8B-B14F-4D97-AF65-F5344CB8AC3E}">
        <p14:creationId xmlns:p14="http://schemas.microsoft.com/office/powerpoint/2010/main" val="4289402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Классификация методов оптимизации</a:t>
            </a:r>
          </a:p>
        </p:txBody>
      </p:sp>
      <p:sp>
        <p:nvSpPr>
          <p:cNvPr id="13" name="TextBox 12"/>
          <p:cNvSpPr txBox="1"/>
          <p:nvPr/>
        </p:nvSpPr>
        <p:spPr>
          <a:xfrm>
            <a:off x="221241" y="1448728"/>
            <a:ext cx="10454051" cy="3046988"/>
          </a:xfrm>
          <a:prstGeom prst="rect">
            <a:avLst/>
          </a:prstGeom>
          <a:noFill/>
        </p:spPr>
        <p:txBody>
          <a:bodyPr wrap="square" rtlCol="0">
            <a:spAutoFit/>
          </a:bodyPr>
          <a:lstStyle/>
          <a:p>
            <a:r>
              <a:rPr lang="ru-RU" sz="1600" dirty="0"/>
              <a:t>Совершенно необычные задачи выбора решений возникают, когда цель операции невозможно описать оной целевой функцией и приходится учитывать одновременно несколько критериев: </a:t>
            </a:r>
            <a:r>
              <a:rPr lang="en-GB" sz="1600" i="1" dirty="0"/>
              <a:t>Q</a:t>
            </a:r>
            <a:r>
              <a:rPr lang="en-GB" sz="1600" dirty="0"/>
              <a:t>1(</a:t>
            </a:r>
            <a:r>
              <a:rPr lang="en-GB" sz="1600" i="1" dirty="0"/>
              <a:t>−→Z </a:t>
            </a:r>
            <a:r>
              <a:rPr lang="en-GB" sz="1600" dirty="0"/>
              <a:t>)</a:t>
            </a:r>
            <a:r>
              <a:rPr lang="en-GB" sz="1600" i="1" dirty="0"/>
              <a:t>, . . . , </a:t>
            </a:r>
            <a:r>
              <a:rPr lang="en-GB" sz="1600" i="1" dirty="0" err="1"/>
              <a:t>Qn</a:t>
            </a:r>
            <a:r>
              <a:rPr lang="en-GB" sz="1600" dirty="0"/>
              <a:t>(</a:t>
            </a:r>
            <a:r>
              <a:rPr lang="en-GB" sz="1600" i="1" dirty="0"/>
              <a:t>−→Z </a:t>
            </a:r>
            <a:r>
              <a:rPr lang="en-GB" sz="1600" dirty="0"/>
              <a:t>)</a:t>
            </a:r>
            <a:r>
              <a:rPr lang="en-GB" sz="1600" i="1" dirty="0"/>
              <a:t>.</a:t>
            </a:r>
          </a:p>
          <a:p>
            <a:r>
              <a:rPr lang="ru-RU" sz="1600" dirty="0"/>
              <a:t>Такая ситуация имеет место, когда разные выходные факторы описывают совершенно различные стороны операции, и на этапе построения модели их затруднительно ≪привести к общему знаменателю≫. Например, если при моделировании операции покупки подержанного автомобиля в качестве существенных выходных факторов выбраны пробег, комфорт и цена, то оценки каждого из этих факторов можно понимать как самостоятельные </a:t>
            </a:r>
            <a:r>
              <a:rPr lang="ru-RU" sz="1600" dirty="0" err="1"/>
              <a:t>целевыефункции</a:t>
            </a:r>
            <a:r>
              <a:rPr lang="ru-RU" sz="1600" dirty="0"/>
              <a:t>.</a:t>
            </a:r>
          </a:p>
          <a:p>
            <a:r>
              <a:rPr lang="ru-RU" sz="1600" dirty="0"/>
              <a:t>Поскольку одновременная оптимизация по нескольким, зачастую противоречивым, критериям невозможна, то выбор разумного решения в этих условиях требует специфических подходов, не сводящихся напрямую к решению задач математического программирования. Некоторые из этих подходов мы также рассмотрим в третьей части нашего курса.</a:t>
            </a:r>
          </a:p>
          <a:p>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850A3F10-638F-2B45-8859-DADB50D4357D}"/>
                  </a:ext>
                </a:extLst>
              </p14:cNvPr>
              <p14:cNvContentPartPr/>
              <p14:nvPr/>
            </p14:nvContentPartPr>
            <p14:xfrm>
              <a:off x="155795" y="1474301"/>
              <a:ext cx="98640" cy="1662480"/>
            </p14:xfrm>
          </p:contentPart>
        </mc:Choice>
        <mc:Fallback xmlns="">
          <p:pic>
            <p:nvPicPr>
              <p:cNvPr id="4" name="Entrada de lápiz 3">
                <a:extLst>
                  <a:ext uri="{FF2B5EF4-FFF2-40B4-BE49-F238E27FC236}">
                    <a16:creationId xmlns:a16="http://schemas.microsoft.com/office/drawing/2014/main" id="{850A3F10-638F-2B45-8859-DADB50D4357D}"/>
                  </a:ext>
                </a:extLst>
              </p:cNvPr>
              <p:cNvPicPr/>
              <p:nvPr/>
            </p:nvPicPr>
            <p:blipFill>
              <a:blip r:embed="rId5"/>
              <a:stretch>
                <a:fillRect/>
              </a:stretch>
            </p:blipFill>
            <p:spPr>
              <a:xfrm>
                <a:off x="146795" y="1465301"/>
                <a:ext cx="116280" cy="1680120"/>
              </a:xfrm>
              <a:prstGeom prst="rect">
                <a:avLst/>
              </a:prstGeom>
            </p:spPr>
          </p:pic>
        </mc:Fallback>
      </mc:AlternateContent>
    </p:spTree>
    <p:extLst>
      <p:ext uri="{BB962C8B-B14F-4D97-AF65-F5344CB8AC3E}">
        <p14:creationId xmlns:p14="http://schemas.microsoft.com/office/powerpoint/2010/main" val="2996084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0" y="6164723"/>
            <a:ext cx="10896533" cy="69327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Прямоугольник 9"/>
          <p:cNvSpPr/>
          <p:nvPr/>
        </p:nvSpPr>
        <p:spPr>
          <a:xfrm>
            <a:off x="0" y="1220755"/>
            <a:ext cx="9456373" cy="9601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TextBox 11"/>
          <p:cNvSpPr txBox="1"/>
          <p:nvPr/>
        </p:nvSpPr>
        <p:spPr>
          <a:xfrm>
            <a:off x="143339" y="644692"/>
            <a:ext cx="9409045" cy="461665"/>
          </a:xfrm>
          <a:prstGeom prst="rect">
            <a:avLst/>
          </a:prstGeom>
          <a:noFill/>
        </p:spPr>
        <p:txBody>
          <a:bodyPr wrap="square" rtlCol="0">
            <a:spAutoFit/>
          </a:bodyPr>
          <a:lstStyle/>
          <a:p>
            <a:r>
              <a:rPr lang="ru-RU" sz="2400" dirty="0"/>
              <a:t>Классификация методов оптимизации</a:t>
            </a:r>
          </a:p>
        </p:txBody>
      </p:sp>
      <p:sp>
        <p:nvSpPr>
          <p:cNvPr id="13" name="TextBox 12"/>
          <p:cNvSpPr txBox="1"/>
          <p:nvPr/>
        </p:nvSpPr>
        <p:spPr>
          <a:xfrm>
            <a:off x="239349" y="1292228"/>
            <a:ext cx="10454051" cy="5509200"/>
          </a:xfrm>
          <a:prstGeom prst="rect">
            <a:avLst/>
          </a:prstGeom>
          <a:noFill/>
        </p:spPr>
        <p:txBody>
          <a:bodyPr wrap="square" rtlCol="0">
            <a:spAutoFit/>
          </a:bodyPr>
          <a:lstStyle/>
          <a:p>
            <a:r>
              <a:rPr lang="ru-RU" sz="1600" dirty="0"/>
              <a:t>В случае, когда неконтролируемые факторы оперирующей стороне неизвестны, возникает задача выбора ре-</a:t>
            </a:r>
          </a:p>
          <a:p>
            <a:r>
              <a:rPr lang="ru-RU" sz="1600" dirty="0" err="1"/>
              <a:t>шения</a:t>
            </a:r>
            <a:r>
              <a:rPr lang="ru-RU" sz="1600" dirty="0"/>
              <a:t> </a:t>
            </a:r>
            <a:r>
              <a:rPr lang="ru-RU" sz="1600" i="1" dirty="0"/>
              <a:t>при неопределенности. </a:t>
            </a:r>
            <a:r>
              <a:rPr lang="ru-RU" sz="1600" dirty="0"/>
              <a:t>Дальнейшая классификация подходов определяется видом неопределенности. Различают три варианта:</a:t>
            </a:r>
          </a:p>
          <a:p>
            <a:r>
              <a:rPr lang="ru-RU" sz="1600" i="1" dirty="0"/>
              <a:t>• </a:t>
            </a:r>
            <a:r>
              <a:rPr lang="ru-RU" sz="1600" dirty="0"/>
              <a:t>риск;</a:t>
            </a:r>
          </a:p>
          <a:p>
            <a:r>
              <a:rPr lang="ru-RU" sz="1600" i="1" dirty="0"/>
              <a:t>• </a:t>
            </a:r>
            <a:r>
              <a:rPr lang="ru-RU" sz="1600" dirty="0"/>
              <a:t>неопределенность, вызванная незнанием;</a:t>
            </a:r>
          </a:p>
          <a:p>
            <a:r>
              <a:rPr lang="ru-RU" sz="1600" i="1" dirty="0"/>
              <a:t>• </a:t>
            </a:r>
            <a:r>
              <a:rPr lang="ru-RU" sz="1600" dirty="0"/>
              <a:t>неопределенность, вызванная организованным противодействием.</a:t>
            </a:r>
          </a:p>
          <a:p>
            <a:r>
              <a:rPr lang="ru-RU" sz="1600" dirty="0"/>
              <a:t>Под </a:t>
            </a:r>
            <a:r>
              <a:rPr lang="ru-RU" sz="1600" i="1" dirty="0"/>
              <a:t>риском </a:t>
            </a:r>
            <a:r>
              <a:rPr lang="ru-RU" sz="1600" dirty="0"/>
              <a:t>в теории решений понимается ситуация, когда неконтролируемые факторы являются </a:t>
            </a:r>
            <a:r>
              <a:rPr lang="ru-RU" sz="1600" i="1" dirty="0"/>
              <a:t>случайными</a:t>
            </a:r>
            <a:r>
              <a:rPr lang="ru-RU" sz="1600" dirty="0"/>
              <a:t>, то есть в каждом конкретном случае выбора решения неизвестными, но распределение вероятностей которых, исходя из прошлого опыта, з а р а н е </a:t>
            </a:r>
            <a:r>
              <a:rPr lang="ru-RU" sz="1600" dirty="0" err="1"/>
              <a:t>е</a:t>
            </a:r>
            <a:r>
              <a:rPr lang="ru-RU" sz="1600" dirty="0"/>
              <a:t> и з в е с т н о. Классическим примером принятия решений при риске являются разнообразные лотереи и азартные игры, давшие толчок созданию </a:t>
            </a:r>
            <a:r>
              <a:rPr lang="ru-RU" sz="1600" i="1" dirty="0"/>
              <a:t>теории полезности</a:t>
            </a:r>
            <a:r>
              <a:rPr lang="ru-RU" sz="1600" dirty="0"/>
              <a:t>, которую мы рассмотрим в соответствующем разделе курса. Более полезной с практической точки зрения является теория страхования, также основанная на теории полезности.</a:t>
            </a:r>
          </a:p>
          <a:p>
            <a:r>
              <a:rPr lang="ru-RU" sz="1600" dirty="0"/>
              <a:t>Второй вид представляет </a:t>
            </a:r>
            <a:r>
              <a:rPr lang="ru-RU" sz="1600" i="1" dirty="0"/>
              <a:t>неопределенность, вызванная незнанием. </a:t>
            </a:r>
            <a:r>
              <a:rPr lang="ru-RU" sz="1600" dirty="0"/>
              <a:t>Она типична для операций, в которых роль неконтролируемых факторов играют природные условия. Например, успех весеннего сева зависит, с одной стороны, от момента начала работ, который выбирается лицом, принимающим решения, а с другой стороны, от погодных условий, которые, увы, пока нами </a:t>
            </a:r>
            <a:r>
              <a:rPr lang="ru-RU" sz="1600" dirty="0" err="1"/>
              <a:t>неконтролируются</a:t>
            </a:r>
            <a:r>
              <a:rPr lang="ru-RU" sz="1600" dirty="0"/>
              <a:t>. Такие операции иногда называют </a:t>
            </a:r>
            <a:r>
              <a:rPr lang="ru-RU" sz="1600" i="1" dirty="0"/>
              <a:t>играми с природой.</a:t>
            </a:r>
          </a:p>
          <a:p>
            <a:r>
              <a:rPr lang="ru-RU" sz="1600" dirty="0"/>
              <a:t>Наконец, неопределенность может возникать в результате </a:t>
            </a:r>
            <a:r>
              <a:rPr lang="ru-RU" sz="1600" i="1" dirty="0"/>
              <a:t>организованного противодействия</a:t>
            </a:r>
            <a:r>
              <a:rPr lang="ru-RU" sz="1600" dirty="0"/>
              <a:t>. Этот случай имеет место тогда, когда неконтролируемые факторы находятся в руках разумного противника, интересы которого не совпадают с интересами оперирующей стороны. Возникает </a:t>
            </a:r>
            <a:r>
              <a:rPr lang="ru-RU" sz="1600" i="1" dirty="0"/>
              <a:t>конфликтная ситуация. </a:t>
            </a:r>
            <a:r>
              <a:rPr lang="ru-RU" sz="1600" dirty="0"/>
              <a:t>Типичными примерами конфликтов являются столкновения интересов в салонных играх, войнах, рыночной конкуренции. </a:t>
            </a:r>
            <a:r>
              <a:rPr lang="ru-RU" sz="1600" dirty="0" err="1"/>
              <a:t>Математиче</a:t>
            </a:r>
            <a:r>
              <a:rPr lang="ru-RU" sz="1600" dirty="0"/>
              <a:t>-</a:t>
            </a:r>
          </a:p>
          <a:p>
            <a:r>
              <a:rPr lang="ru-RU" sz="1600" dirty="0" err="1"/>
              <a:t>ская</a:t>
            </a:r>
            <a:r>
              <a:rPr lang="ru-RU" sz="1600" dirty="0"/>
              <a:t> модель любой конфликтной ситуации называется </a:t>
            </a:r>
            <a:r>
              <a:rPr lang="ru-RU" sz="1600" i="1" dirty="0"/>
              <a:t>игрой</a:t>
            </a:r>
            <a:r>
              <a:rPr lang="ru-RU" sz="1600" dirty="0"/>
              <a:t>, а теория, описывающая правила поведения в конфликтных ситуациях, — </a:t>
            </a:r>
            <a:r>
              <a:rPr lang="ru-RU" sz="1600" i="1" dirty="0"/>
              <a:t>теорией игр.</a:t>
            </a:r>
            <a:endParaRPr lang="ru-RU" sz="1600" dirty="0">
              <a:latin typeface="+mj-lt"/>
            </a:endParaRPr>
          </a:p>
        </p:txBody>
      </p:sp>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331" y="0"/>
            <a:ext cx="1291920" cy="6858000"/>
          </a:xfrm>
          <a:prstGeom prst="rect">
            <a:avLst/>
          </a:prstGeom>
        </p:spPr>
      </p:pic>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3400" y="6046383"/>
            <a:ext cx="1498600" cy="7112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5CA134A6-F474-2D40-BB88-E15AFB5B3B7D}"/>
                  </a:ext>
                </a:extLst>
              </p14:cNvPr>
              <p14:cNvContentPartPr/>
              <p14:nvPr/>
            </p14:nvContentPartPr>
            <p14:xfrm>
              <a:off x="119075" y="1421021"/>
              <a:ext cx="138960" cy="1310400"/>
            </p14:xfrm>
          </p:contentPart>
        </mc:Choice>
        <mc:Fallback xmlns="">
          <p:pic>
            <p:nvPicPr>
              <p:cNvPr id="4" name="Entrada de lápiz 3">
                <a:extLst>
                  <a:ext uri="{FF2B5EF4-FFF2-40B4-BE49-F238E27FC236}">
                    <a16:creationId xmlns:a16="http://schemas.microsoft.com/office/drawing/2014/main" id="{5CA134A6-F474-2D40-BB88-E15AFB5B3B7D}"/>
                  </a:ext>
                </a:extLst>
              </p:cNvPr>
              <p:cNvPicPr/>
              <p:nvPr/>
            </p:nvPicPr>
            <p:blipFill>
              <a:blip r:embed="rId5"/>
              <a:stretch>
                <a:fillRect/>
              </a:stretch>
            </p:blipFill>
            <p:spPr>
              <a:xfrm>
                <a:off x="110435" y="1412381"/>
                <a:ext cx="156600" cy="1328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Entrada de lápiz 4">
                <a:extLst>
                  <a:ext uri="{FF2B5EF4-FFF2-40B4-BE49-F238E27FC236}">
                    <a16:creationId xmlns:a16="http://schemas.microsoft.com/office/drawing/2014/main" id="{6885F936-DB82-3646-A419-7F294D6C09F8}"/>
                  </a:ext>
                </a:extLst>
              </p14:cNvPr>
              <p14:cNvContentPartPr/>
              <p14:nvPr/>
            </p14:nvContentPartPr>
            <p14:xfrm>
              <a:off x="1743035" y="3764745"/>
              <a:ext cx="2542320" cy="33840"/>
            </p14:xfrm>
          </p:contentPart>
        </mc:Choice>
        <mc:Fallback xmlns="">
          <p:pic>
            <p:nvPicPr>
              <p:cNvPr id="5" name="Entrada de lápiz 4">
                <a:extLst>
                  <a:ext uri="{FF2B5EF4-FFF2-40B4-BE49-F238E27FC236}">
                    <a16:creationId xmlns:a16="http://schemas.microsoft.com/office/drawing/2014/main" id="{6885F936-DB82-3646-A419-7F294D6C09F8}"/>
                  </a:ext>
                </a:extLst>
              </p:cNvPr>
              <p:cNvPicPr/>
              <p:nvPr/>
            </p:nvPicPr>
            <p:blipFill>
              <a:blip r:embed="rId7"/>
              <a:stretch>
                <a:fillRect/>
              </a:stretch>
            </p:blipFill>
            <p:spPr>
              <a:xfrm>
                <a:off x="1734035" y="3756105"/>
                <a:ext cx="25599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Entrada de lápiz 5">
                <a:extLst>
                  <a:ext uri="{FF2B5EF4-FFF2-40B4-BE49-F238E27FC236}">
                    <a16:creationId xmlns:a16="http://schemas.microsoft.com/office/drawing/2014/main" id="{44056422-72A0-6843-92E0-88FA1A680B39}"/>
                  </a:ext>
                </a:extLst>
              </p14:cNvPr>
              <p14:cNvContentPartPr/>
              <p14:nvPr/>
            </p14:nvContentPartPr>
            <p14:xfrm>
              <a:off x="7221515" y="3952305"/>
              <a:ext cx="2506680" cy="76320"/>
            </p14:xfrm>
          </p:contentPart>
        </mc:Choice>
        <mc:Fallback xmlns="">
          <p:pic>
            <p:nvPicPr>
              <p:cNvPr id="6" name="Entrada de lápiz 5">
                <a:extLst>
                  <a:ext uri="{FF2B5EF4-FFF2-40B4-BE49-F238E27FC236}">
                    <a16:creationId xmlns:a16="http://schemas.microsoft.com/office/drawing/2014/main" id="{44056422-72A0-6843-92E0-88FA1A680B39}"/>
                  </a:ext>
                </a:extLst>
              </p:cNvPr>
              <p:cNvPicPr/>
              <p:nvPr/>
            </p:nvPicPr>
            <p:blipFill>
              <a:blip r:embed="rId9"/>
              <a:stretch>
                <a:fillRect/>
              </a:stretch>
            </p:blipFill>
            <p:spPr>
              <a:xfrm>
                <a:off x="7212875" y="3943665"/>
                <a:ext cx="2524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Entrada de lápiz 6">
                <a:extLst>
                  <a:ext uri="{FF2B5EF4-FFF2-40B4-BE49-F238E27FC236}">
                    <a16:creationId xmlns:a16="http://schemas.microsoft.com/office/drawing/2014/main" id="{E026FE24-F07B-1D4B-9CD5-C53DB64383BE}"/>
                  </a:ext>
                </a:extLst>
              </p14:cNvPr>
              <p14:cNvContentPartPr/>
              <p14:nvPr/>
            </p14:nvContentPartPr>
            <p14:xfrm>
              <a:off x="2916275" y="4679865"/>
              <a:ext cx="2583000" cy="123120"/>
            </p14:xfrm>
          </p:contentPart>
        </mc:Choice>
        <mc:Fallback xmlns="">
          <p:pic>
            <p:nvPicPr>
              <p:cNvPr id="7" name="Entrada de lápiz 6">
                <a:extLst>
                  <a:ext uri="{FF2B5EF4-FFF2-40B4-BE49-F238E27FC236}">
                    <a16:creationId xmlns:a16="http://schemas.microsoft.com/office/drawing/2014/main" id="{E026FE24-F07B-1D4B-9CD5-C53DB64383BE}"/>
                  </a:ext>
                </a:extLst>
              </p:cNvPr>
              <p:cNvPicPr/>
              <p:nvPr/>
            </p:nvPicPr>
            <p:blipFill>
              <a:blip r:embed="rId11"/>
              <a:stretch>
                <a:fillRect/>
              </a:stretch>
            </p:blipFill>
            <p:spPr>
              <a:xfrm>
                <a:off x="2907635" y="4671225"/>
                <a:ext cx="26006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Entrada de lápiz 7">
                <a:extLst>
                  <a:ext uri="{FF2B5EF4-FFF2-40B4-BE49-F238E27FC236}">
                    <a16:creationId xmlns:a16="http://schemas.microsoft.com/office/drawing/2014/main" id="{CFBA22EF-B427-3342-B0FF-05A68892E90A}"/>
                  </a:ext>
                </a:extLst>
              </p14:cNvPr>
              <p14:cNvContentPartPr/>
              <p14:nvPr/>
            </p14:nvContentPartPr>
            <p14:xfrm>
              <a:off x="5562995" y="5941305"/>
              <a:ext cx="2077920" cy="58320"/>
            </p14:xfrm>
          </p:contentPart>
        </mc:Choice>
        <mc:Fallback xmlns="">
          <p:pic>
            <p:nvPicPr>
              <p:cNvPr id="8" name="Entrada de lápiz 7">
                <a:extLst>
                  <a:ext uri="{FF2B5EF4-FFF2-40B4-BE49-F238E27FC236}">
                    <a16:creationId xmlns:a16="http://schemas.microsoft.com/office/drawing/2014/main" id="{CFBA22EF-B427-3342-B0FF-05A68892E90A}"/>
                  </a:ext>
                </a:extLst>
              </p:cNvPr>
              <p:cNvPicPr/>
              <p:nvPr/>
            </p:nvPicPr>
            <p:blipFill>
              <a:blip r:embed="rId13"/>
              <a:stretch>
                <a:fillRect/>
              </a:stretch>
            </p:blipFill>
            <p:spPr>
              <a:xfrm>
                <a:off x="5554355" y="5932665"/>
                <a:ext cx="2095560" cy="75960"/>
              </a:xfrm>
              <a:prstGeom prst="rect">
                <a:avLst/>
              </a:prstGeom>
            </p:spPr>
          </p:pic>
        </mc:Fallback>
      </mc:AlternateContent>
    </p:spTree>
    <p:extLst>
      <p:ext uri="{BB962C8B-B14F-4D97-AF65-F5344CB8AC3E}">
        <p14:creationId xmlns:p14="http://schemas.microsoft.com/office/powerpoint/2010/main" val="2940803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Классическая задача потребления</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pic>
        <p:nvPicPr>
          <p:cNvPr id="7" name="Picture 2">
            <a:extLst>
              <a:ext uri="{FF2B5EF4-FFF2-40B4-BE49-F238E27FC236}">
                <a16:creationId xmlns:a16="http://schemas.microsoft.com/office/drawing/2014/main" id="{CE3D62C2-2FB7-D04C-9DD0-69B9F8C3E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70" y="929519"/>
            <a:ext cx="8065017" cy="52502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5418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Примеры задач (1)</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pic>
        <p:nvPicPr>
          <p:cNvPr id="7" name="Picture 2">
            <a:extLst>
              <a:ext uri="{FF2B5EF4-FFF2-40B4-BE49-F238E27FC236}">
                <a16:creationId xmlns:a16="http://schemas.microsoft.com/office/drawing/2014/main" id="{1928521C-B326-F24F-9B23-5FDE5EDE8B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579" y="1031587"/>
            <a:ext cx="7587626" cy="51037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1651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Примеры задач (2)</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pic>
        <p:nvPicPr>
          <p:cNvPr id="7" name="Picture 2">
            <a:extLst>
              <a:ext uri="{FF2B5EF4-FFF2-40B4-BE49-F238E27FC236}">
                <a16:creationId xmlns:a16="http://schemas.microsoft.com/office/drawing/2014/main" id="{E44F2C87-4BFB-E64A-9145-A01B18527E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71" y="1088654"/>
            <a:ext cx="9194566" cy="2770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6984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Примеры задач (3)</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pic>
        <p:nvPicPr>
          <p:cNvPr id="7" name="Picture 2">
            <a:extLst>
              <a:ext uri="{FF2B5EF4-FFF2-40B4-BE49-F238E27FC236}">
                <a16:creationId xmlns:a16="http://schemas.microsoft.com/office/drawing/2014/main" id="{36A1FBD6-4A7E-A347-9533-21FC13D0D9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3018" y="1059056"/>
            <a:ext cx="8758104" cy="1801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F524C365-599E-8644-805E-DAC118A3D2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3017" y="2860157"/>
            <a:ext cx="8783571" cy="3104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803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Примеры задач (4)</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pic>
        <p:nvPicPr>
          <p:cNvPr id="7" name="Picture 2">
            <a:extLst>
              <a:ext uri="{FF2B5EF4-FFF2-40B4-BE49-F238E27FC236}">
                <a16:creationId xmlns:a16="http://schemas.microsoft.com/office/drawing/2014/main" id="{79D2E489-4946-AC49-90E2-22A06CEBF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71" y="1148529"/>
            <a:ext cx="8540440" cy="3487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5410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Практическое задание №1</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2" name="CuadroTexto 1">
            <a:extLst>
              <a:ext uri="{FF2B5EF4-FFF2-40B4-BE49-F238E27FC236}">
                <a16:creationId xmlns:a16="http://schemas.microsoft.com/office/drawing/2014/main" id="{284B3BB0-AC19-6A43-BDB3-255501AEF4FA}"/>
              </a:ext>
            </a:extLst>
          </p:cNvPr>
          <p:cNvSpPr txBox="1"/>
          <p:nvPr/>
        </p:nvSpPr>
        <p:spPr>
          <a:xfrm>
            <a:off x="1695671" y="1032748"/>
            <a:ext cx="10131371" cy="1477328"/>
          </a:xfrm>
          <a:prstGeom prst="rect">
            <a:avLst/>
          </a:prstGeom>
          <a:noFill/>
        </p:spPr>
        <p:txBody>
          <a:bodyPr wrap="square" rtlCol="0">
            <a:spAutoFit/>
          </a:bodyPr>
          <a:lstStyle/>
          <a:p>
            <a:r>
              <a:rPr lang="ru-RU" dirty="0"/>
              <a:t>1. Сформировать математико-экономическую модель по задания выше (выполняется на семинаре)</a:t>
            </a:r>
          </a:p>
          <a:p>
            <a:endParaRPr lang="ru-RU" dirty="0"/>
          </a:p>
          <a:p>
            <a:r>
              <a:rPr lang="ru-RU" dirty="0"/>
              <a:t>2. Решить разминочные задачи по командам (задания на следующих слайдах). Задания по </a:t>
            </a:r>
            <a:r>
              <a:rPr lang="ru-RU"/>
              <a:t>номеру группы. Заданий </a:t>
            </a:r>
            <a:r>
              <a:rPr lang="ru-RU" dirty="0"/>
              <a:t>шесть, поэтому группы с номером больше 6, вычитают эту цифру из своего номера и получают номер задания.</a:t>
            </a:r>
            <a:endParaRPr lang="es-RU" dirty="0"/>
          </a:p>
        </p:txBody>
      </p:sp>
    </p:spTree>
    <p:extLst>
      <p:ext uri="{BB962C8B-B14F-4D97-AF65-F5344CB8AC3E}">
        <p14:creationId xmlns:p14="http://schemas.microsoft.com/office/powerpoint/2010/main" val="1309642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1</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9" name="TextBox 12">
            <a:extLst>
              <a:ext uri="{FF2B5EF4-FFF2-40B4-BE49-F238E27FC236}">
                <a16:creationId xmlns:a16="http://schemas.microsoft.com/office/drawing/2014/main" id="{FBD1EA2E-D6CB-AD42-807D-60C30A450E0A}"/>
              </a:ext>
            </a:extLst>
          </p:cNvPr>
          <p:cNvSpPr txBox="1"/>
          <p:nvPr/>
        </p:nvSpPr>
        <p:spPr>
          <a:xfrm>
            <a:off x="1695671" y="1058819"/>
            <a:ext cx="7840538" cy="369332"/>
          </a:xfrm>
          <a:prstGeom prst="rect">
            <a:avLst/>
          </a:prstGeom>
          <a:noFill/>
        </p:spPr>
        <p:txBody>
          <a:bodyPr wrap="square" rtlCol="0">
            <a:spAutoFit/>
          </a:bodyPr>
          <a:lstStyle/>
          <a:p>
            <a:r>
              <a:rPr lang="ru-RU" dirty="0">
                <a:latin typeface="+mj-lt"/>
              </a:rPr>
              <a:t>Решить систему линейных уравнений методом Гаусса</a:t>
            </a:r>
          </a:p>
        </p:txBody>
      </p:sp>
      <p:pic>
        <p:nvPicPr>
          <p:cNvPr id="10" name="Picture 2">
            <a:extLst>
              <a:ext uri="{FF2B5EF4-FFF2-40B4-BE49-F238E27FC236}">
                <a16:creationId xmlns:a16="http://schemas.microsoft.com/office/drawing/2014/main" id="{A07374E6-48BE-4A4D-B7D6-022FB08851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0119" y="1638787"/>
            <a:ext cx="2754945" cy="1385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1409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2</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1" name="TextBox 12">
            <a:extLst>
              <a:ext uri="{FF2B5EF4-FFF2-40B4-BE49-F238E27FC236}">
                <a16:creationId xmlns:a16="http://schemas.microsoft.com/office/drawing/2014/main" id="{DC234C45-1EBC-8F49-BD72-1225E799881B}"/>
              </a:ext>
            </a:extLst>
          </p:cNvPr>
          <p:cNvSpPr txBox="1"/>
          <p:nvPr/>
        </p:nvSpPr>
        <p:spPr>
          <a:xfrm>
            <a:off x="1695671" y="1135902"/>
            <a:ext cx="7840538" cy="400110"/>
          </a:xfrm>
          <a:prstGeom prst="rect">
            <a:avLst/>
          </a:prstGeom>
          <a:noFill/>
        </p:spPr>
        <p:txBody>
          <a:bodyPr wrap="square" rtlCol="0">
            <a:spAutoFit/>
          </a:bodyPr>
          <a:lstStyle/>
          <a:p>
            <a:r>
              <a:rPr lang="ru-RU" sz="2000" dirty="0">
                <a:latin typeface="+mj-lt"/>
              </a:rPr>
              <a:t>Решить систему уравнений методом Гаусса-</a:t>
            </a:r>
            <a:r>
              <a:rPr lang="ru-RU" sz="2000" dirty="0" err="1">
                <a:latin typeface="+mj-lt"/>
              </a:rPr>
              <a:t>Жордана</a:t>
            </a:r>
            <a:endParaRPr lang="ru-RU" sz="2000" dirty="0">
              <a:latin typeface="+mj-lt"/>
            </a:endParaRPr>
          </a:p>
        </p:txBody>
      </p:sp>
      <p:pic>
        <p:nvPicPr>
          <p:cNvPr id="12" name="Picture 2">
            <a:extLst>
              <a:ext uri="{FF2B5EF4-FFF2-40B4-BE49-F238E27FC236}">
                <a16:creationId xmlns:a16="http://schemas.microsoft.com/office/drawing/2014/main" id="{A5EF9038-F910-484F-BB0E-021308250A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850" y="1615234"/>
            <a:ext cx="2152650" cy="13228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4937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3</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1" name="TextBox 12">
            <a:extLst>
              <a:ext uri="{FF2B5EF4-FFF2-40B4-BE49-F238E27FC236}">
                <a16:creationId xmlns:a16="http://schemas.microsoft.com/office/drawing/2014/main" id="{3CAE5B41-0693-9C41-947E-55606177C91B}"/>
              </a:ext>
            </a:extLst>
          </p:cNvPr>
          <p:cNvSpPr txBox="1"/>
          <p:nvPr/>
        </p:nvSpPr>
        <p:spPr>
          <a:xfrm>
            <a:off x="1695671" y="1090536"/>
            <a:ext cx="7840538" cy="369332"/>
          </a:xfrm>
          <a:prstGeom prst="rect">
            <a:avLst/>
          </a:prstGeom>
          <a:noFill/>
        </p:spPr>
        <p:txBody>
          <a:bodyPr wrap="square" rtlCol="0">
            <a:spAutoFit/>
          </a:bodyPr>
          <a:lstStyle/>
          <a:p>
            <a:r>
              <a:rPr lang="ru-RU" dirty="0">
                <a:latin typeface="+mj-lt"/>
              </a:rPr>
              <a:t>Решить систему уравнений методом </a:t>
            </a:r>
            <a:r>
              <a:rPr lang="ru-RU" dirty="0" err="1">
                <a:latin typeface="+mj-lt"/>
              </a:rPr>
              <a:t>Крамера</a:t>
            </a:r>
            <a:endParaRPr lang="ru-RU" dirty="0">
              <a:latin typeface="+mj-lt"/>
            </a:endParaRPr>
          </a:p>
        </p:txBody>
      </p:sp>
      <p:pic>
        <p:nvPicPr>
          <p:cNvPr id="12" name="Picture 2">
            <a:extLst>
              <a:ext uri="{FF2B5EF4-FFF2-40B4-BE49-F238E27FC236}">
                <a16:creationId xmlns:a16="http://schemas.microsoft.com/office/drawing/2014/main" id="{1E1A5B20-2745-9647-ABB5-E381F7D37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0754" y="1600925"/>
            <a:ext cx="2825089" cy="1131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65204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4</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1" name="TextBox 12">
            <a:extLst>
              <a:ext uri="{FF2B5EF4-FFF2-40B4-BE49-F238E27FC236}">
                <a16:creationId xmlns:a16="http://schemas.microsoft.com/office/drawing/2014/main" id="{6CABE7C3-1B40-5E42-9316-E2DF63769AED}"/>
              </a:ext>
            </a:extLst>
          </p:cNvPr>
          <p:cNvSpPr txBox="1"/>
          <p:nvPr/>
        </p:nvSpPr>
        <p:spPr>
          <a:xfrm>
            <a:off x="1695671" y="1224770"/>
            <a:ext cx="7840538" cy="1477328"/>
          </a:xfrm>
          <a:prstGeom prst="rect">
            <a:avLst/>
          </a:prstGeom>
          <a:noFill/>
        </p:spPr>
        <p:txBody>
          <a:bodyPr wrap="square" rtlCol="0">
            <a:spAutoFit/>
          </a:bodyPr>
          <a:lstStyle/>
          <a:p>
            <a:r>
              <a:rPr lang="ru-RU" dirty="0">
                <a:latin typeface="+mj-lt"/>
              </a:rPr>
              <a:t>Решить систему уравнений через обратную матрицу</a:t>
            </a:r>
          </a:p>
          <a:p>
            <a:r>
              <a:rPr lang="ru-RU" dirty="0">
                <a:latin typeface="+mj-lt"/>
              </a:rPr>
              <a:t> </a:t>
            </a:r>
          </a:p>
          <a:p>
            <a:pPr marL="228600" indent="-228600">
              <a:buAutoNum type="arabicPeriod"/>
            </a:pPr>
            <a:r>
              <a:rPr lang="ru-RU" dirty="0">
                <a:latin typeface="+mj-lt"/>
              </a:rPr>
              <a:t>Найти обратную матрицу для правой части</a:t>
            </a:r>
          </a:p>
          <a:p>
            <a:pPr marL="228600" indent="-228600">
              <a:buAutoNum type="arabicPeriod"/>
            </a:pPr>
            <a:r>
              <a:rPr lang="ru-RU" dirty="0">
                <a:latin typeface="+mj-lt"/>
              </a:rPr>
              <a:t>Умножением обратной матрицы на столбец свободных членов получить ответ</a:t>
            </a:r>
          </a:p>
        </p:txBody>
      </p:sp>
      <p:pic>
        <p:nvPicPr>
          <p:cNvPr id="12" name="Picture 2">
            <a:extLst>
              <a:ext uri="{FF2B5EF4-FFF2-40B4-BE49-F238E27FC236}">
                <a16:creationId xmlns:a16="http://schemas.microsoft.com/office/drawing/2014/main" id="{4BE9AAD5-CBC7-624C-B269-AE7CA7FE4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2827" y="2702097"/>
            <a:ext cx="2810066" cy="1125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90909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5</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1" name="TextBox 12">
            <a:extLst>
              <a:ext uri="{FF2B5EF4-FFF2-40B4-BE49-F238E27FC236}">
                <a16:creationId xmlns:a16="http://schemas.microsoft.com/office/drawing/2014/main" id="{3C91DF83-D5DB-3744-87EF-23392F426644}"/>
              </a:ext>
            </a:extLst>
          </p:cNvPr>
          <p:cNvSpPr txBox="1"/>
          <p:nvPr/>
        </p:nvSpPr>
        <p:spPr>
          <a:xfrm>
            <a:off x="1695671" y="1130359"/>
            <a:ext cx="7840538" cy="369332"/>
          </a:xfrm>
          <a:prstGeom prst="rect">
            <a:avLst/>
          </a:prstGeom>
          <a:noFill/>
        </p:spPr>
        <p:txBody>
          <a:bodyPr wrap="square" rtlCol="0">
            <a:spAutoFit/>
          </a:bodyPr>
          <a:lstStyle/>
          <a:p>
            <a:r>
              <a:rPr lang="ru-RU" dirty="0">
                <a:latin typeface="+mj-lt"/>
              </a:rPr>
              <a:t>Решить однородную систему линейных уравнений (найти базис решений)</a:t>
            </a:r>
          </a:p>
        </p:txBody>
      </p:sp>
      <p:pic>
        <p:nvPicPr>
          <p:cNvPr id="12" name="Picture 2">
            <a:extLst>
              <a:ext uri="{FF2B5EF4-FFF2-40B4-BE49-F238E27FC236}">
                <a16:creationId xmlns:a16="http://schemas.microsoft.com/office/drawing/2014/main" id="{B446083E-1047-024B-AB5A-502637A9C9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795" y="1700531"/>
            <a:ext cx="2639428" cy="1220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7313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
          <p:cNvSpPr>
            <a:spLocks noChangeArrowheads="1"/>
          </p:cNvSpPr>
          <p:nvPr/>
        </p:nvSpPr>
        <p:spPr bwMode="auto">
          <a:xfrm>
            <a:off x="1" y="1402080"/>
            <a:ext cx="469392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ru-RU" sz="1800" b="0" i="0" u="none" strike="noStrike" cap="none" normalizeH="0" baseline="0" dirty="0">
              <a:ln>
                <a:noFill/>
              </a:ln>
              <a:solidFill>
                <a:schemeClr val="bg1"/>
              </a:solidFill>
              <a:effectLst/>
              <a:latin typeface="Arial" pitchFamily="34" charset="0"/>
              <a:cs typeface="Arial" pitchFamily="34" charset="0"/>
            </a:endParaRPr>
          </a:p>
        </p:txBody>
      </p:sp>
      <p:sp>
        <p:nvSpPr>
          <p:cNvPr id="5" name="TextBox 4"/>
          <p:cNvSpPr txBox="1"/>
          <p:nvPr/>
        </p:nvSpPr>
        <p:spPr>
          <a:xfrm>
            <a:off x="1695671" y="406299"/>
            <a:ext cx="9131850" cy="523220"/>
          </a:xfrm>
          <a:prstGeom prst="rect">
            <a:avLst/>
          </a:prstGeom>
          <a:noFill/>
        </p:spPr>
        <p:txBody>
          <a:bodyPr wrap="square" rtlCol="0">
            <a:spAutoFit/>
          </a:bodyPr>
          <a:lstStyle/>
          <a:p>
            <a:r>
              <a:rPr lang="ru-RU" sz="2800" b="1" dirty="0">
                <a:solidFill>
                  <a:schemeClr val="accent1">
                    <a:lumMod val="75000"/>
                  </a:schemeClr>
                </a:solidFill>
                <a:latin typeface="PT Sans" panose="020B0503020203020204" pitchFamily="34" charset="-52"/>
              </a:rPr>
              <a:t>Задачи группы 6</a:t>
            </a:r>
          </a:p>
        </p:txBody>
      </p:sp>
      <p:sp>
        <p:nvSpPr>
          <p:cNvPr id="8" name="Прямоугольник 7"/>
          <p:cNvSpPr/>
          <p:nvPr/>
        </p:nvSpPr>
        <p:spPr>
          <a:xfrm>
            <a:off x="0" y="6358071"/>
            <a:ext cx="12192000" cy="499929"/>
          </a:xfrm>
          <a:prstGeom prst="rect">
            <a:avLst/>
          </a:prstGeom>
          <a:solidFill>
            <a:srgbClr val="284A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2152650" cy="6858000"/>
          </a:xfrm>
          <a:prstGeom prst="rect">
            <a:avLst/>
          </a:prstGeom>
        </p:spPr>
      </p:pic>
      <p:sp>
        <p:nvSpPr>
          <p:cNvPr id="11" name="TextBox 12">
            <a:extLst>
              <a:ext uri="{FF2B5EF4-FFF2-40B4-BE49-F238E27FC236}">
                <a16:creationId xmlns:a16="http://schemas.microsoft.com/office/drawing/2014/main" id="{267600FF-D016-344D-9BC0-63C3AB0603B2}"/>
              </a:ext>
            </a:extLst>
          </p:cNvPr>
          <p:cNvSpPr txBox="1"/>
          <p:nvPr/>
        </p:nvSpPr>
        <p:spPr>
          <a:xfrm>
            <a:off x="1695671" y="995343"/>
            <a:ext cx="7840538" cy="2585323"/>
          </a:xfrm>
          <a:prstGeom prst="rect">
            <a:avLst/>
          </a:prstGeom>
          <a:noFill/>
        </p:spPr>
        <p:txBody>
          <a:bodyPr wrap="square" rtlCol="0">
            <a:spAutoFit/>
          </a:bodyPr>
          <a:lstStyle/>
          <a:p>
            <a:r>
              <a:rPr lang="ru-RU" dirty="0">
                <a:latin typeface="+mj-lt"/>
              </a:rPr>
              <a:t>Решить однородную систему линейных уравнений (найти базис решений)</a:t>
            </a:r>
          </a:p>
          <a:p>
            <a:endParaRPr lang="ru-RU" dirty="0">
              <a:latin typeface="+mj-lt"/>
            </a:endParaRPr>
          </a:p>
          <a:p>
            <a:endParaRPr lang="ru-RU" dirty="0">
              <a:latin typeface="+mj-lt"/>
            </a:endParaRPr>
          </a:p>
          <a:p>
            <a:endParaRPr lang="ru-RU" dirty="0">
              <a:latin typeface="+mj-lt"/>
            </a:endParaRPr>
          </a:p>
          <a:p>
            <a:endParaRPr lang="ru-RU" dirty="0">
              <a:latin typeface="+mj-lt"/>
            </a:endParaRPr>
          </a:p>
          <a:p>
            <a:endParaRPr lang="ru-RU" dirty="0">
              <a:latin typeface="+mj-lt"/>
            </a:endParaRPr>
          </a:p>
          <a:p>
            <a:endParaRPr lang="ru-RU" dirty="0">
              <a:latin typeface="+mj-lt"/>
            </a:endParaRPr>
          </a:p>
          <a:p>
            <a:endParaRPr lang="ru-RU" dirty="0">
              <a:latin typeface="+mj-lt"/>
            </a:endParaRPr>
          </a:p>
          <a:p>
            <a:r>
              <a:rPr lang="ru-RU" dirty="0">
                <a:latin typeface="+mj-lt"/>
              </a:rPr>
              <a:t>Затем решить систему линейных уравнений</a:t>
            </a:r>
          </a:p>
        </p:txBody>
      </p:sp>
      <p:pic>
        <p:nvPicPr>
          <p:cNvPr id="12" name="Picture 3">
            <a:extLst>
              <a:ext uri="{FF2B5EF4-FFF2-40B4-BE49-F238E27FC236}">
                <a16:creationId xmlns:a16="http://schemas.microsoft.com/office/drawing/2014/main" id="{44EC76ED-1226-564A-9C87-C764BCD673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640" y="3718635"/>
            <a:ext cx="2516396" cy="1416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a:extLst>
              <a:ext uri="{FF2B5EF4-FFF2-40B4-BE49-F238E27FC236}">
                <a16:creationId xmlns:a16="http://schemas.microsoft.com/office/drawing/2014/main" id="{C0FFE9BA-07F9-8B46-97A1-D9E29382FA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799" y="1328419"/>
            <a:ext cx="2342219" cy="142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9895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896533" cy="6858000"/>
          </a:xfrm>
          <a:prstGeom prst="rect">
            <a:avLst/>
          </a:prstGeom>
        </p:spPr>
      </p:pic>
      <p:sp>
        <p:nvSpPr>
          <p:cNvPr id="13" name="TextBox 12"/>
          <p:cNvSpPr txBox="1"/>
          <p:nvPr/>
        </p:nvSpPr>
        <p:spPr>
          <a:xfrm>
            <a:off x="139371" y="1700808"/>
            <a:ext cx="10454051" cy="3293209"/>
          </a:xfrm>
          <a:prstGeom prst="rect">
            <a:avLst/>
          </a:prstGeom>
          <a:noFill/>
        </p:spPr>
        <p:txBody>
          <a:bodyPr wrap="square" rtlCol="0">
            <a:spAutoFit/>
          </a:bodyPr>
          <a:lstStyle/>
          <a:p>
            <a:r>
              <a:rPr lang="ru-RU" sz="1600" dirty="0"/>
              <a:t>1. Имеет ли значение порядок выбора ведущего элемента в методе Гаусса-</a:t>
            </a:r>
            <a:r>
              <a:rPr lang="ru-RU" sz="1600" dirty="0" err="1"/>
              <a:t>Жордана</a:t>
            </a:r>
            <a:r>
              <a:rPr lang="ru-RU" sz="1600" dirty="0"/>
              <a:t>?</a:t>
            </a:r>
          </a:p>
          <a:p>
            <a:r>
              <a:rPr lang="ru-RU" sz="1600" dirty="0"/>
              <a:t>2. Что такое линейно зависимые и  линейно независимые векторы?</a:t>
            </a:r>
          </a:p>
          <a:p>
            <a:r>
              <a:rPr lang="ru-RU" sz="1600" dirty="0"/>
              <a:t>3. Что такое ранг матрицы?</a:t>
            </a:r>
          </a:p>
          <a:p>
            <a:r>
              <a:rPr lang="ru-RU" sz="1600" dirty="0"/>
              <a:t>4. Что такое базис линейного пространства?</a:t>
            </a:r>
          </a:p>
          <a:p>
            <a:r>
              <a:rPr lang="ru-RU" sz="1600" dirty="0"/>
              <a:t>5. Какие существуют равносильные преобразования для СЛУ</a:t>
            </a:r>
          </a:p>
          <a:p>
            <a:r>
              <a:rPr lang="ru-RU" sz="1600" dirty="0"/>
              <a:t>6. Опишите правило прямоугольника при использовании метода Гаусса-</a:t>
            </a:r>
            <a:r>
              <a:rPr lang="ru-RU" sz="1600" dirty="0" err="1"/>
              <a:t>Жордана</a:t>
            </a:r>
            <a:endParaRPr lang="ru-RU" sz="1600" dirty="0"/>
          </a:p>
          <a:p>
            <a:r>
              <a:rPr lang="ru-RU" sz="1600" dirty="0"/>
              <a:t>7. Дайте формулировку теорему Кронекера-</a:t>
            </a:r>
            <a:r>
              <a:rPr lang="ru-RU" sz="1600" dirty="0" err="1"/>
              <a:t>Капелли</a:t>
            </a:r>
            <a:endParaRPr lang="ru-RU" sz="1600" dirty="0"/>
          </a:p>
          <a:p>
            <a:r>
              <a:rPr lang="ru-RU" sz="1600" dirty="0"/>
              <a:t>8. В каком случае ранг матрицы по столбцам может отличаться от ранга матрицы по строкам?</a:t>
            </a:r>
          </a:p>
          <a:p>
            <a:r>
              <a:rPr lang="ru-RU" sz="1600" dirty="0"/>
              <a:t>9. Как связанные между собой решения СЛУ и соответствующей ОСЛУ?</a:t>
            </a:r>
          </a:p>
          <a:p>
            <a:r>
              <a:rPr lang="ru-RU" sz="1600" dirty="0"/>
              <a:t>10. Как соотносятся вектор составленный из коэффициентов уравнения прямой или плоскости и сама пряма или плоскость?</a:t>
            </a:r>
          </a:p>
          <a:p>
            <a:r>
              <a:rPr lang="ru-RU" sz="1600" dirty="0"/>
              <a:t>11. Что такое линейная комбинация векторов?</a:t>
            </a:r>
          </a:p>
          <a:p>
            <a:r>
              <a:rPr lang="ru-RU" sz="1600" dirty="0"/>
              <a:t>12. Что такое выпуклая линейная комбинация векторов?</a:t>
            </a:r>
          </a:p>
        </p:txBody>
      </p:sp>
      <p:pic>
        <p:nvPicPr>
          <p:cNvPr id="8" name="Рисунок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259" y="37514"/>
            <a:ext cx="3074980" cy="2523540"/>
          </a:xfrm>
          <a:prstGeom prst="rect">
            <a:avLst/>
          </a:prstGeom>
        </p:spPr>
      </p:pic>
      <p:pic>
        <p:nvPicPr>
          <p:cNvPr id="3" name="Рисунок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93397" y="6094468"/>
            <a:ext cx="1498599" cy="711200"/>
          </a:xfrm>
          <a:prstGeom prst="rect">
            <a:avLst/>
          </a:prstGeom>
        </p:spPr>
      </p:pic>
      <p:sp>
        <p:nvSpPr>
          <p:cNvPr id="2" name="TextBox 1"/>
          <p:cNvSpPr txBox="1"/>
          <p:nvPr/>
        </p:nvSpPr>
        <p:spPr>
          <a:xfrm>
            <a:off x="632579" y="344785"/>
            <a:ext cx="644728" cy="995209"/>
          </a:xfrm>
          <a:prstGeom prst="rect">
            <a:avLst/>
          </a:prstGeom>
          <a:noFill/>
        </p:spPr>
        <p:txBody>
          <a:bodyPr wrap="none" rtlCol="0">
            <a:spAutoFit/>
          </a:bodyPr>
          <a:lstStyle/>
          <a:p>
            <a:r>
              <a:rPr lang="ru-RU" sz="5867" dirty="0">
                <a:solidFill>
                  <a:schemeClr val="bg1"/>
                </a:solidFill>
                <a:latin typeface="Arial Black" pitchFamily="34" charset="0"/>
              </a:rPr>
              <a:t>?</a:t>
            </a:r>
          </a:p>
        </p:txBody>
      </p:sp>
      <p:pic>
        <p:nvPicPr>
          <p:cNvPr id="6" name="Рисунок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3378" y="510265"/>
            <a:ext cx="2950676" cy="1262889"/>
          </a:xfrm>
          <a:prstGeom prst="rect">
            <a:avLst/>
          </a:prstGeom>
        </p:spPr>
      </p:pic>
    </p:spTree>
    <p:extLst>
      <p:ext uri="{BB962C8B-B14F-4D97-AF65-F5344CB8AC3E}">
        <p14:creationId xmlns:p14="http://schemas.microsoft.com/office/powerpoint/2010/main" val="28251942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18227</TotalTime>
  <Words>6045</Words>
  <Application>Microsoft Macintosh PowerPoint</Application>
  <PresentationFormat>Panorámica</PresentationFormat>
  <Paragraphs>348</Paragraphs>
  <Slides>49</Slides>
  <Notes>29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49</vt:i4>
      </vt:variant>
    </vt:vector>
  </HeadingPairs>
  <TitlesOfParts>
    <vt:vector size="55" baseType="lpstr">
      <vt:lpstr>Arial</vt:lpstr>
      <vt:lpstr>Arial Black</vt:lpstr>
      <vt:lpstr>Calibri</vt:lpstr>
      <vt:lpstr>Calibri Light</vt:lpstr>
      <vt:lpstr>PT Sans</vt:lpstr>
      <vt:lpstr>Тема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Dudarin Pavel</cp:lastModifiedBy>
  <cp:revision>289</cp:revision>
  <dcterms:created xsi:type="dcterms:W3CDTF">2021-04-19T13:24:04Z</dcterms:created>
  <dcterms:modified xsi:type="dcterms:W3CDTF">2024-09-16T19:50:11Z</dcterms:modified>
</cp:coreProperties>
</file>