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87" r:id="rId2"/>
    <p:sldId id="422" r:id="rId3"/>
    <p:sldId id="463" r:id="rId4"/>
    <p:sldId id="464" r:id="rId5"/>
    <p:sldId id="473" r:id="rId6"/>
    <p:sldId id="465" r:id="rId7"/>
    <p:sldId id="466" r:id="rId8"/>
    <p:sldId id="467" r:id="rId9"/>
    <p:sldId id="468" r:id="rId10"/>
    <p:sldId id="469" r:id="rId11"/>
    <p:sldId id="474" r:id="rId12"/>
    <p:sldId id="470" r:id="rId13"/>
    <p:sldId id="475" r:id="rId14"/>
    <p:sldId id="489" r:id="rId15"/>
    <p:sldId id="471" r:id="rId16"/>
    <p:sldId id="472" r:id="rId17"/>
    <p:sldId id="476" r:id="rId18"/>
    <p:sldId id="488" r:id="rId19"/>
    <p:sldId id="477" r:id="rId20"/>
    <p:sldId id="478" r:id="rId21"/>
    <p:sldId id="479" r:id="rId22"/>
    <p:sldId id="480" r:id="rId23"/>
    <p:sldId id="481" r:id="rId24"/>
    <p:sldId id="482" r:id="rId25"/>
    <p:sldId id="483" r:id="rId26"/>
    <p:sldId id="484" r:id="rId27"/>
    <p:sldId id="485" r:id="rId28"/>
    <p:sldId id="275" r:id="rId29"/>
    <p:sldId id="354" r:id="rId30"/>
    <p:sldId id="376" r:id="rId31"/>
    <p:sldId id="379" r:id="rId32"/>
    <p:sldId id="381" r:id="rId33"/>
    <p:sldId id="377" r:id="rId34"/>
    <p:sldId id="378" r:id="rId35"/>
    <p:sldId id="491" r:id="rId36"/>
    <p:sldId id="492" r:id="rId37"/>
    <p:sldId id="490" r:id="rId38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0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09" autoAdjust="0"/>
    <p:restoredTop sz="95890" autoAdjust="0"/>
  </p:normalViewPr>
  <p:slideViewPr>
    <p:cSldViewPr>
      <p:cViewPr varScale="1">
        <p:scale>
          <a:sx n="167" d="100"/>
          <a:sy n="167" d="100"/>
        </p:scale>
        <p:origin x="480" y="1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B7474-73D3-4763-9101-60B4C5294CC5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A5ED2-282E-461B-A939-F0BB6074ADC9}" type="slidenum">
              <a:rPr lang="ru-RU" smtClean="0"/>
              <a:t>‹Nº›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223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FBA70-BD6B-4DB4-92D4-9CFF0251AC11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229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Ответы</a:t>
            </a:r>
            <a:r>
              <a:rPr lang="ru-RU" baseline="0" dirty="0"/>
              <a:t> :  1 (1,3)  2 (3) 3 (3, 4)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409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586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586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586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586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586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586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1617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85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A5ED2-282E-461B-A939-F0BB6074ADC9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1409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12.11.2024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‹Nº›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.png"/><Relationship Id="rId7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4.png"/><Relationship Id="rId7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7.png"/><Relationship Id="rId4" Type="http://schemas.openxmlformats.org/officeDocument/2006/relationships/image" Target="../media/image40.png"/><Relationship Id="rId9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9395"/>
            <a:ext cx="9144000" cy="5143500"/>
          </a:xfrm>
          <a:prstGeom prst="rect">
            <a:avLst/>
          </a:prstGeom>
          <a:solidFill>
            <a:srgbClr val="284A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3063"/>
            <a:ext cx="6186488" cy="3500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1714" y="1419622"/>
            <a:ext cx="86205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Вычислительная математика</a:t>
            </a:r>
          </a:p>
          <a:p>
            <a:pPr algn="ctr"/>
            <a:endParaRPr lang="ru-RU" sz="2400" b="1" dirty="0">
              <a:solidFill>
                <a:srgbClr val="FFFFFF"/>
              </a:solidFill>
              <a:latin typeface="PT Sans"/>
              <a:ea typeface="PT Sans"/>
              <a:sym typeface="PT Sans"/>
            </a:endParaRPr>
          </a:p>
          <a:p>
            <a:pPr algn="ctr"/>
            <a:r>
              <a:rPr lang="ru-RU" sz="2400" b="1">
                <a:solidFill>
                  <a:srgbClr val="FFFFFF"/>
                </a:solidFill>
                <a:latin typeface="PT Sans"/>
                <a:sym typeface="PT Sans"/>
              </a:rPr>
              <a:t>Лекция 6</a:t>
            </a:r>
            <a:endParaRPr lang="ru-RU" sz="2400" b="1" dirty="0">
              <a:solidFill>
                <a:srgbClr val="FFFFFF"/>
              </a:solidFill>
              <a:latin typeface="PT Sans"/>
              <a:sym typeface="PT Sans"/>
            </a:endParaRPr>
          </a:p>
          <a:p>
            <a:pPr algn="ctr"/>
            <a:r>
              <a:rPr lang="ru-RU" sz="2400" b="1" dirty="0">
                <a:solidFill>
                  <a:srgbClr val="FFFFFF"/>
                </a:solidFill>
                <a:latin typeface="PT Sans"/>
                <a:sym typeface="PT Sans"/>
              </a:rPr>
              <a:t>Транспортная задача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494" y="0"/>
            <a:ext cx="2907506" cy="200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29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(постановка)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Имеются </a:t>
            </a:r>
            <a:r>
              <a:rPr lang="ru-RU" sz="1200" i="1" dirty="0"/>
              <a:t>m </a:t>
            </a:r>
            <a:r>
              <a:rPr lang="ru-RU" sz="1200" dirty="0"/>
              <a:t>пунктов </a:t>
            </a:r>
            <a:r>
              <a:rPr lang="ru-RU" sz="1200" i="1" dirty="0"/>
              <a:t>A</a:t>
            </a:r>
            <a:r>
              <a:rPr lang="ru-RU" sz="1200" baseline="-25000" dirty="0"/>
              <a:t>1</a:t>
            </a:r>
            <a:r>
              <a:rPr lang="ru-RU" sz="1200" i="1" dirty="0"/>
              <a:t>, . . . , </a:t>
            </a:r>
            <a:r>
              <a:rPr lang="ru-RU" sz="1200" i="1" dirty="0" err="1"/>
              <a:t>A</a:t>
            </a:r>
            <a:r>
              <a:rPr lang="ru-RU" sz="1200" i="1" baseline="-25000" dirty="0" err="1"/>
              <a:t>m</a:t>
            </a:r>
            <a:r>
              <a:rPr lang="ru-RU" sz="1200" i="1" dirty="0"/>
              <a:t> </a:t>
            </a:r>
            <a:r>
              <a:rPr lang="ru-RU" sz="1200" dirty="0"/>
              <a:t>производства некоторого однородного продукта. Их производственные мощности равны </a:t>
            </a:r>
            <a:r>
              <a:rPr lang="ru-RU" sz="1200" i="1" dirty="0"/>
              <a:t>a</a:t>
            </a:r>
            <a:r>
              <a:rPr lang="ru-RU" sz="1200" baseline="-25000" dirty="0"/>
              <a:t>1</a:t>
            </a:r>
            <a:r>
              <a:rPr lang="ru-RU" sz="1200" i="1" dirty="0"/>
              <a:t>, . . . , </a:t>
            </a:r>
            <a:r>
              <a:rPr lang="ru-RU" sz="1200" i="1" dirty="0" err="1"/>
              <a:t>a</a:t>
            </a:r>
            <a:r>
              <a:rPr lang="ru-RU" sz="1200" i="1" baseline="-25000" dirty="0" err="1"/>
              <a:t>m</a:t>
            </a:r>
            <a:r>
              <a:rPr lang="ru-RU" sz="1200" dirty="0"/>
              <a:t>.</a:t>
            </a:r>
          </a:p>
          <a:p>
            <a:r>
              <a:rPr lang="ru-RU" sz="1200" dirty="0"/>
              <a:t>Имеются </a:t>
            </a:r>
            <a:r>
              <a:rPr lang="ru-RU" sz="1200" i="1" dirty="0"/>
              <a:t>n </a:t>
            </a:r>
            <a:r>
              <a:rPr lang="ru-RU" sz="1200" dirty="0"/>
              <a:t>пунктов </a:t>
            </a:r>
            <a:r>
              <a:rPr lang="ru-RU" sz="1200" i="1" dirty="0"/>
              <a:t>B</a:t>
            </a:r>
            <a:r>
              <a:rPr lang="ru-RU" sz="1200" baseline="-25000" dirty="0"/>
              <a:t>1</a:t>
            </a:r>
            <a:r>
              <a:rPr lang="ru-RU" sz="1200" i="1" dirty="0"/>
              <a:t>, . . . , </a:t>
            </a:r>
            <a:r>
              <a:rPr lang="ru-RU" sz="1200" i="1" dirty="0" err="1"/>
              <a:t>B</a:t>
            </a:r>
            <a:r>
              <a:rPr lang="ru-RU" sz="1200" i="1" baseline="-25000" dirty="0" err="1"/>
              <a:t>n</a:t>
            </a:r>
            <a:r>
              <a:rPr lang="ru-RU" sz="1200" i="1" dirty="0"/>
              <a:t> </a:t>
            </a:r>
            <a:r>
              <a:rPr lang="ru-RU" sz="1200" dirty="0"/>
              <a:t>потребления этого продукта с потребностями </a:t>
            </a:r>
            <a:r>
              <a:rPr lang="en-GB" sz="1200" i="1" dirty="0"/>
              <a:t>b</a:t>
            </a:r>
            <a:r>
              <a:rPr lang="en-GB" sz="1200" baseline="-25000" dirty="0"/>
              <a:t>1</a:t>
            </a:r>
            <a:r>
              <a:rPr lang="en-GB" sz="1200" i="1" dirty="0"/>
              <a:t>, . . . , b</a:t>
            </a:r>
            <a:r>
              <a:rPr lang="en-GB" sz="1200" i="1" baseline="-25000" dirty="0"/>
              <a:t>n</a:t>
            </a:r>
            <a:r>
              <a:rPr lang="en-GB" sz="1200" dirty="0"/>
              <a:t>.</a:t>
            </a:r>
          </a:p>
          <a:p>
            <a:r>
              <a:rPr lang="ru-RU" sz="1200" dirty="0"/>
              <a:t>Предполагается, что </a:t>
            </a:r>
          </a:p>
          <a:p>
            <a:endParaRPr lang="ru-RU" sz="1200" i="1" dirty="0"/>
          </a:p>
          <a:p>
            <a:endParaRPr lang="ru-RU" sz="1200" i="1" dirty="0"/>
          </a:p>
          <a:p>
            <a:endParaRPr lang="ru-RU" sz="1200" i="1" dirty="0"/>
          </a:p>
          <a:p>
            <a:r>
              <a:rPr lang="en-GB" sz="1200" dirty="0"/>
              <a:t>– </a:t>
            </a:r>
            <a:r>
              <a:rPr lang="ru-RU" sz="1200" dirty="0"/>
              <a:t>условие баланса.</a:t>
            </a:r>
          </a:p>
          <a:p>
            <a:r>
              <a:rPr lang="ru-RU" sz="1200" dirty="0"/>
              <a:t>Стоимость перевозки единицы продукта из </a:t>
            </a:r>
            <a:r>
              <a:rPr lang="ru-RU" sz="1200" i="1" dirty="0" err="1"/>
              <a:t>A</a:t>
            </a:r>
            <a:r>
              <a:rPr lang="ru-RU" sz="1200" i="1" baseline="-25000" dirty="0" err="1"/>
              <a:t>i</a:t>
            </a:r>
            <a:r>
              <a:rPr lang="ru-RU" sz="1200" i="1" dirty="0"/>
              <a:t> </a:t>
            </a:r>
            <a:r>
              <a:rPr lang="ru-RU" sz="1200" dirty="0"/>
              <a:t>в </a:t>
            </a:r>
            <a:r>
              <a:rPr lang="ru-RU" sz="1200" i="1" dirty="0" err="1"/>
              <a:t>B</a:t>
            </a:r>
            <a:r>
              <a:rPr lang="ru-RU" sz="1200" i="1" baseline="-25000" dirty="0" err="1"/>
              <a:t>j</a:t>
            </a:r>
            <a:r>
              <a:rPr lang="ru-RU" sz="1200" i="1" dirty="0"/>
              <a:t> </a:t>
            </a:r>
            <a:r>
              <a:rPr lang="ru-RU" sz="1200" dirty="0"/>
              <a:t>задается матрицей </a:t>
            </a:r>
            <a:r>
              <a:rPr lang="en-GB" sz="1200" i="1" dirty="0"/>
              <a:t>C </a:t>
            </a:r>
            <a:r>
              <a:rPr lang="en-GB" sz="1200" dirty="0"/>
              <a:t>= (</a:t>
            </a:r>
            <a:r>
              <a:rPr lang="en-GB" sz="1200" i="1" dirty="0" err="1"/>
              <a:t>c</a:t>
            </a:r>
            <a:r>
              <a:rPr lang="en-GB" sz="1200" i="1" baseline="-25000" dirty="0" err="1"/>
              <a:t>ij</a:t>
            </a:r>
            <a:r>
              <a:rPr lang="en-GB" sz="1200" dirty="0"/>
              <a:t>)</a:t>
            </a:r>
            <a:r>
              <a:rPr lang="en-GB" sz="1200" i="1" baseline="-25000" dirty="0" err="1"/>
              <a:t>m×n</a:t>
            </a:r>
            <a:r>
              <a:rPr lang="en-GB" sz="1200" dirty="0"/>
              <a:t>.</a:t>
            </a:r>
          </a:p>
          <a:p>
            <a:endParaRPr lang="ru-RU" sz="1200" dirty="0"/>
          </a:p>
          <a:p>
            <a:r>
              <a:rPr lang="ru-RU" sz="1200" dirty="0"/>
              <a:t>Требуется определить, сколько продукта откуда куда нужно возить, чтобы:</a:t>
            </a:r>
          </a:p>
          <a:p>
            <a:r>
              <a:rPr lang="ru-RU" sz="1200" i="1" dirty="0"/>
              <a:t>• </a:t>
            </a:r>
            <a:r>
              <a:rPr lang="ru-RU" sz="1200" dirty="0"/>
              <a:t>из пунктов производства весь продукт был вывезен;</a:t>
            </a:r>
          </a:p>
          <a:p>
            <a:r>
              <a:rPr lang="ru-RU" sz="1200" i="1" dirty="0"/>
              <a:t>• </a:t>
            </a:r>
            <a:r>
              <a:rPr lang="ru-RU" sz="1200" dirty="0"/>
              <a:t>потребности пунктов потребления были бы удовлетворены;</a:t>
            </a:r>
          </a:p>
          <a:p>
            <a:r>
              <a:rPr lang="ru-RU" sz="1200" i="1" dirty="0"/>
              <a:t>• </a:t>
            </a:r>
            <a:r>
              <a:rPr lang="ru-RU" sz="1200" dirty="0"/>
              <a:t>транспортные издержки были бы минимальны.</a:t>
            </a:r>
            <a:endParaRPr lang="ru-RU" sz="1200" dirty="0"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469" y="1851670"/>
            <a:ext cx="912854" cy="477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0893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(каноническая форма)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Матрицу плана перевозок </a:t>
            </a:r>
            <a:r>
              <a:rPr lang="ru-RU" sz="1200" i="1" dirty="0"/>
              <a:t>X </a:t>
            </a:r>
            <a:r>
              <a:rPr lang="ru-RU" sz="1200" dirty="0"/>
              <a:t>= (</a:t>
            </a:r>
            <a:r>
              <a:rPr lang="ru-RU" sz="1200" i="1" dirty="0" err="1"/>
              <a:t>x</a:t>
            </a:r>
            <a:r>
              <a:rPr lang="ru-RU" sz="1200" i="1" baseline="-25000" dirty="0" err="1"/>
              <a:t>ij</a:t>
            </a:r>
            <a:r>
              <a:rPr lang="ru-RU" sz="1200" dirty="0"/>
              <a:t>)</a:t>
            </a:r>
            <a:r>
              <a:rPr lang="ru-RU" sz="1200" i="1" baseline="-25000" dirty="0" err="1"/>
              <a:t>m×n</a:t>
            </a:r>
            <a:r>
              <a:rPr lang="ru-RU" sz="1200" dirty="0"/>
              <a:t>, где </a:t>
            </a:r>
            <a:r>
              <a:rPr lang="ru-RU" sz="1200" i="1" dirty="0" err="1"/>
              <a:t>x</a:t>
            </a:r>
            <a:r>
              <a:rPr lang="ru-RU" sz="1200" i="1" baseline="-25000" dirty="0" err="1"/>
              <a:t>ij</a:t>
            </a:r>
            <a:r>
              <a:rPr lang="ru-RU" sz="1200" i="1" dirty="0"/>
              <a:t> </a:t>
            </a:r>
            <a:r>
              <a:rPr lang="ru-RU" sz="1200" dirty="0"/>
              <a:t>показывает количество продукта, перевозимого из </a:t>
            </a:r>
            <a:r>
              <a:rPr lang="ru-RU" sz="1200" i="1" dirty="0" err="1"/>
              <a:t>A</a:t>
            </a:r>
            <a:r>
              <a:rPr lang="ru-RU" sz="1200" i="1" baseline="-25000" dirty="0" err="1"/>
              <a:t>i</a:t>
            </a:r>
            <a:r>
              <a:rPr lang="ru-RU" sz="1200" i="1" dirty="0"/>
              <a:t> </a:t>
            </a:r>
            <a:r>
              <a:rPr lang="ru-RU" sz="1200" dirty="0"/>
              <a:t>в </a:t>
            </a:r>
            <a:r>
              <a:rPr lang="ru-RU" sz="1200" i="1" dirty="0" err="1"/>
              <a:t>B</a:t>
            </a:r>
            <a:r>
              <a:rPr lang="ru-RU" sz="1200" i="1" baseline="-25000" dirty="0" err="1"/>
              <a:t>j</a:t>
            </a:r>
            <a:r>
              <a:rPr lang="ru-RU" sz="1200" i="1" dirty="0"/>
              <a:t> </a:t>
            </a:r>
            <a:r>
              <a:rPr lang="ru-RU" sz="1200" dirty="0"/>
              <a:t>.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r>
              <a:rPr lang="ru-RU" sz="1200" dirty="0"/>
              <a:t>Транспортная задача изначально поставлена в канонической форме (</a:t>
            </a:r>
            <a:r>
              <a:rPr lang="ru-RU" sz="1200" i="1" dirty="0" err="1"/>
              <a:t>c</a:t>
            </a:r>
            <a:r>
              <a:rPr lang="ru-RU" sz="1200" i="1" baseline="-25000" dirty="0" err="1"/>
              <a:t>ij</a:t>
            </a:r>
            <a:r>
              <a:rPr lang="ru-RU" sz="1200" i="1" dirty="0"/>
              <a:t>, </a:t>
            </a:r>
            <a:r>
              <a:rPr lang="ru-RU" sz="1200" i="1" dirty="0" err="1"/>
              <a:t>a</a:t>
            </a:r>
            <a:r>
              <a:rPr lang="ru-RU" sz="1200" i="1" baseline="-25000" dirty="0" err="1"/>
              <a:t>i</a:t>
            </a:r>
            <a:r>
              <a:rPr lang="ru-RU" sz="1200" i="1" dirty="0"/>
              <a:t> </a:t>
            </a:r>
            <a:r>
              <a:rPr lang="ru-RU" sz="1200" dirty="0"/>
              <a:t>и </a:t>
            </a:r>
            <a:r>
              <a:rPr lang="ru-RU" sz="1200" i="1" dirty="0" err="1"/>
              <a:t>b</a:t>
            </a:r>
            <a:r>
              <a:rPr lang="ru-RU" sz="1200" i="1" baseline="-25000" dirty="0" err="1"/>
              <a:t>j</a:t>
            </a:r>
            <a:r>
              <a:rPr lang="ru-RU" sz="1200" i="1" dirty="0"/>
              <a:t> </a:t>
            </a:r>
            <a:r>
              <a:rPr lang="ru-RU" sz="1200" dirty="0"/>
              <a:t>мы предполагаем неотрицательными), имеет </a:t>
            </a:r>
            <a:r>
              <a:rPr lang="ru-RU" sz="1200" i="1" dirty="0"/>
              <a:t>m*n </a:t>
            </a:r>
            <a:r>
              <a:rPr lang="ru-RU" sz="1200" dirty="0"/>
              <a:t>переменных и </a:t>
            </a:r>
            <a:r>
              <a:rPr lang="ru-RU" sz="1200" i="1" dirty="0"/>
              <a:t>m </a:t>
            </a:r>
            <a:r>
              <a:rPr lang="ru-RU" sz="1200" dirty="0"/>
              <a:t>+ </a:t>
            </a:r>
            <a:r>
              <a:rPr lang="ru-RU" sz="1200" i="1" dirty="0"/>
              <a:t>n </a:t>
            </a:r>
            <a:r>
              <a:rPr lang="ru-RU" sz="1200" dirty="0"/>
              <a:t>ограничений</a:t>
            </a:r>
            <a:endParaRPr lang="ru-RU" sz="1200" dirty="0">
              <a:latin typeface="+mj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993" y="1367672"/>
            <a:ext cx="2185789" cy="575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028" y="1971172"/>
            <a:ext cx="2016224" cy="1376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5656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(пример)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594830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 городе, имеющем прямоугольную планировку улиц расположены два склада </a:t>
            </a:r>
            <a:r>
              <a:rPr lang="ru-RU" sz="1200" i="1" dirty="0"/>
              <a:t>A</a:t>
            </a:r>
            <a:r>
              <a:rPr lang="ru-RU" sz="1200" baseline="-25000" dirty="0"/>
              <a:t>1</a:t>
            </a:r>
            <a:r>
              <a:rPr lang="ru-RU" sz="1200" dirty="0"/>
              <a:t> и </a:t>
            </a:r>
            <a:r>
              <a:rPr lang="ru-RU" sz="1200" i="1" dirty="0"/>
              <a:t>A</a:t>
            </a:r>
            <a:r>
              <a:rPr lang="ru-RU" sz="1200" baseline="-25000" dirty="0"/>
              <a:t>2</a:t>
            </a:r>
            <a:r>
              <a:rPr lang="ru-RU" sz="1200" dirty="0"/>
              <a:t> некоторого товара (на рисунке обозначены квадратиками) и три магазина </a:t>
            </a:r>
            <a:r>
              <a:rPr lang="ru-RU" sz="1200" i="1" dirty="0"/>
              <a:t>B</a:t>
            </a:r>
            <a:r>
              <a:rPr lang="ru-RU" sz="1200" baseline="-25000" dirty="0"/>
              <a:t>1</a:t>
            </a:r>
            <a:r>
              <a:rPr lang="ru-RU" sz="1200" i="1" dirty="0"/>
              <a:t>,B</a:t>
            </a:r>
            <a:r>
              <a:rPr lang="ru-RU" sz="1200" baseline="-25000" dirty="0"/>
              <a:t>2</a:t>
            </a:r>
            <a:r>
              <a:rPr lang="ru-RU" sz="1200" i="1" dirty="0"/>
              <a:t>,B</a:t>
            </a:r>
            <a:r>
              <a:rPr lang="ru-RU" sz="1200" baseline="-25000" dirty="0"/>
              <a:t>3 </a:t>
            </a:r>
            <a:r>
              <a:rPr lang="ru-RU" sz="1200" dirty="0"/>
              <a:t>(обозначены кружками).</a:t>
            </a:r>
          </a:p>
          <a:p>
            <a:r>
              <a:rPr lang="ru-RU" sz="1200" dirty="0"/>
              <a:t>Запасы товара на складах </a:t>
            </a:r>
            <a:r>
              <a:rPr lang="ru-RU" sz="1200" i="1" dirty="0"/>
              <a:t>a</a:t>
            </a:r>
            <a:r>
              <a:rPr lang="ru-RU" sz="1200" baseline="-25000" dirty="0"/>
              <a:t>1</a:t>
            </a:r>
            <a:r>
              <a:rPr lang="ru-RU" sz="1200" dirty="0"/>
              <a:t> = 5</a:t>
            </a:r>
            <a:r>
              <a:rPr lang="ru-RU" sz="1200" i="1" dirty="0"/>
              <a:t>, a</a:t>
            </a:r>
            <a:r>
              <a:rPr lang="ru-RU" sz="1200" baseline="-25000" dirty="0"/>
              <a:t>2</a:t>
            </a:r>
            <a:r>
              <a:rPr lang="ru-RU" sz="1200" dirty="0"/>
              <a:t> = 7, потребности магазинов </a:t>
            </a:r>
            <a:r>
              <a:rPr lang="ru-RU" sz="1200" i="1" dirty="0"/>
              <a:t>b</a:t>
            </a:r>
            <a:r>
              <a:rPr lang="ru-RU" sz="1200" baseline="-25000" dirty="0"/>
              <a:t>1</a:t>
            </a:r>
            <a:r>
              <a:rPr lang="ru-RU" sz="1200" dirty="0"/>
              <a:t> = 2</a:t>
            </a:r>
            <a:r>
              <a:rPr lang="ru-RU" sz="1200" i="1" dirty="0"/>
              <a:t>, b</a:t>
            </a:r>
            <a:r>
              <a:rPr lang="ru-RU" sz="1200" baseline="-25000" dirty="0"/>
              <a:t>2</a:t>
            </a:r>
            <a:r>
              <a:rPr lang="ru-RU" sz="1200" dirty="0"/>
              <a:t> = 4</a:t>
            </a:r>
            <a:r>
              <a:rPr lang="ru-RU" sz="1200" i="1" dirty="0"/>
              <a:t>, b</a:t>
            </a:r>
            <a:r>
              <a:rPr lang="ru-RU" sz="1200" baseline="-25000" dirty="0"/>
              <a:t>3</a:t>
            </a:r>
            <a:r>
              <a:rPr lang="ru-RU" sz="1200" dirty="0"/>
              <a:t> = 6. Задача, как видим, сбалансирована:</a:t>
            </a:r>
          </a:p>
          <a:p>
            <a:endParaRPr lang="ru-RU" sz="1200" dirty="0"/>
          </a:p>
          <a:p>
            <a:endParaRPr lang="ru-RU" sz="1200" dirty="0"/>
          </a:p>
          <a:p>
            <a:r>
              <a:rPr lang="ru-RU" sz="1200" dirty="0"/>
              <a:t>Стоимость перевозки = длине пути, измеряемой количеством кварталов, разделяющих склад и магазин (</a:t>
            </a:r>
            <a:r>
              <a:rPr lang="ru-RU" sz="1200" dirty="0">
                <a:solidFill>
                  <a:srgbClr val="FF0000"/>
                </a:solidFill>
              </a:rPr>
              <a:t>расстояние по </a:t>
            </a:r>
            <a:r>
              <a:rPr lang="ru-RU" sz="1200" dirty="0" err="1">
                <a:solidFill>
                  <a:srgbClr val="FF0000"/>
                </a:solidFill>
              </a:rPr>
              <a:t>Манхэттэну</a:t>
            </a:r>
            <a:r>
              <a:rPr lang="ru-RU" sz="1200" dirty="0"/>
              <a:t>).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236" y="1047899"/>
            <a:ext cx="1832112" cy="1481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885" y="2043214"/>
            <a:ext cx="1376395" cy="2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926" y="2859782"/>
            <a:ext cx="2808313" cy="58004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656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(пример)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594830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 городе, имеющем прямоугольную планировку улиц расположены два склада </a:t>
            </a:r>
            <a:r>
              <a:rPr lang="ru-RU" sz="1200" i="1" dirty="0"/>
              <a:t>A</a:t>
            </a:r>
            <a:r>
              <a:rPr lang="ru-RU" sz="1200" baseline="-25000" dirty="0"/>
              <a:t>1</a:t>
            </a:r>
            <a:r>
              <a:rPr lang="ru-RU" sz="1200" dirty="0"/>
              <a:t> и </a:t>
            </a:r>
            <a:r>
              <a:rPr lang="ru-RU" sz="1200" i="1" dirty="0"/>
              <a:t>A</a:t>
            </a:r>
            <a:r>
              <a:rPr lang="ru-RU" sz="1200" baseline="-25000" dirty="0"/>
              <a:t>2</a:t>
            </a:r>
            <a:r>
              <a:rPr lang="ru-RU" sz="1200" dirty="0"/>
              <a:t> некоторого товара (на рисунке обозначены квадратиками) и три магазина </a:t>
            </a:r>
            <a:r>
              <a:rPr lang="ru-RU" sz="1200" i="1" dirty="0"/>
              <a:t>B</a:t>
            </a:r>
            <a:r>
              <a:rPr lang="ru-RU" sz="1200" baseline="-25000" dirty="0"/>
              <a:t>1</a:t>
            </a:r>
            <a:r>
              <a:rPr lang="ru-RU" sz="1200" i="1" dirty="0"/>
              <a:t>,B</a:t>
            </a:r>
            <a:r>
              <a:rPr lang="ru-RU" sz="1200" baseline="-25000" dirty="0"/>
              <a:t>2</a:t>
            </a:r>
            <a:r>
              <a:rPr lang="ru-RU" sz="1200" i="1" dirty="0"/>
              <a:t>,B</a:t>
            </a:r>
            <a:r>
              <a:rPr lang="ru-RU" sz="1200" baseline="-25000" dirty="0"/>
              <a:t>3 </a:t>
            </a:r>
            <a:r>
              <a:rPr lang="ru-RU" sz="1200" dirty="0"/>
              <a:t>(обозначены кружками).</a:t>
            </a:r>
          </a:p>
          <a:p>
            <a:r>
              <a:rPr lang="ru-RU" sz="1200" dirty="0"/>
              <a:t>Запасы товара на складах </a:t>
            </a:r>
            <a:r>
              <a:rPr lang="ru-RU" sz="1200" i="1" dirty="0"/>
              <a:t>a</a:t>
            </a:r>
            <a:r>
              <a:rPr lang="ru-RU" sz="1200" baseline="-25000" dirty="0"/>
              <a:t>1</a:t>
            </a:r>
            <a:r>
              <a:rPr lang="ru-RU" sz="1200" dirty="0"/>
              <a:t> = 5</a:t>
            </a:r>
            <a:r>
              <a:rPr lang="ru-RU" sz="1200" i="1" dirty="0"/>
              <a:t>, a</a:t>
            </a:r>
            <a:r>
              <a:rPr lang="ru-RU" sz="1200" baseline="-25000" dirty="0"/>
              <a:t>2</a:t>
            </a:r>
            <a:r>
              <a:rPr lang="ru-RU" sz="1200" dirty="0"/>
              <a:t> = 7, потребности магазинов </a:t>
            </a:r>
            <a:r>
              <a:rPr lang="ru-RU" sz="1200" i="1" dirty="0"/>
              <a:t>b</a:t>
            </a:r>
            <a:r>
              <a:rPr lang="ru-RU" sz="1200" baseline="-25000" dirty="0"/>
              <a:t>1</a:t>
            </a:r>
            <a:r>
              <a:rPr lang="ru-RU" sz="1200" dirty="0"/>
              <a:t> = 2</a:t>
            </a:r>
            <a:r>
              <a:rPr lang="ru-RU" sz="1200" i="1" dirty="0"/>
              <a:t>, b</a:t>
            </a:r>
            <a:r>
              <a:rPr lang="ru-RU" sz="1200" baseline="-25000" dirty="0"/>
              <a:t>2</a:t>
            </a:r>
            <a:r>
              <a:rPr lang="ru-RU" sz="1200" dirty="0"/>
              <a:t> = 4</a:t>
            </a:r>
            <a:r>
              <a:rPr lang="ru-RU" sz="1200" i="1" dirty="0"/>
              <a:t>, b</a:t>
            </a:r>
            <a:r>
              <a:rPr lang="ru-RU" sz="1200" baseline="-25000" dirty="0"/>
              <a:t>3</a:t>
            </a:r>
            <a:r>
              <a:rPr lang="ru-RU" sz="1200" dirty="0"/>
              <a:t> = 6. Задача, как видим, сбалансирована:</a:t>
            </a:r>
          </a:p>
          <a:p>
            <a:endParaRPr lang="ru-RU" sz="1200" dirty="0"/>
          </a:p>
          <a:p>
            <a:endParaRPr lang="ru-RU" sz="1200" dirty="0"/>
          </a:p>
          <a:p>
            <a:r>
              <a:rPr lang="ru-RU" sz="1200" dirty="0"/>
              <a:t>Стоимость перевозки = длине пути, измеряемой количеством кварталов, разделяющих склад и магазин (</a:t>
            </a:r>
            <a:r>
              <a:rPr lang="ru-RU" sz="1200" dirty="0">
                <a:solidFill>
                  <a:srgbClr val="FF0000"/>
                </a:solidFill>
              </a:rPr>
              <a:t>расстояние по </a:t>
            </a:r>
            <a:r>
              <a:rPr lang="ru-RU" sz="1200" dirty="0" err="1">
                <a:solidFill>
                  <a:srgbClr val="FF0000"/>
                </a:solidFill>
              </a:rPr>
              <a:t>Манхэттэну</a:t>
            </a:r>
            <a:r>
              <a:rPr lang="ru-RU" sz="1200" dirty="0"/>
              <a:t>).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236" y="1047899"/>
            <a:ext cx="1832112" cy="1481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885" y="2043214"/>
            <a:ext cx="1376395" cy="2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920184"/>
            <a:ext cx="2808313" cy="58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593" y="2902725"/>
            <a:ext cx="3774182" cy="1479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4591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(несбалансированная задача)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Как быть, если условие баланса не выполняется. В этом случае производится принудительная балансировка транспортной задачи.</a:t>
            </a:r>
          </a:p>
          <a:p>
            <a:endParaRPr lang="ru-RU" sz="1200" dirty="0">
              <a:latin typeface="+mj-lt"/>
            </a:endParaRPr>
          </a:p>
          <a:p>
            <a:pPr marL="228600" indent="-228600">
              <a:buAutoNum type="arabicPeriod"/>
            </a:pPr>
            <a:r>
              <a:rPr lang="ru-RU" sz="1200" dirty="0">
                <a:latin typeface="+mj-lt"/>
              </a:rPr>
              <a:t>Если объем производства больше объема потребления, то вводится фиктивный пункт потребления B</a:t>
            </a:r>
            <a:r>
              <a:rPr lang="ru-RU" sz="1200" baseline="-25000" dirty="0">
                <a:latin typeface="+mj-lt"/>
              </a:rPr>
              <a:t>n+1</a:t>
            </a:r>
            <a:r>
              <a:rPr lang="ru-RU" sz="1200" dirty="0">
                <a:latin typeface="+mj-lt"/>
              </a:rPr>
              <a:t> (нечто вроде свалки), потребность которого равна дисбалансу, </a:t>
            </a:r>
            <a:r>
              <a:rPr lang="ru-RU" sz="1200" dirty="0"/>
              <a:t>а перевозки туда бесплатны: </a:t>
            </a:r>
            <a:r>
              <a:rPr lang="ru-RU" sz="1200" i="1" dirty="0"/>
              <a:t>c</a:t>
            </a:r>
            <a:r>
              <a:rPr lang="ru-RU" sz="1200" i="1" baseline="-25000" dirty="0"/>
              <a:t>i,n</a:t>
            </a:r>
            <a:r>
              <a:rPr lang="ru-RU" sz="1200" baseline="-25000" dirty="0"/>
              <a:t>+1</a:t>
            </a:r>
            <a:r>
              <a:rPr lang="ru-RU" sz="1200" dirty="0"/>
              <a:t> = 0</a:t>
            </a:r>
            <a:r>
              <a:rPr lang="ru-RU" sz="1200" i="1" dirty="0"/>
              <a:t>, i </a:t>
            </a:r>
            <a:r>
              <a:rPr lang="ru-RU" sz="1200" dirty="0"/>
              <a:t>= 1</a:t>
            </a:r>
            <a:r>
              <a:rPr lang="ru-RU" sz="1200" i="1" dirty="0"/>
              <a:t>, . . . , m</a:t>
            </a:r>
            <a:r>
              <a:rPr lang="ru-RU" sz="1200" dirty="0"/>
              <a:t>.</a:t>
            </a:r>
          </a:p>
          <a:p>
            <a:pPr marL="228600" indent="-228600">
              <a:buAutoNum type="arabicPeriod"/>
            </a:pPr>
            <a:endParaRPr lang="ru-RU" sz="1200" dirty="0">
              <a:latin typeface="+mj-lt"/>
            </a:endParaRPr>
          </a:p>
          <a:p>
            <a:pPr marL="228600" indent="-228600">
              <a:buAutoNum type="arabicPeriod"/>
            </a:pPr>
            <a:endParaRPr lang="ru-RU" sz="1200" dirty="0">
              <a:latin typeface="+mj-lt"/>
            </a:endParaRPr>
          </a:p>
          <a:p>
            <a:pPr marL="228600" indent="-228600">
              <a:buAutoNum type="arabicPeriod"/>
            </a:pPr>
            <a:endParaRPr lang="ru-RU" sz="1200" dirty="0">
              <a:latin typeface="+mj-lt"/>
            </a:endParaRPr>
          </a:p>
          <a:p>
            <a:pPr marL="228600" indent="-228600">
              <a:buAutoNum type="arabicPeriod"/>
            </a:pPr>
            <a:endParaRPr lang="ru-RU" sz="1200" dirty="0">
              <a:latin typeface="+mj-lt"/>
            </a:endParaRPr>
          </a:p>
          <a:p>
            <a:pPr marL="228600" indent="-228600">
              <a:buAutoNum type="arabicPeriod"/>
            </a:pPr>
            <a:r>
              <a:rPr lang="ru-RU" sz="1200" dirty="0">
                <a:latin typeface="+mj-lt"/>
              </a:rPr>
              <a:t>Если объем производства меньше объема потребления, то формальная балансировка невозможна, так как производимого продукта все равно не хватит. Можно, конечно, ввести штрафы за недопоставку, но это будет уже другая задача.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281" y="2049326"/>
            <a:ext cx="1463229" cy="528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5656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(свойства)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Свойство 1 (разрешимость). </a:t>
            </a:r>
            <a:r>
              <a:rPr lang="ru-RU" sz="1200" i="1" dirty="0"/>
              <a:t>Сбалансированная транспортная задача всегда имеет решение.</a:t>
            </a:r>
          </a:p>
          <a:p>
            <a:endParaRPr lang="ru-RU" sz="1200" i="1" dirty="0"/>
          </a:p>
          <a:p>
            <a:r>
              <a:rPr lang="ru-RU" sz="1200" dirty="0">
                <a:latin typeface="+mj-lt"/>
              </a:rPr>
              <a:t>Свойство 2 (размерность). Ранг матрицы условий равен m + n − 1, т. е. опорные планы транспортной задачи могут со-</a:t>
            </a:r>
          </a:p>
          <a:p>
            <a:r>
              <a:rPr lang="ru-RU" sz="1200" dirty="0">
                <a:latin typeface="+mj-lt"/>
              </a:rPr>
              <a:t>держать не более m + n − 1 ненулевых компонент.</a:t>
            </a:r>
          </a:p>
          <a:p>
            <a:endParaRPr lang="ru-RU" sz="1200" dirty="0">
              <a:latin typeface="+mj-lt"/>
            </a:endParaRPr>
          </a:p>
          <a:p>
            <a:r>
              <a:rPr lang="ru-RU" sz="1200" dirty="0"/>
              <a:t>Свойство 3 (</a:t>
            </a:r>
            <a:r>
              <a:rPr lang="ru-RU" sz="1200" dirty="0" err="1"/>
              <a:t>целочисленность</a:t>
            </a:r>
            <a:r>
              <a:rPr lang="ru-RU" sz="1200" dirty="0"/>
              <a:t>). </a:t>
            </a:r>
            <a:r>
              <a:rPr lang="ru-RU" sz="1200" i="1" dirty="0"/>
              <a:t>Если объемы производства и потребления </a:t>
            </a:r>
            <a:r>
              <a:rPr lang="ru-RU" sz="1200" i="1" dirty="0" err="1"/>
              <a:t>целочисленны</a:t>
            </a:r>
            <a:r>
              <a:rPr lang="ru-RU" sz="1200" i="1" dirty="0"/>
              <a:t> или кратны Q, то все опорные планы транспортной задачи, в том числе оптимальный план, также </a:t>
            </a:r>
            <a:r>
              <a:rPr lang="ru-RU" sz="1200" i="1" dirty="0" err="1"/>
              <a:t>целочисленны</a:t>
            </a:r>
            <a:r>
              <a:rPr lang="ru-RU" sz="1200" i="1" dirty="0"/>
              <a:t> или кратны Q.</a:t>
            </a:r>
          </a:p>
          <a:p>
            <a:endParaRPr lang="ru-RU" sz="1200" i="1" dirty="0">
              <a:latin typeface="+mj-lt"/>
            </a:endParaRPr>
          </a:p>
          <a:p>
            <a:r>
              <a:rPr lang="ru-RU" sz="1200" dirty="0"/>
              <a:t>Опираясь на эти свойства, можно адаптировать симплексный метод таким образом, чтобы эти свойства учитывались в наибольшей степени.</a:t>
            </a:r>
          </a:p>
          <a:p>
            <a:r>
              <a:rPr lang="ru-RU" sz="1200" dirty="0"/>
              <a:t>Общая схема метода остается прежней: </a:t>
            </a:r>
          </a:p>
          <a:p>
            <a:r>
              <a:rPr lang="ru-RU" sz="1200" dirty="0"/>
              <a:t>- строится исходный базис и соответствующий ему опорный план</a:t>
            </a:r>
          </a:p>
          <a:p>
            <a:r>
              <a:rPr lang="ru-RU" sz="1200" dirty="0"/>
              <a:t>- затем проводятся итерации до тех пор, пока не будет найдено оптимальное решение</a:t>
            </a:r>
          </a:p>
          <a:p>
            <a:r>
              <a:rPr lang="ru-RU" sz="1200" dirty="0"/>
              <a:t>- на каждой итерации текущий план проверяется на оптимальность, определяются векторы, включаемые и исключаемые из базиса, и производится преобразование плана перевозок по правилу </a:t>
            </a:r>
            <a:r>
              <a:rPr lang="ru-RU" sz="1200" dirty="0" err="1"/>
              <a:t>Жордана</a:t>
            </a:r>
            <a:r>
              <a:rPr lang="ru-RU" sz="1200" dirty="0"/>
              <a:t>.</a:t>
            </a:r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5656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(построение опорного плана)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558878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Метод северо-западного угла:</a:t>
            </a:r>
          </a:p>
          <a:p>
            <a:r>
              <a:rPr lang="ru-RU" sz="1200" dirty="0"/>
              <a:t>Сначала построим пустую матрицу плана перевозок </a:t>
            </a:r>
            <a:r>
              <a:rPr lang="ru-RU" sz="1200" i="1" dirty="0"/>
              <a:t>X </a:t>
            </a:r>
            <a:r>
              <a:rPr lang="ru-RU" sz="1200" dirty="0"/>
              <a:t>= (</a:t>
            </a:r>
            <a:r>
              <a:rPr lang="ru-RU" sz="1200" i="1" dirty="0" err="1"/>
              <a:t>x</a:t>
            </a:r>
            <a:r>
              <a:rPr lang="ru-RU" sz="1200" i="1" baseline="-25000" dirty="0" err="1"/>
              <a:t>ij</a:t>
            </a:r>
            <a:r>
              <a:rPr lang="ru-RU" sz="1200" dirty="0"/>
              <a:t>)</a:t>
            </a:r>
            <a:r>
              <a:rPr lang="ru-RU" sz="1200" i="1" baseline="-25000" dirty="0" err="1"/>
              <a:t>m×n</a:t>
            </a:r>
            <a:r>
              <a:rPr lang="ru-RU" sz="1200" i="1" dirty="0"/>
              <a:t> </a:t>
            </a:r>
            <a:r>
              <a:rPr lang="ru-RU" sz="1200" dirty="0"/>
              <a:t>нужной размерности (2</a:t>
            </a:r>
            <a:r>
              <a:rPr lang="ru-RU" sz="1200" i="1" dirty="0"/>
              <a:t>×</a:t>
            </a:r>
            <a:r>
              <a:rPr lang="ru-RU" sz="1200" dirty="0"/>
              <a:t>3), к которой справа и снизу приписаны объемы производства и потребления. Для любого плана суммы </a:t>
            </a:r>
            <a:r>
              <a:rPr lang="ru-RU" sz="1200" dirty="0" err="1"/>
              <a:t>построкам</a:t>
            </a:r>
            <a:r>
              <a:rPr lang="ru-RU" sz="1200" dirty="0"/>
              <a:t> и столбцам должны быть равны этим числам.</a:t>
            </a:r>
          </a:p>
          <a:p>
            <a:r>
              <a:rPr lang="ru-RU" sz="1200" dirty="0"/>
              <a:t>Ищем северо-западную незаполненную клетку (сейчас это будет элемент </a:t>
            </a:r>
            <a:r>
              <a:rPr lang="ru-RU" sz="1200" i="1" dirty="0"/>
              <a:t>x</a:t>
            </a:r>
            <a:r>
              <a:rPr lang="ru-RU" sz="1200" baseline="-25000" dirty="0"/>
              <a:t>11</a:t>
            </a:r>
            <a:r>
              <a:rPr lang="ru-RU" sz="1200" dirty="0"/>
              <a:t>) и записываем туда </a:t>
            </a:r>
            <a:r>
              <a:rPr lang="ru-RU" sz="1200" i="1" dirty="0"/>
              <a:t>x</a:t>
            </a:r>
            <a:r>
              <a:rPr lang="ru-RU" sz="1200" baseline="-25000" dirty="0"/>
              <a:t>11</a:t>
            </a:r>
            <a:r>
              <a:rPr lang="ru-RU" sz="1200" dirty="0"/>
              <a:t> = </a:t>
            </a:r>
            <a:r>
              <a:rPr lang="ru-RU" sz="1200" dirty="0" err="1"/>
              <a:t>min</a:t>
            </a:r>
            <a:r>
              <a:rPr lang="ru-RU" sz="1200" dirty="0"/>
              <a:t>(</a:t>
            </a:r>
            <a:r>
              <a:rPr lang="ru-RU" sz="1200" i="1" dirty="0"/>
              <a:t>a</a:t>
            </a:r>
            <a:r>
              <a:rPr lang="ru-RU" sz="1200" baseline="-25000" dirty="0"/>
              <a:t>1</a:t>
            </a:r>
            <a:r>
              <a:rPr lang="ru-RU" sz="1200" i="1" dirty="0"/>
              <a:t>, b</a:t>
            </a:r>
            <a:r>
              <a:rPr lang="ru-RU" sz="1200" baseline="-25000" dirty="0"/>
              <a:t>1</a:t>
            </a:r>
            <a:r>
              <a:rPr lang="ru-RU" sz="1200" dirty="0"/>
              <a:t>) = </a:t>
            </a:r>
            <a:r>
              <a:rPr lang="ru-RU" sz="1200" dirty="0" err="1"/>
              <a:t>min</a:t>
            </a:r>
            <a:r>
              <a:rPr lang="ru-RU" sz="1200" dirty="0"/>
              <a:t>(2</a:t>
            </a:r>
            <a:r>
              <a:rPr lang="ru-RU" sz="1200" i="1" dirty="0"/>
              <a:t>, </a:t>
            </a:r>
            <a:r>
              <a:rPr lang="ru-RU" sz="1200" dirty="0"/>
              <a:t>5) = 2, после чего заполняем нулями ту строку или тот столбец, которая или который соответствуют минимуму. Сейчас это будет первый столбец. Далее корректируем объемы производства и потребления с учетом запланированной перевозки. </a:t>
            </a:r>
          </a:p>
          <a:p>
            <a:r>
              <a:rPr lang="ru-RU" sz="1200" dirty="0"/>
              <a:t>Снова ищем северо-западный незаполненный угол и заполняем клетку </a:t>
            </a:r>
          </a:p>
          <a:p>
            <a:r>
              <a:rPr lang="ru-RU" sz="1200" i="1" dirty="0"/>
              <a:t>x</a:t>
            </a:r>
            <a:r>
              <a:rPr lang="ru-RU" sz="1200" baseline="-25000" dirty="0"/>
              <a:t>12</a:t>
            </a:r>
            <a:r>
              <a:rPr lang="ru-RU" sz="1200" dirty="0"/>
              <a:t> = </a:t>
            </a:r>
            <a:r>
              <a:rPr lang="ru-RU" sz="1200" dirty="0" err="1"/>
              <a:t>min</a:t>
            </a:r>
            <a:r>
              <a:rPr lang="ru-RU" sz="1200" dirty="0"/>
              <a:t>(3</a:t>
            </a:r>
            <a:r>
              <a:rPr lang="ru-RU" sz="1200" i="1" dirty="0"/>
              <a:t>, </a:t>
            </a:r>
            <a:r>
              <a:rPr lang="ru-RU" sz="1200" dirty="0"/>
              <a:t>4) = 3</a:t>
            </a:r>
          </a:p>
          <a:p>
            <a:r>
              <a:rPr lang="ru-RU" sz="1200" dirty="0"/>
              <a:t>Продолжая эту процедуру до конца, получаем план. </a:t>
            </a:r>
            <a:r>
              <a:rPr lang="ru-RU" sz="1200" dirty="0">
                <a:solidFill>
                  <a:srgbClr val="FF0000"/>
                </a:solidFill>
              </a:rPr>
              <a:t>План – граф без циклов.</a:t>
            </a:r>
            <a:endParaRPr lang="ru-RU" sz="12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719" y="923320"/>
            <a:ext cx="2286412" cy="769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719" y="1703146"/>
            <a:ext cx="2145977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563" y="2571750"/>
            <a:ext cx="2090287" cy="905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413489"/>
            <a:ext cx="1983351" cy="502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548358"/>
            <a:ext cx="1587576" cy="107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636" y="4011910"/>
            <a:ext cx="4337431" cy="569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5656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(метод минимального элемента)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Метод северо-западного угла имеет тот недостаток, что при заполнении очередной клетки в матрице перевозок никак не учитывается ее стоимость, поэтому построенный опорный план может оказаться далеким от оптимального.</a:t>
            </a:r>
          </a:p>
          <a:p>
            <a:r>
              <a:rPr lang="ru-RU" sz="1200" dirty="0"/>
              <a:t>В методе минимального элемента вся схема построения опорного плана сохраняется, только на каждой итерации ищется не северо-западный, а минимальный по стоимости перевозок элемент.</a:t>
            </a:r>
          </a:p>
          <a:p>
            <a:r>
              <a:rPr lang="ru-RU" sz="1200" dirty="0"/>
              <a:t>Если применить этот метод к нашему примеру, получится следующий план:</a:t>
            </a:r>
            <a:endParaRPr lang="ru-RU" sz="1200" dirty="0">
              <a:latin typeface="+mj-lt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940" y="2322292"/>
            <a:ext cx="1800200" cy="4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773" y="2283968"/>
            <a:ext cx="1936528" cy="57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5656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(вырожденность)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880" y="987574"/>
            <a:ext cx="558878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Рассматривая симплексный метод, мы отмечали, что вырожденность опорных планов, когда число ненулевых компонент меньше ранга матрицы условий, является неприятным явлением, способным привести к зацикливанию алгоритма.</a:t>
            </a:r>
          </a:p>
          <a:p>
            <a:r>
              <a:rPr lang="ru-RU" sz="1200" dirty="0"/>
              <a:t>Мы отмечали, что в общей задаче линейного программирования вырожденность встречается очень редко. В транспортной же задаче, наоборот, вырожденность является скорее правилом, нежели исключением.</a:t>
            </a:r>
          </a:p>
          <a:p>
            <a:r>
              <a:rPr lang="ru-RU" sz="1200" dirty="0"/>
              <a:t>Рассмотрим ту же задачу, но перераспределив объемы запасов на складах: </a:t>
            </a:r>
            <a:r>
              <a:rPr lang="ru-RU" sz="1200" i="1" dirty="0"/>
              <a:t>a</a:t>
            </a:r>
            <a:r>
              <a:rPr lang="ru-RU" sz="1200" baseline="-25000" dirty="0"/>
              <a:t>1</a:t>
            </a:r>
            <a:r>
              <a:rPr lang="ru-RU" sz="1200" dirty="0"/>
              <a:t> = 6</a:t>
            </a:r>
            <a:r>
              <a:rPr lang="ru-RU" sz="1200" i="1" dirty="0"/>
              <a:t>, a</a:t>
            </a:r>
            <a:r>
              <a:rPr lang="ru-RU" sz="1200" baseline="-25000" dirty="0"/>
              <a:t>2</a:t>
            </a:r>
            <a:r>
              <a:rPr lang="ru-RU" sz="1200" dirty="0"/>
              <a:t> = 6 и оставив объемы потребления прежними, так что условие баланса сохраняется. </a:t>
            </a:r>
          </a:p>
          <a:p>
            <a:endParaRPr lang="ru-RU" sz="1200" dirty="0"/>
          </a:p>
          <a:p>
            <a:r>
              <a:rPr lang="ru-RU" sz="1200" dirty="0"/>
              <a:t>Строим для этого случая опорный план методом северо-западного угла.</a:t>
            </a:r>
          </a:p>
          <a:p>
            <a:r>
              <a:rPr lang="ru-RU" sz="1200" dirty="0"/>
              <a:t>Это приводит к </a:t>
            </a:r>
            <a:r>
              <a:rPr lang="ru-RU" sz="1200" dirty="0" err="1"/>
              <a:t>выпаданию</a:t>
            </a:r>
            <a:r>
              <a:rPr lang="ru-RU" sz="1200" dirty="0"/>
              <a:t> одной ненулевой компоненты, в результате построенный план оказывается вырожденным.</a:t>
            </a:r>
            <a:endParaRPr lang="ru-RU" sz="1200" dirty="0">
              <a:latin typeface="+mj-lt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719" y="923320"/>
            <a:ext cx="2286412" cy="769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720" y="1672139"/>
            <a:ext cx="2168370" cy="971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181" y="2609343"/>
            <a:ext cx="2345672" cy="92897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3629299"/>
            <a:ext cx="1216323" cy="599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98" y="3426650"/>
            <a:ext cx="1711016" cy="117218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6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4" y="3459602"/>
            <a:ext cx="1682151" cy="1139235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656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(вырожденность)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880" y="987574"/>
            <a:ext cx="558878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Рассматривая симплексный метод, мы отмечали, что вырожденность опорных планов, когда число ненулевых компонент меньше ранга матрицы условий, является неприятным явлением, способным привести к зацикливанию алгоритма.</a:t>
            </a:r>
          </a:p>
          <a:p>
            <a:r>
              <a:rPr lang="ru-RU" sz="1200" dirty="0"/>
              <a:t>Мы отмечали, что в общей задаче линейного программирования вырожденность встречается очень редко. В транспортной же задаче, наоборот, вырожденность является скорее правилом, нежели исключением.</a:t>
            </a:r>
          </a:p>
          <a:p>
            <a:r>
              <a:rPr lang="ru-RU" sz="1200" dirty="0"/>
              <a:t>Рассмотрим ту же задачу, но перераспределив объемы запасов на складах: </a:t>
            </a:r>
            <a:r>
              <a:rPr lang="ru-RU" sz="1200" i="1" dirty="0"/>
              <a:t>a</a:t>
            </a:r>
            <a:r>
              <a:rPr lang="ru-RU" sz="1200" baseline="-25000" dirty="0"/>
              <a:t>1</a:t>
            </a:r>
            <a:r>
              <a:rPr lang="ru-RU" sz="1200" dirty="0"/>
              <a:t> = 6</a:t>
            </a:r>
            <a:r>
              <a:rPr lang="ru-RU" sz="1200" i="1" dirty="0"/>
              <a:t>, a</a:t>
            </a:r>
            <a:r>
              <a:rPr lang="ru-RU" sz="1200" baseline="-25000" dirty="0"/>
              <a:t>2</a:t>
            </a:r>
            <a:r>
              <a:rPr lang="ru-RU" sz="1200" dirty="0"/>
              <a:t> = 6 и оставив объемы потребления прежними, так что условие баланса сохраняется. </a:t>
            </a:r>
          </a:p>
          <a:p>
            <a:endParaRPr lang="ru-RU" sz="1200" dirty="0"/>
          </a:p>
          <a:p>
            <a:r>
              <a:rPr lang="ru-RU" sz="1200" dirty="0"/>
              <a:t>Строим для этого случая опорный план методом северо-западного угла.</a:t>
            </a:r>
          </a:p>
          <a:p>
            <a:r>
              <a:rPr lang="ru-RU" sz="1200" dirty="0"/>
              <a:t>Это приводит к </a:t>
            </a:r>
            <a:r>
              <a:rPr lang="ru-RU" sz="1200" dirty="0" err="1"/>
              <a:t>выпаданию</a:t>
            </a:r>
            <a:r>
              <a:rPr lang="ru-RU" sz="1200" dirty="0"/>
              <a:t> одной ненулевой компоненты, в результате построенный план оказывается вырожденным.</a:t>
            </a:r>
            <a:endParaRPr lang="ru-RU" sz="1200" dirty="0">
              <a:latin typeface="+mj-lt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719" y="923320"/>
            <a:ext cx="2286412" cy="769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720" y="1672139"/>
            <a:ext cx="2168370" cy="971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181" y="2609343"/>
            <a:ext cx="2345672" cy="92897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3629299"/>
            <a:ext cx="1216323" cy="599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98" y="3426650"/>
            <a:ext cx="1711016" cy="117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117159" y="3597245"/>
            <a:ext cx="33877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Так как </a:t>
            </a:r>
            <a:r>
              <a:rPr lang="ru-RU" sz="1200" i="1" dirty="0"/>
              <a:t>a</a:t>
            </a:r>
            <a:r>
              <a:rPr lang="ru-RU" sz="1200" dirty="0"/>
              <a:t>1 = </a:t>
            </a:r>
            <a:r>
              <a:rPr lang="ru-RU" sz="1200" i="1" dirty="0"/>
              <a:t>b</a:t>
            </a:r>
            <a:r>
              <a:rPr lang="ru-RU" sz="1200" dirty="0"/>
              <a:t>1 + </a:t>
            </a:r>
            <a:r>
              <a:rPr lang="ru-RU" sz="1200" i="1" dirty="0"/>
              <a:t>b</a:t>
            </a:r>
            <a:r>
              <a:rPr lang="ru-RU" sz="1200" dirty="0"/>
              <a:t>2, то это значит, что не</a:t>
            </a:r>
          </a:p>
          <a:p>
            <a:r>
              <a:rPr lang="ru-RU" sz="1200" dirty="0"/>
              <a:t>полная группа производителей и потребителей </a:t>
            </a:r>
            <a:r>
              <a:rPr lang="ru-RU" sz="1200" i="1" dirty="0"/>
              <a:t>{A</a:t>
            </a:r>
            <a:r>
              <a:rPr lang="ru-RU" sz="1200" dirty="0"/>
              <a:t>1</a:t>
            </a:r>
            <a:r>
              <a:rPr lang="ru-RU" sz="1200" i="1" dirty="0"/>
              <a:t>,B</a:t>
            </a:r>
            <a:r>
              <a:rPr lang="ru-RU" sz="1200" dirty="0"/>
              <a:t>1</a:t>
            </a:r>
            <a:r>
              <a:rPr lang="ru-RU" sz="1200" i="1" dirty="0"/>
              <a:t>,B</a:t>
            </a:r>
            <a:r>
              <a:rPr lang="ru-RU" sz="1200" dirty="0"/>
              <a:t>2</a:t>
            </a:r>
            <a:r>
              <a:rPr lang="ru-RU" sz="1200" i="1" dirty="0"/>
              <a:t>} </a:t>
            </a:r>
            <a:r>
              <a:rPr lang="ru-RU" sz="1200" dirty="0"/>
              <a:t>внутренне сбалансирована. То же можно сказать о группе </a:t>
            </a:r>
            <a:r>
              <a:rPr lang="ru-RU" sz="1200" i="1" dirty="0"/>
              <a:t>{A</a:t>
            </a:r>
            <a:r>
              <a:rPr lang="ru-RU" sz="1200" dirty="0"/>
              <a:t>2</a:t>
            </a:r>
            <a:r>
              <a:rPr lang="ru-RU" sz="1200" i="1" dirty="0"/>
              <a:t>,B</a:t>
            </a:r>
            <a:r>
              <a:rPr lang="ru-RU" sz="1200" dirty="0"/>
              <a:t>3</a:t>
            </a:r>
            <a:r>
              <a:rPr lang="ru-RU" sz="1200" i="1" dirty="0"/>
              <a:t>}</a:t>
            </a:r>
            <a:r>
              <a:rPr lang="ru-RU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1938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(вырожденность)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Пусть задана транспортная задача с объемами производства и потребления </a:t>
            </a:r>
            <a:r>
              <a:rPr lang="ru-RU" sz="1200" i="1" dirty="0"/>
              <a:t>a</a:t>
            </a:r>
            <a:r>
              <a:rPr lang="ru-RU" sz="1200" baseline="-25000" dirty="0"/>
              <a:t>1</a:t>
            </a:r>
            <a:r>
              <a:rPr lang="ru-RU" sz="1200" i="1" dirty="0"/>
              <a:t>, . . . , </a:t>
            </a:r>
            <a:r>
              <a:rPr lang="ru-RU" sz="1200" i="1" dirty="0" err="1"/>
              <a:t>a</a:t>
            </a:r>
            <a:r>
              <a:rPr lang="ru-RU" sz="1200" i="1" baseline="-25000" dirty="0" err="1"/>
              <a:t>m</a:t>
            </a:r>
            <a:r>
              <a:rPr lang="ru-RU" sz="1200" i="1" dirty="0"/>
              <a:t> </a:t>
            </a:r>
            <a:r>
              <a:rPr lang="ru-RU" sz="1200" dirty="0"/>
              <a:t>и </a:t>
            </a:r>
            <a:r>
              <a:rPr lang="ru-RU" sz="1200" i="1" dirty="0"/>
              <a:t>b</a:t>
            </a:r>
            <a:r>
              <a:rPr lang="ru-RU" sz="1200" baseline="-25000" dirty="0"/>
              <a:t>1</a:t>
            </a:r>
            <a:r>
              <a:rPr lang="ru-RU" sz="1200" i="1" dirty="0"/>
              <a:t>, . . . , </a:t>
            </a:r>
            <a:r>
              <a:rPr lang="ru-RU" sz="1200" i="1" dirty="0" err="1"/>
              <a:t>b</a:t>
            </a:r>
            <a:r>
              <a:rPr lang="ru-RU" sz="1200" i="1" baseline="-25000" dirty="0" err="1"/>
              <a:t>n</a:t>
            </a:r>
            <a:r>
              <a:rPr lang="ru-RU" sz="1200" i="1" dirty="0"/>
              <a:t> </a:t>
            </a:r>
            <a:r>
              <a:rPr lang="ru-RU" sz="1200" dirty="0"/>
              <a:t>соответственно, причем все эти числа </a:t>
            </a:r>
            <a:r>
              <a:rPr lang="ru-RU" sz="1200" dirty="0" err="1"/>
              <a:t>целочисленны</a:t>
            </a:r>
            <a:r>
              <a:rPr lang="ru-RU" sz="1200" dirty="0"/>
              <a:t> или кратны некоторой величине </a:t>
            </a:r>
            <a:r>
              <a:rPr lang="ru-RU" sz="1200" i="1" dirty="0"/>
              <a:t>Q</a:t>
            </a:r>
            <a:r>
              <a:rPr lang="ru-RU" sz="1200" dirty="0"/>
              <a:t>.</a:t>
            </a:r>
          </a:p>
          <a:p>
            <a:r>
              <a:rPr lang="ru-RU" sz="1200" dirty="0"/>
              <a:t>На подготовительном этапе возьмем некоторую малую возмущающую константу (в программе проще всего положить </a:t>
            </a:r>
            <a:r>
              <a:rPr lang="ru-RU" sz="1200" i="1" dirty="0"/>
              <a:t>ε </a:t>
            </a:r>
            <a:r>
              <a:rPr lang="ru-RU" sz="1200" dirty="0"/>
              <a:t>= </a:t>
            </a:r>
            <a:r>
              <a:rPr lang="ru-RU" sz="1200" i="1" dirty="0"/>
              <a:t>Q/</a:t>
            </a:r>
            <a:r>
              <a:rPr lang="ru-RU" sz="1200" dirty="0"/>
              <a:t>(2</a:t>
            </a:r>
            <a:r>
              <a:rPr lang="ru-RU" sz="1200" i="1" dirty="0"/>
              <a:t>m </a:t>
            </a:r>
            <a:r>
              <a:rPr lang="ru-RU" sz="1200" dirty="0"/>
              <a:t>+ 1)) и скорректируем объемы следующим образом: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/>
          </a:p>
          <a:p>
            <a:endParaRPr lang="ru-RU" sz="1200" dirty="0"/>
          </a:p>
          <a:p>
            <a:r>
              <a:rPr lang="ru-RU" sz="1200" dirty="0"/>
              <a:t>Глобальное условие баланса при этом сохранится, однако, если в исходной задаче наблюдались условия баланса в сепаратных группах производства и потребления, они хоть ненамного, но нарушатся. В результате все опорные планы станут невырожденными.</a:t>
            </a:r>
          </a:p>
          <a:p>
            <a:endParaRPr lang="ru-RU" sz="1200" dirty="0">
              <a:latin typeface="+mj-lt"/>
            </a:endParaRPr>
          </a:p>
          <a:p>
            <a:r>
              <a:rPr lang="ru-RU" sz="1200" dirty="0"/>
              <a:t>После того как будет получен оптимальный план перевозок, его компоненты снова нужно округлить до чисел, кратных </a:t>
            </a:r>
            <a:r>
              <a:rPr lang="ru-RU" sz="1200" i="1" dirty="0"/>
              <a:t>Q</a:t>
            </a:r>
            <a:r>
              <a:rPr lang="ru-RU" sz="1200" dirty="0"/>
              <a:t>. Это можно сделать по формуле ниже, где квадратные скобки означают целую часть числа.</a:t>
            </a:r>
            <a:endParaRPr lang="ru-RU" sz="1200" dirty="0">
              <a:latin typeface="+mj-lt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773" y="1995686"/>
            <a:ext cx="936104" cy="442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851670"/>
            <a:ext cx="2232248" cy="920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245" y="3890929"/>
            <a:ext cx="1647056" cy="651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5656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(двойственная задача)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216" y="1275606"/>
            <a:ext cx="3467113" cy="67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648" y="1995686"/>
            <a:ext cx="1808250" cy="985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65931" y="1086546"/>
            <a:ext cx="78405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FF0000"/>
                </a:solidFill>
              </a:rPr>
              <a:t>Какой экономический смысл у переменных двойственной задачи?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61078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(двойственная задача)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216" y="1275606"/>
            <a:ext cx="3467113" cy="67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648" y="1995686"/>
            <a:ext cx="1808250" cy="985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65931" y="1086546"/>
            <a:ext cx="784053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Какой экономический смысл у переменных двойственной задачи?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r>
              <a:rPr lang="ru-RU" sz="1200" dirty="0">
                <a:latin typeface="+mj-lt"/>
              </a:rPr>
              <a:t>В обычно симплекс методы двойственные переменные отражают стоимость ресурса. </a:t>
            </a:r>
          </a:p>
          <a:p>
            <a:r>
              <a:rPr lang="ru-RU" sz="1200" dirty="0">
                <a:latin typeface="+mj-lt"/>
              </a:rPr>
              <a:t>В транспортной задаче условно можно считать что производители и потребители несут расходы по транспортировке и тогда</a:t>
            </a:r>
          </a:p>
          <a:p>
            <a:r>
              <a:rPr lang="en-US" sz="1200" dirty="0" err="1">
                <a:latin typeface="+mj-lt"/>
              </a:rPr>
              <a:t>U</a:t>
            </a:r>
            <a:r>
              <a:rPr lang="en-US" sz="1200" baseline="-25000" dirty="0" err="1">
                <a:latin typeface="+mj-lt"/>
              </a:rPr>
              <a:t>i</a:t>
            </a:r>
            <a:r>
              <a:rPr lang="en-US" sz="1200" dirty="0">
                <a:latin typeface="+mj-lt"/>
              </a:rPr>
              <a:t> </a:t>
            </a:r>
            <a:r>
              <a:rPr lang="ru-RU" sz="1200" dirty="0">
                <a:latin typeface="+mj-lt"/>
              </a:rPr>
              <a:t>– объем расходов у поставщика</a:t>
            </a:r>
          </a:p>
          <a:p>
            <a:r>
              <a:rPr lang="en-US" sz="1200" dirty="0" err="1">
                <a:latin typeface="+mj-lt"/>
              </a:rPr>
              <a:t>V</a:t>
            </a:r>
            <a:r>
              <a:rPr lang="en-US" sz="1200" baseline="-25000" dirty="0" err="1">
                <a:latin typeface="+mj-lt"/>
              </a:rPr>
              <a:t>j</a:t>
            </a:r>
            <a:r>
              <a:rPr lang="en-US" sz="1200" dirty="0">
                <a:latin typeface="+mj-lt"/>
              </a:rPr>
              <a:t> – </a:t>
            </a:r>
            <a:r>
              <a:rPr lang="ru-RU" sz="1200" dirty="0">
                <a:latin typeface="+mj-lt"/>
              </a:rPr>
              <a:t>объем расходов у потребителя</a:t>
            </a:r>
          </a:p>
          <a:p>
            <a:endParaRPr lang="ru-RU" sz="1200" dirty="0">
              <a:latin typeface="+mj-lt"/>
            </a:endParaRPr>
          </a:p>
          <a:p>
            <a:r>
              <a:rPr lang="ru-RU" sz="1200" dirty="0">
                <a:latin typeface="+mj-lt"/>
              </a:rPr>
              <a:t>Очевидно, что </a:t>
            </a:r>
            <a:r>
              <a:rPr lang="en-US" sz="1200" dirty="0" err="1">
                <a:latin typeface="+mj-lt"/>
              </a:rPr>
              <a:t>u</a:t>
            </a:r>
            <a:r>
              <a:rPr lang="en-US" sz="1200" baseline="-25000" dirty="0" err="1">
                <a:latin typeface="+mj-lt"/>
              </a:rPr>
              <a:t>i</a:t>
            </a:r>
            <a:r>
              <a:rPr lang="en-US" sz="1200" dirty="0">
                <a:latin typeface="+mj-lt"/>
              </a:rPr>
              <a:t> + </a:t>
            </a:r>
            <a:r>
              <a:rPr lang="en-US" sz="1200" dirty="0" err="1">
                <a:latin typeface="+mj-lt"/>
              </a:rPr>
              <a:t>v</a:t>
            </a:r>
            <a:r>
              <a:rPr lang="en-US" sz="1200" baseline="-25000" dirty="0" err="1">
                <a:latin typeface="+mj-lt"/>
              </a:rPr>
              <a:t>j</a:t>
            </a:r>
            <a:r>
              <a:rPr lang="en-US" sz="1200" dirty="0">
                <a:latin typeface="+mj-lt"/>
              </a:rPr>
              <a:t> = </a:t>
            </a:r>
            <a:r>
              <a:rPr lang="en-US" sz="1200" dirty="0" err="1">
                <a:latin typeface="+mj-lt"/>
              </a:rPr>
              <a:t>c</a:t>
            </a:r>
            <a:r>
              <a:rPr lang="en-US" sz="1200" baseline="-25000" dirty="0" err="1">
                <a:latin typeface="+mj-lt"/>
              </a:rPr>
              <a:t>ij</a:t>
            </a:r>
            <a:r>
              <a:rPr lang="ru-RU" sz="1200" baseline="-25000" dirty="0">
                <a:latin typeface="+mj-lt"/>
              </a:rPr>
              <a:t> </a:t>
            </a:r>
            <a:r>
              <a:rPr lang="ru-RU" sz="1200" dirty="0">
                <a:latin typeface="+mj-lt"/>
              </a:rPr>
              <a:t>(на самом деле </a:t>
            </a:r>
            <a:r>
              <a:rPr lang="en-US" sz="1200" dirty="0">
                <a:latin typeface="+mj-lt"/>
              </a:rPr>
              <a:t>&lt;=)</a:t>
            </a:r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90855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(критерий оптимальности)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/>
              <a:t>Опорный план является оптимальным, если существуют такие потенциалы </a:t>
            </a:r>
            <a:r>
              <a:rPr lang="ru-RU" sz="1200" i="1" dirty="0" err="1"/>
              <a:t>u</a:t>
            </a:r>
            <a:r>
              <a:rPr lang="ru-RU" sz="1200" i="1" baseline="-25000" dirty="0" err="1"/>
              <a:t>i</a:t>
            </a:r>
            <a:r>
              <a:rPr lang="ru-RU" sz="1200" i="1" dirty="0"/>
              <a:t>, </a:t>
            </a:r>
            <a:r>
              <a:rPr lang="ru-RU" sz="1200" i="1" dirty="0" err="1"/>
              <a:t>v</a:t>
            </a:r>
            <a:r>
              <a:rPr lang="ru-RU" sz="1200" i="1" baseline="-25000" dirty="0" err="1"/>
              <a:t>j</a:t>
            </a:r>
            <a:r>
              <a:rPr lang="ru-RU" sz="1200" i="1" dirty="0"/>
              <a:t> , находимые из соотношения </a:t>
            </a:r>
            <a:r>
              <a:rPr lang="ru-RU" sz="1200" i="1" dirty="0" err="1"/>
              <a:t>u</a:t>
            </a:r>
            <a:r>
              <a:rPr lang="ru-RU" sz="1200" i="1" baseline="-25000" dirty="0" err="1"/>
              <a:t>i</a:t>
            </a:r>
            <a:r>
              <a:rPr lang="ru-RU" sz="1200" dirty="0" err="1"/>
              <a:t>+</a:t>
            </a:r>
            <a:r>
              <a:rPr lang="ru-RU" sz="1200" i="1" dirty="0" err="1"/>
              <a:t>v</a:t>
            </a:r>
            <a:r>
              <a:rPr lang="ru-RU" sz="1200" i="1" baseline="-25000" dirty="0" err="1"/>
              <a:t>j</a:t>
            </a:r>
            <a:r>
              <a:rPr lang="ru-RU" sz="1200" i="1" dirty="0"/>
              <a:t> </a:t>
            </a:r>
            <a:r>
              <a:rPr lang="ru-RU" sz="1200" dirty="0"/>
              <a:t>= </a:t>
            </a:r>
            <a:r>
              <a:rPr lang="ru-RU" sz="1200" i="1" dirty="0" err="1"/>
              <a:t>c</a:t>
            </a:r>
            <a:r>
              <a:rPr lang="ru-RU" sz="1200" i="1" baseline="-25000" dirty="0" err="1"/>
              <a:t>ij</a:t>
            </a:r>
            <a:r>
              <a:rPr lang="ru-RU" sz="1200" i="1" baseline="-25000" dirty="0"/>
              <a:t> </a:t>
            </a:r>
            <a:r>
              <a:rPr lang="ru-RU" sz="1200" i="1" dirty="0"/>
              <a:t>для </a:t>
            </a:r>
            <a:r>
              <a:rPr lang="ru-RU" sz="1200" i="1" dirty="0" err="1"/>
              <a:t>x</a:t>
            </a:r>
            <a:r>
              <a:rPr lang="ru-RU" sz="1200" i="1" baseline="-25000" dirty="0" err="1"/>
              <a:t>ij</a:t>
            </a:r>
            <a:r>
              <a:rPr lang="ru-RU" sz="1200" i="1" dirty="0"/>
              <a:t> &gt; </a:t>
            </a:r>
            <a:r>
              <a:rPr lang="ru-RU" sz="1200" dirty="0"/>
              <a:t>0</a:t>
            </a:r>
            <a:r>
              <a:rPr lang="ru-RU" sz="1200" i="1" dirty="0"/>
              <a:t>, что </a:t>
            </a:r>
            <a:r>
              <a:rPr lang="ru-RU" sz="1200" i="1" dirty="0" err="1"/>
              <a:t>u</a:t>
            </a:r>
            <a:r>
              <a:rPr lang="ru-RU" sz="1200" i="1" baseline="-25000" dirty="0" err="1"/>
              <a:t>i</a:t>
            </a:r>
            <a:r>
              <a:rPr lang="ru-RU" sz="1200" i="1" dirty="0"/>
              <a:t> </a:t>
            </a:r>
            <a:r>
              <a:rPr lang="ru-RU" sz="1200" dirty="0"/>
              <a:t>+ </a:t>
            </a:r>
            <a:r>
              <a:rPr lang="ru-RU" sz="1200" i="1" dirty="0" err="1"/>
              <a:t>v</a:t>
            </a:r>
            <a:r>
              <a:rPr lang="ru-RU" sz="1200" i="1" baseline="-25000" dirty="0" err="1"/>
              <a:t>j</a:t>
            </a:r>
            <a:r>
              <a:rPr lang="ru-RU" sz="1200" i="1" dirty="0"/>
              <a:t> </a:t>
            </a:r>
            <a:r>
              <a:rPr lang="en-US" sz="1200" i="1" dirty="0"/>
              <a:t>&lt;=</a:t>
            </a:r>
            <a:r>
              <a:rPr lang="ru-RU" sz="1200" dirty="0"/>
              <a:t> </a:t>
            </a:r>
            <a:r>
              <a:rPr lang="ru-RU" sz="1200" i="1" dirty="0" err="1"/>
              <a:t>c</a:t>
            </a:r>
            <a:r>
              <a:rPr lang="ru-RU" sz="1200" i="1" baseline="-25000" dirty="0" err="1"/>
              <a:t>ij</a:t>
            </a:r>
            <a:r>
              <a:rPr lang="ru-RU" sz="1200" i="1" dirty="0"/>
              <a:t> .</a:t>
            </a:r>
            <a:endParaRPr lang="en-US" sz="1200" i="1" dirty="0"/>
          </a:p>
          <a:p>
            <a:endParaRPr lang="ru-RU" sz="1200" i="1" dirty="0"/>
          </a:p>
          <a:p>
            <a:r>
              <a:rPr lang="ru-RU" sz="1200" dirty="0"/>
              <a:t>Таким образом для проверки опорного плана на оптимальность нужно:</a:t>
            </a:r>
          </a:p>
          <a:p>
            <a:endParaRPr lang="en-US" sz="1200" i="1" dirty="0"/>
          </a:p>
          <a:p>
            <a:r>
              <a:rPr lang="ru-RU" sz="1200" i="1" dirty="0"/>
              <a:t>• </a:t>
            </a:r>
            <a:r>
              <a:rPr lang="ru-RU" sz="1200" dirty="0"/>
              <a:t>выбрать ненулевые перевозки </a:t>
            </a:r>
            <a:r>
              <a:rPr lang="en-GB" sz="1200" i="1" dirty="0" err="1"/>
              <a:t>x</a:t>
            </a:r>
            <a:r>
              <a:rPr lang="en-GB" sz="1200" i="1" baseline="-25000" dirty="0" err="1"/>
              <a:t>ij</a:t>
            </a:r>
            <a:r>
              <a:rPr lang="en-GB" sz="1200" i="1" baseline="-25000" dirty="0"/>
              <a:t> </a:t>
            </a:r>
            <a:r>
              <a:rPr lang="en-GB" sz="1200" dirty="0"/>
              <a:t>;</a:t>
            </a:r>
          </a:p>
          <a:p>
            <a:endParaRPr lang="en-GB" sz="1200" dirty="0"/>
          </a:p>
          <a:p>
            <a:r>
              <a:rPr lang="ru-RU" sz="1200" i="1" dirty="0"/>
              <a:t>• </a:t>
            </a:r>
            <a:r>
              <a:rPr lang="ru-RU" sz="1200" dirty="0"/>
              <a:t>для каждой из них составить уравнение для соответствующих потенциалов: </a:t>
            </a:r>
            <a:r>
              <a:rPr lang="ru-RU" sz="1200" i="1" dirty="0" err="1"/>
              <a:t>u</a:t>
            </a:r>
            <a:r>
              <a:rPr lang="ru-RU" sz="1200" i="1" baseline="-25000" dirty="0" err="1"/>
              <a:t>i</a:t>
            </a:r>
            <a:r>
              <a:rPr lang="ru-RU" sz="1200" i="1" dirty="0"/>
              <a:t> </a:t>
            </a:r>
            <a:r>
              <a:rPr lang="ru-RU" sz="1200" dirty="0"/>
              <a:t>+ </a:t>
            </a:r>
            <a:r>
              <a:rPr lang="ru-RU" sz="1200" i="1" dirty="0" err="1"/>
              <a:t>v</a:t>
            </a:r>
            <a:r>
              <a:rPr lang="ru-RU" sz="1200" i="1" baseline="-25000" dirty="0" err="1"/>
              <a:t>j</a:t>
            </a:r>
            <a:r>
              <a:rPr lang="ru-RU" sz="1200" i="1" dirty="0"/>
              <a:t> </a:t>
            </a:r>
            <a:r>
              <a:rPr lang="ru-RU" sz="1200" dirty="0"/>
              <a:t>= </a:t>
            </a:r>
            <a:r>
              <a:rPr lang="ru-RU" sz="1200" i="1" dirty="0" err="1"/>
              <a:t>c</a:t>
            </a:r>
            <a:r>
              <a:rPr lang="ru-RU" sz="1200" i="1" baseline="-25000" dirty="0" err="1"/>
              <a:t>ij</a:t>
            </a:r>
            <a:r>
              <a:rPr lang="ru-RU" sz="1200" i="1" dirty="0"/>
              <a:t> </a:t>
            </a:r>
            <a:r>
              <a:rPr lang="ru-RU" sz="1200" dirty="0"/>
              <a:t>;</a:t>
            </a:r>
            <a:endParaRPr lang="en-US" sz="1200" dirty="0"/>
          </a:p>
          <a:p>
            <a:endParaRPr lang="ru-RU" sz="1200" dirty="0"/>
          </a:p>
          <a:p>
            <a:r>
              <a:rPr lang="ru-RU" sz="1200" i="1" dirty="0"/>
              <a:t>• </a:t>
            </a:r>
            <a:r>
              <a:rPr lang="ru-RU" sz="1200" dirty="0"/>
              <a:t>решить полученную систему уравнений и найти потенциалы;</a:t>
            </a:r>
            <a:endParaRPr lang="en-US" sz="1200" dirty="0"/>
          </a:p>
          <a:p>
            <a:endParaRPr lang="ru-RU" sz="1200" dirty="0"/>
          </a:p>
          <a:p>
            <a:r>
              <a:rPr lang="ru-RU" sz="1200" i="1" dirty="0"/>
              <a:t>• </a:t>
            </a:r>
            <a:r>
              <a:rPr lang="ru-RU" sz="1200" dirty="0"/>
              <a:t>с полученными потенциалами проверить выполнение неравенств </a:t>
            </a:r>
            <a:r>
              <a:rPr lang="ru-RU" sz="1200" i="1" dirty="0" err="1"/>
              <a:t>u</a:t>
            </a:r>
            <a:r>
              <a:rPr lang="ru-RU" sz="1200" i="1" baseline="-25000" dirty="0" err="1"/>
              <a:t>i</a:t>
            </a:r>
            <a:r>
              <a:rPr lang="ru-RU" sz="1200" i="1" dirty="0"/>
              <a:t> </a:t>
            </a:r>
            <a:r>
              <a:rPr lang="ru-RU" sz="1200" dirty="0"/>
              <a:t>+ </a:t>
            </a:r>
            <a:r>
              <a:rPr lang="ru-RU" sz="1200" i="1" dirty="0" err="1"/>
              <a:t>v</a:t>
            </a:r>
            <a:r>
              <a:rPr lang="ru-RU" sz="1200" i="1" baseline="-25000" dirty="0" err="1"/>
              <a:t>j</a:t>
            </a:r>
            <a:r>
              <a:rPr lang="ru-RU" sz="1200" i="1" dirty="0"/>
              <a:t> </a:t>
            </a:r>
            <a:r>
              <a:rPr lang="en-US" sz="1200" i="1" dirty="0"/>
              <a:t>&lt;</a:t>
            </a:r>
            <a:r>
              <a:rPr lang="ru-RU" sz="1200" i="1" dirty="0"/>
              <a:t>=</a:t>
            </a:r>
            <a:r>
              <a:rPr lang="ru-RU" sz="1200" dirty="0"/>
              <a:t> </a:t>
            </a:r>
            <a:r>
              <a:rPr lang="ru-RU" sz="1200" i="1" dirty="0" err="1"/>
              <a:t>c</a:t>
            </a:r>
            <a:r>
              <a:rPr lang="ru-RU" sz="1200" i="1" baseline="-25000" dirty="0" err="1"/>
              <a:t>ij</a:t>
            </a:r>
            <a:r>
              <a:rPr lang="ru-RU" sz="1200" i="1" dirty="0"/>
              <a:t>, i </a:t>
            </a:r>
            <a:r>
              <a:rPr lang="ru-RU" sz="1200" dirty="0"/>
              <a:t>= 1</a:t>
            </a:r>
            <a:r>
              <a:rPr lang="ru-RU" sz="1200" i="1" dirty="0"/>
              <a:t>, . . . , m</a:t>
            </a:r>
            <a:r>
              <a:rPr lang="ru-RU" sz="1200" dirty="0"/>
              <a:t>; </a:t>
            </a:r>
            <a:r>
              <a:rPr lang="ru-RU" sz="1200" i="1" dirty="0"/>
              <a:t>j </a:t>
            </a:r>
            <a:r>
              <a:rPr lang="ru-RU" sz="1200" dirty="0"/>
              <a:t>= 1</a:t>
            </a:r>
            <a:r>
              <a:rPr lang="ru-RU" sz="1200" i="1" dirty="0"/>
              <a:t>, . . . , n</a:t>
            </a:r>
            <a:r>
              <a:rPr lang="ru-RU" sz="1200" dirty="0"/>
              <a:t>. Если все</a:t>
            </a:r>
          </a:p>
          <a:p>
            <a:r>
              <a:rPr lang="ru-RU" sz="1200" dirty="0"/>
              <a:t>неравенства справедливы, то данный план оптимальный.</a:t>
            </a:r>
            <a:endParaRPr lang="en-US" sz="1200" dirty="0"/>
          </a:p>
          <a:p>
            <a:endParaRPr lang="en-US" sz="1200" dirty="0">
              <a:latin typeface="+mj-lt"/>
            </a:endParaRPr>
          </a:p>
          <a:p>
            <a:r>
              <a:rPr lang="ru-RU" sz="1200" dirty="0"/>
              <a:t>В опорном плане имеется </a:t>
            </a:r>
            <a:r>
              <a:rPr lang="ru-RU" sz="1200" i="1" dirty="0"/>
              <a:t>m</a:t>
            </a:r>
            <a:r>
              <a:rPr lang="ru-RU" sz="1200" dirty="0"/>
              <a:t>+ </a:t>
            </a:r>
            <a:r>
              <a:rPr lang="ru-RU" sz="1200" i="1" dirty="0"/>
              <a:t>n − </a:t>
            </a:r>
            <a:r>
              <a:rPr lang="ru-RU" sz="1200" dirty="0"/>
              <a:t>1 ненулевых компонент (от вырожденности мы раз и навсегда защитились эпсилон-методом), а число потенциалов равно </a:t>
            </a:r>
            <a:r>
              <a:rPr lang="ru-RU" sz="1200" i="1" dirty="0"/>
              <a:t>m </a:t>
            </a:r>
            <a:r>
              <a:rPr lang="ru-RU" sz="1200" dirty="0"/>
              <a:t>+ </a:t>
            </a:r>
            <a:r>
              <a:rPr lang="ru-RU" sz="1200" i="1" dirty="0"/>
              <a:t>n</a:t>
            </a:r>
            <a:r>
              <a:rPr lang="ru-RU" sz="1200" dirty="0"/>
              <a:t>. Система уравнений получается </a:t>
            </a:r>
            <a:r>
              <a:rPr lang="ru-RU" sz="1200" dirty="0" err="1"/>
              <a:t>недоопределенная</a:t>
            </a:r>
            <a:r>
              <a:rPr lang="ru-RU" sz="1200" dirty="0"/>
              <a:t>. Но реальная размерность прямой транспортной задачи как раз равна </a:t>
            </a:r>
            <a:r>
              <a:rPr lang="ru-RU" sz="1200" i="1" dirty="0"/>
              <a:t>m </a:t>
            </a:r>
            <a:r>
              <a:rPr lang="ru-RU" sz="1200" dirty="0"/>
              <a:t>+ </a:t>
            </a:r>
            <a:r>
              <a:rPr lang="ru-RU" sz="1200" i="1" dirty="0"/>
              <a:t>n − </a:t>
            </a:r>
            <a:r>
              <a:rPr lang="ru-RU" sz="1200" dirty="0"/>
              <a:t>1 (одну степень свободы забирает</a:t>
            </a:r>
          </a:p>
          <a:p>
            <a:r>
              <a:rPr lang="ru-RU" sz="1200" dirty="0"/>
              <a:t>условие баланса). Следовательно, в двойственной задаче имеется </a:t>
            </a:r>
            <a:r>
              <a:rPr lang="ru-RU" sz="1200" i="1" dirty="0"/>
              <a:t>m </a:t>
            </a:r>
            <a:r>
              <a:rPr lang="ru-RU" sz="1200" dirty="0"/>
              <a:t>+ </a:t>
            </a:r>
            <a:r>
              <a:rPr lang="ru-RU" sz="1200" i="1" dirty="0"/>
              <a:t>n − </a:t>
            </a:r>
            <a:r>
              <a:rPr lang="ru-RU" sz="1200" dirty="0"/>
              <a:t>1 независимых переменных, одной из них, допустим </a:t>
            </a:r>
            <a:r>
              <a:rPr lang="ru-RU" sz="1200" i="1" dirty="0"/>
              <a:t>u</a:t>
            </a:r>
            <a:r>
              <a:rPr lang="ru-RU" sz="1200" baseline="-25000" dirty="0"/>
              <a:t>1</a:t>
            </a:r>
            <a:r>
              <a:rPr lang="ru-RU" sz="1200" dirty="0"/>
              <a:t>, можно придать произвольное значение, например 0.</a:t>
            </a:r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5656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(критерий оптимальности)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948046"/>
            <a:ext cx="7840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Проверим на оптимальность план, полученный методом минимального элемента :</a:t>
            </a:r>
            <a:endParaRPr lang="ru-RU" sz="1200" dirty="0">
              <a:latin typeface="+mj-lt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753" y="1190363"/>
            <a:ext cx="4309220" cy="3405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5656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(матрица невязок)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Для работы с потенциалами удобно ввести в рассмотрение </a:t>
            </a:r>
            <a:r>
              <a:rPr lang="ru-RU" sz="1200" i="1" dirty="0"/>
              <a:t>матрицу невязок </a:t>
            </a:r>
            <a:r>
              <a:rPr lang="en-GB" sz="1200" i="1" dirty="0"/>
              <a:t>S </a:t>
            </a:r>
            <a:r>
              <a:rPr lang="en-GB" sz="1200" dirty="0"/>
              <a:t>= (</a:t>
            </a:r>
            <a:r>
              <a:rPr lang="en-GB" sz="1200" i="1" dirty="0" err="1"/>
              <a:t>s</a:t>
            </a:r>
            <a:r>
              <a:rPr lang="en-GB" sz="1200" i="1" baseline="-25000" dirty="0" err="1"/>
              <a:t>ij</a:t>
            </a:r>
            <a:r>
              <a:rPr lang="en-GB" sz="1200" dirty="0"/>
              <a:t>), </a:t>
            </a:r>
            <a:r>
              <a:rPr lang="ru-RU" sz="1200" dirty="0"/>
              <a:t>где </a:t>
            </a:r>
            <a:r>
              <a:rPr lang="en-GB" sz="1200" i="1" dirty="0" err="1"/>
              <a:t>s</a:t>
            </a:r>
            <a:r>
              <a:rPr lang="en-GB" sz="1200" i="1" baseline="-25000" dirty="0" err="1"/>
              <a:t>ij</a:t>
            </a:r>
            <a:r>
              <a:rPr lang="en-GB" sz="1200" i="1" dirty="0"/>
              <a:t> </a:t>
            </a:r>
            <a:r>
              <a:rPr lang="en-GB" sz="1200" dirty="0"/>
              <a:t>= </a:t>
            </a:r>
            <a:r>
              <a:rPr lang="en-GB" sz="1200" i="1" dirty="0" err="1"/>
              <a:t>u</a:t>
            </a:r>
            <a:r>
              <a:rPr lang="en-GB" sz="1200" i="1" baseline="-25000" dirty="0" err="1"/>
              <a:t>i</a:t>
            </a:r>
            <a:r>
              <a:rPr lang="en-GB" sz="1200" i="1" dirty="0"/>
              <a:t> </a:t>
            </a:r>
            <a:r>
              <a:rPr lang="en-GB" sz="1200" dirty="0"/>
              <a:t>+ </a:t>
            </a:r>
            <a:r>
              <a:rPr lang="en-GB" sz="1200" i="1" dirty="0" err="1"/>
              <a:t>v</a:t>
            </a:r>
            <a:r>
              <a:rPr lang="en-GB" sz="1200" i="1" baseline="-25000" dirty="0" err="1"/>
              <a:t>j</a:t>
            </a:r>
            <a:r>
              <a:rPr lang="en-GB" sz="1200" i="1" dirty="0"/>
              <a:t> − </a:t>
            </a:r>
            <a:r>
              <a:rPr lang="en-GB" sz="1200" i="1" dirty="0" err="1"/>
              <a:t>c</a:t>
            </a:r>
            <a:r>
              <a:rPr lang="en-GB" sz="1200" i="1" baseline="-25000" dirty="0" err="1"/>
              <a:t>ij</a:t>
            </a:r>
            <a:r>
              <a:rPr lang="en-GB" sz="1200" i="1" dirty="0"/>
              <a:t> </a:t>
            </a:r>
            <a:r>
              <a:rPr lang="en-GB" sz="1200" dirty="0"/>
              <a:t>.</a:t>
            </a:r>
          </a:p>
          <a:p>
            <a:r>
              <a:rPr lang="ru-RU" sz="1200" dirty="0"/>
              <a:t>В ручных расчетах ее можно представить в виде таблицы </a:t>
            </a:r>
            <a:r>
              <a:rPr lang="ru-RU" sz="1200" i="1" dirty="0"/>
              <a:t>m × n</a:t>
            </a:r>
            <a:r>
              <a:rPr lang="ru-RU" sz="1200" dirty="0"/>
              <a:t>, справа от которой записываются потенциалы </a:t>
            </a:r>
            <a:r>
              <a:rPr lang="ru-RU" sz="1200" i="1" dirty="0" err="1"/>
              <a:t>u</a:t>
            </a:r>
            <a:r>
              <a:rPr lang="ru-RU" sz="1200" i="1" baseline="-25000" dirty="0" err="1"/>
              <a:t>i</a:t>
            </a:r>
            <a:r>
              <a:rPr lang="ru-RU" sz="1200" dirty="0"/>
              <a:t>, соответствующие строкам, а внизу — потенциалы </a:t>
            </a:r>
            <a:r>
              <a:rPr lang="ru-RU" sz="1200" i="1" dirty="0" err="1"/>
              <a:t>v</a:t>
            </a:r>
            <a:r>
              <a:rPr lang="ru-RU" sz="1200" i="1" baseline="-25000" dirty="0" err="1"/>
              <a:t>j</a:t>
            </a:r>
            <a:r>
              <a:rPr lang="ru-RU" sz="1200" i="1" dirty="0"/>
              <a:t> </a:t>
            </a:r>
            <a:r>
              <a:rPr lang="ru-RU" sz="1200" dirty="0"/>
              <a:t>, соответствующие столбцам. </a:t>
            </a:r>
          </a:p>
          <a:p>
            <a:endParaRPr lang="ru-RU" sz="1200" dirty="0"/>
          </a:p>
          <a:p>
            <a:r>
              <a:rPr lang="ru-RU" sz="1200" dirty="0"/>
              <a:t>Рассмотрим на примере:</a:t>
            </a:r>
          </a:p>
          <a:p>
            <a:endParaRPr lang="ru-RU" sz="1200" dirty="0"/>
          </a:p>
          <a:p>
            <a:r>
              <a:rPr lang="ru-RU" sz="1200" dirty="0"/>
              <a:t>Сначала матрица невязок заполняется нулями в тех клетках,</a:t>
            </a:r>
          </a:p>
          <a:p>
            <a:r>
              <a:rPr lang="ru-RU" sz="1200" dirty="0"/>
              <a:t>которые соответствуют ненулевым перевозкам плана, так как для</a:t>
            </a:r>
          </a:p>
          <a:p>
            <a:r>
              <a:rPr lang="ru-RU" sz="1200" dirty="0"/>
              <a:t>них по определению потенциалов </a:t>
            </a:r>
            <a:r>
              <a:rPr lang="ru-RU" sz="1200" i="1" dirty="0" err="1"/>
              <a:t>s</a:t>
            </a:r>
            <a:r>
              <a:rPr lang="ru-RU" sz="1200" i="1" baseline="-25000" dirty="0" err="1"/>
              <a:t>ij</a:t>
            </a:r>
            <a:r>
              <a:rPr lang="ru-RU" sz="1200" i="1" dirty="0"/>
              <a:t> </a:t>
            </a:r>
            <a:r>
              <a:rPr lang="ru-RU" sz="1200" dirty="0"/>
              <a:t>= </a:t>
            </a:r>
            <a:r>
              <a:rPr lang="ru-RU" sz="1200" i="1" dirty="0" err="1"/>
              <a:t>u</a:t>
            </a:r>
            <a:r>
              <a:rPr lang="ru-RU" sz="1200" i="1" baseline="-25000" dirty="0" err="1"/>
              <a:t>i</a:t>
            </a:r>
            <a:r>
              <a:rPr lang="ru-RU" sz="1200" i="1" dirty="0"/>
              <a:t> </a:t>
            </a:r>
            <a:r>
              <a:rPr lang="ru-RU" sz="1200" dirty="0"/>
              <a:t>+ </a:t>
            </a:r>
            <a:r>
              <a:rPr lang="ru-RU" sz="1200" i="1" dirty="0" err="1"/>
              <a:t>v</a:t>
            </a:r>
            <a:r>
              <a:rPr lang="ru-RU" sz="1200" i="1" baseline="-25000" dirty="0" err="1"/>
              <a:t>j</a:t>
            </a:r>
            <a:r>
              <a:rPr lang="ru-RU" sz="1200" i="1" dirty="0"/>
              <a:t> − </a:t>
            </a:r>
            <a:r>
              <a:rPr lang="ru-RU" sz="1200" i="1" dirty="0" err="1"/>
              <a:t>c</a:t>
            </a:r>
            <a:r>
              <a:rPr lang="ru-RU" sz="1200" i="1" baseline="-25000" dirty="0" err="1"/>
              <a:t>ij</a:t>
            </a:r>
            <a:r>
              <a:rPr lang="ru-RU" sz="1200" i="1" dirty="0"/>
              <a:t> </a:t>
            </a:r>
            <a:r>
              <a:rPr lang="ru-RU" sz="1200" dirty="0"/>
              <a:t>= 0.</a:t>
            </a:r>
          </a:p>
          <a:p>
            <a:r>
              <a:rPr lang="ru-RU" sz="1200" dirty="0"/>
              <a:t>Потенциал </a:t>
            </a:r>
            <a:r>
              <a:rPr lang="ru-RU" sz="1200" i="1" dirty="0"/>
              <a:t>u</a:t>
            </a:r>
            <a:r>
              <a:rPr lang="ru-RU" sz="1200" baseline="-25000" dirty="0"/>
              <a:t>1</a:t>
            </a:r>
            <a:r>
              <a:rPr lang="ru-RU" sz="1200" dirty="0"/>
              <a:t> полагается равным нулю. 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706" y="1723920"/>
            <a:ext cx="3096344" cy="77558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1078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(матрица невязок)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9512" y="923320"/>
            <a:ext cx="78405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Далее матрица </a:t>
            </a:r>
            <a:r>
              <a:rPr lang="ru-RU" sz="1200" i="1" dirty="0"/>
              <a:t>S </a:t>
            </a:r>
            <a:r>
              <a:rPr lang="ru-RU" sz="1200" dirty="0"/>
              <a:t>сканируется построчно. Как только попа-</a:t>
            </a:r>
          </a:p>
          <a:p>
            <a:r>
              <a:rPr lang="ru-RU" sz="1200" dirty="0"/>
              <a:t>дается 0, делается попытка вычислить второй потенциал из</a:t>
            </a:r>
          </a:p>
          <a:p>
            <a:r>
              <a:rPr lang="ru-RU" sz="1200" dirty="0"/>
              <a:t>соотношения </a:t>
            </a:r>
            <a:r>
              <a:rPr lang="ru-RU" sz="1200" i="1" dirty="0" err="1"/>
              <a:t>u</a:t>
            </a:r>
            <a:r>
              <a:rPr lang="ru-RU" sz="1200" i="1" baseline="-25000" dirty="0" err="1"/>
              <a:t>i</a:t>
            </a:r>
            <a:r>
              <a:rPr lang="ru-RU" sz="1200" dirty="0" err="1"/>
              <a:t>+</a:t>
            </a:r>
            <a:r>
              <a:rPr lang="ru-RU" sz="1200" i="1" dirty="0" err="1"/>
              <a:t>v</a:t>
            </a:r>
            <a:r>
              <a:rPr lang="ru-RU" sz="1200" i="1" baseline="-25000" dirty="0" err="1"/>
              <a:t>j</a:t>
            </a:r>
            <a:r>
              <a:rPr lang="ru-RU" sz="1200" i="1" dirty="0"/>
              <a:t> </a:t>
            </a:r>
            <a:r>
              <a:rPr lang="ru-RU" sz="1200" dirty="0"/>
              <a:t>= </a:t>
            </a:r>
            <a:r>
              <a:rPr lang="ru-RU" sz="1200" i="1" dirty="0" err="1"/>
              <a:t>c</a:t>
            </a:r>
            <a:r>
              <a:rPr lang="ru-RU" sz="1200" i="1" baseline="-25000" dirty="0" err="1"/>
              <a:t>ij</a:t>
            </a:r>
            <a:r>
              <a:rPr lang="ru-RU" sz="1200" i="1" dirty="0"/>
              <a:t> </a:t>
            </a:r>
            <a:r>
              <a:rPr lang="ru-RU" sz="1200" dirty="0"/>
              <a:t>, если предварительно вычислен первый.</a:t>
            </a:r>
          </a:p>
          <a:p>
            <a:r>
              <a:rPr lang="ru-RU" sz="1200" dirty="0"/>
              <a:t>В результате первого сканирования можем вычислить по-</a:t>
            </a:r>
          </a:p>
          <a:p>
            <a:r>
              <a:rPr lang="ru-RU" sz="1200" dirty="0" err="1"/>
              <a:t>тенциалы</a:t>
            </a:r>
            <a:r>
              <a:rPr lang="ru-RU" sz="1200" dirty="0"/>
              <a:t> </a:t>
            </a:r>
            <a:r>
              <a:rPr lang="ru-RU" sz="1200" i="1" dirty="0"/>
              <a:t>v</a:t>
            </a:r>
            <a:r>
              <a:rPr lang="ru-RU" sz="1200" baseline="-25000" dirty="0"/>
              <a:t>1</a:t>
            </a:r>
            <a:r>
              <a:rPr lang="ru-RU" sz="1200" dirty="0"/>
              <a:t> = </a:t>
            </a:r>
            <a:r>
              <a:rPr lang="ru-RU" sz="1200" i="1" dirty="0"/>
              <a:t>c</a:t>
            </a:r>
            <a:r>
              <a:rPr lang="ru-RU" sz="1200" baseline="-25000" dirty="0"/>
              <a:t>11</a:t>
            </a:r>
            <a:r>
              <a:rPr lang="ru-RU" sz="1200" dirty="0"/>
              <a:t> </a:t>
            </a:r>
            <a:r>
              <a:rPr lang="ru-RU" sz="1200" i="1" dirty="0"/>
              <a:t>−u</a:t>
            </a:r>
            <a:r>
              <a:rPr lang="ru-RU" sz="1200" baseline="-25000" dirty="0"/>
              <a:t>1</a:t>
            </a:r>
            <a:r>
              <a:rPr lang="ru-RU" sz="1200" dirty="0"/>
              <a:t> = 2</a:t>
            </a:r>
            <a:r>
              <a:rPr lang="ru-RU" sz="1200" i="1" dirty="0"/>
              <a:t>−</a:t>
            </a:r>
            <a:r>
              <a:rPr lang="ru-RU" sz="1200" dirty="0"/>
              <a:t>0 = 2 и </a:t>
            </a:r>
            <a:r>
              <a:rPr lang="ru-RU" sz="1200" i="1" dirty="0"/>
              <a:t>v</a:t>
            </a:r>
            <a:r>
              <a:rPr lang="ru-RU" sz="1200" baseline="-25000" dirty="0"/>
              <a:t>2</a:t>
            </a:r>
            <a:r>
              <a:rPr lang="ru-RU" sz="1200" dirty="0"/>
              <a:t> = </a:t>
            </a:r>
            <a:r>
              <a:rPr lang="ru-RU" sz="1200" i="1" dirty="0"/>
              <a:t>c</a:t>
            </a:r>
            <a:r>
              <a:rPr lang="ru-RU" sz="1200" baseline="-25000" dirty="0"/>
              <a:t>12</a:t>
            </a:r>
            <a:r>
              <a:rPr lang="ru-RU" sz="1200" dirty="0"/>
              <a:t> </a:t>
            </a:r>
            <a:r>
              <a:rPr lang="ru-RU" sz="1200" i="1" dirty="0"/>
              <a:t>−u</a:t>
            </a:r>
            <a:r>
              <a:rPr lang="ru-RU" sz="1200" baseline="-25000" dirty="0"/>
              <a:t>1</a:t>
            </a:r>
            <a:r>
              <a:rPr lang="ru-RU" sz="1200" dirty="0"/>
              <a:t> = 4</a:t>
            </a:r>
            <a:r>
              <a:rPr lang="ru-RU" sz="1200" i="1" dirty="0"/>
              <a:t>−</a:t>
            </a:r>
            <a:r>
              <a:rPr lang="ru-RU" sz="1200" dirty="0"/>
              <a:t>0 = 4, </a:t>
            </a:r>
          </a:p>
          <a:p>
            <a:r>
              <a:rPr lang="ru-RU" sz="1200" dirty="0"/>
              <a:t>(так как </a:t>
            </a:r>
            <a:r>
              <a:rPr lang="ru-RU" sz="1200" i="1" dirty="0"/>
              <a:t>u</a:t>
            </a:r>
            <a:r>
              <a:rPr lang="ru-RU" sz="1200" dirty="0"/>
              <a:t>1 = 0)</a:t>
            </a:r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r>
              <a:rPr lang="ru-RU" sz="1200" dirty="0"/>
              <a:t>При втором сканировании по известному потенциалу </a:t>
            </a:r>
            <a:r>
              <a:rPr lang="ru-RU" sz="1200" i="1" dirty="0"/>
              <a:t>v</a:t>
            </a:r>
            <a:r>
              <a:rPr lang="ru-RU" sz="1200" baseline="-25000" dirty="0"/>
              <a:t>2</a:t>
            </a:r>
            <a:r>
              <a:rPr lang="ru-RU" sz="1200" dirty="0"/>
              <a:t> определяется </a:t>
            </a:r>
          </a:p>
          <a:p>
            <a:r>
              <a:rPr lang="ru-RU" sz="1200" i="1" dirty="0"/>
              <a:t>u</a:t>
            </a:r>
            <a:r>
              <a:rPr lang="ru-RU" sz="1200" baseline="-25000" dirty="0"/>
              <a:t>2</a:t>
            </a:r>
            <a:r>
              <a:rPr lang="ru-RU" sz="1200" dirty="0"/>
              <a:t> = </a:t>
            </a:r>
            <a:r>
              <a:rPr lang="ru-RU" sz="1200" i="1" dirty="0"/>
              <a:t>c</a:t>
            </a:r>
            <a:r>
              <a:rPr lang="ru-RU" sz="1200" baseline="-25000" dirty="0"/>
              <a:t>22</a:t>
            </a:r>
            <a:r>
              <a:rPr lang="ru-RU" sz="1200" dirty="0"/>
              <a:t> </a:t>
            </a:r>
            <a:r>
              <a:rPr lang="ru-RU" sz="1200" i="1" dirty="0"/>
              <a:t>− v</a:t>
            </a:r>
            <a:r>
              <a:rPr lang="ru-RU" sz="1200" baseline="-25000" dirty="0"/>
              <a:t>2</a:t>
            </a:r>
            <a:r>
              <a:rPr lang="ru-RU" sz="1200" dirty="0"/>
              <a:t> = 1</a:t>
            </a:r>
            <a:r>
              <a:rPr lang="ru-RU" sz="1200" i="1" dirty="0"/>
              <a:t>−</a:t>
            </a:r>
            <a:r>
              <a:rPr lang="ru-RU" sz="1200" dirty="0"/>
              <a:t>4 = </a:t>
            </a:r>
            <a:r>
              <a:rPr lang="ru-RU" sz="1200" i="1" dirty="0"/>
              <a:t>−</a:t>
            </a:r>
            <a:r>
              <a:rPr lang="ru-RU" sz="1200" dirty="0"/>
              <a:t>3:</a:t>
            </a:r>
          </a:p>
          <a:p>
            <a:endParaRPr lang="ru-RU" sz="1200" dirty="0"/>
          </a:p>
          <a:p>
            <a:r>
              <a:rPr lang="ru-RU" sz="1200" dirty="0"/>
              <a:t>Зная все потенциалы, можно вычислить незаполненные эле-</a:t>
            </a:r>
          </a:p>
          <a:p>
            <a:r>
              <a:rPr lang="ru-RU" sz="1200" dirty="0"/>
              <a:t>менты матрицы невязок:</a:t>
            </a:r>
          </a:p>
          <a:p>
            <a:endParaRPr lang="ru-RU" sz="1200" dirty="0">
              <a:latin typeface="+mj-lt"/>
            </a:endParaRPr>
          </a:p>
          <a:p>
            <a:r>
              <a:rPr lang="ru-RU" sz="1200" dirty="0"/>
              <a:t>Поскольку в матрице невязок имеется положительный эле-</a:t>
            </a:r>
          </a:p>
          <a:p>
            <a:r>
              <a:rPr lang="ru-RU" sz="1200" dirty="0"/>
              <a:t>мент </a:t>
            </a:r>
            <a:r>
              <a:rPr lang="ru-RU" sz="1200" i="1" dirty="0"/>
              <a:t>s</a:t>
            </a:r>
            <a:r>
              <a:rPr lang="ru-RU" sz="1200" baseline="-25000" dirty="0"/>
              <a:t>13</a:t>
            </a:r>
            <a:r>
              <a:rPr lang="ru-RU" sz="1200" dirty="0"/>
              <a:t>, то проверяемый план </a:t>
            </a:r>
            <a:r>
              <a:rPr lang="ru-RU" sz="1200" dirty="0" err="1"/>
              <a:t>неоптимален</a:t>
            </a:r>
            <a:r>
              <a:rPr lang="ru-RU" sz="1200" dirty="0"/>
              <a:t>. </a:t>
            </a:r>
            <a:endParaRPr lang="ru-RU" sz="1200" dirty="0">
              <a:latin typeface="+mj-lt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158" y="1116193"/>
            <a:ext cx="3096344" cy="775589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6072" y="1923678"/>
            <a:ext cx="1952550" cy="861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533" y="2826719"/>
            <a:ext cx="2174689" cy="871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949" y="3698084"/>
            <a:ext cx="2265967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3753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(связь с симплекс методом)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Матрица невязок </a:t>
            </a:r>
            <a:r>
              <a:rPr lang="ru-RU" sz="1200" i="1" dirty="0"/>
              <a:t>S </a:t>
            </a:r>
            <a:r>
              <a:rPr lang="ru-RU" sz="1200" dirty="0"/>
              <a:t>= (</a:t>
            </a:r>
            <a:r>
              <a:rPr lang="ru-RU" sz="1200" i="1" dirty="0" err="1"/>
              <a:t>s</a:t>
            </a:r>
            <a:r>
              <a:rPr lang="ru-RU" sz="1200" i="1" baseline="-25000" dirty="0" err="1"/>
              <a:t>ij</a:t>
            </a:r>
            <a:r>
              <a:rPr lang="ru-RU" sz="1200" dirty="0"/>
              <a:t>) выполняет функцию управляющей </a:t>
            </a:r>
            <a:r>
              <a:rPr lang="ru-RU" sz="1200" i="1" dirty="0"/>
              <a:t>m</a:t>
            </a:r>
            <a:r>
              <a:rPr lang="ru-RU" sz="1200" dirty="0"/>
              <a:t>+1 строки в базовом симплексном алгоритме, только в двумерном варианте. </a:t>
            </a:r>
          </a:p>
          <a:p>
            <a:r>
              <a:rPr lang="ru-RU" sz="1200" dirty="0"/>
              <a:t>Действительно, для заключительной симплексной таблицы выполняется соотношение :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r>
              <a:rPr lang="ru-RU" sz="1200" dirty="0"/>
              <a:t>Модифицируя это соотношение для двойных индексов, получаем:</a:t>
            </a:r>
            <a:endParaRPr lang="ru-RU" sz="1200" dirty="0">
              <a:latin typeface="+mj-lt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3954" y="1744307"/>
            <a:ext cx="39243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766" y="2750967"/>
            <a:ext cx="4260867" cy="757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1078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(переход к новому опорному плану)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Если текущий план перевозок </a:t>
            </a:r>
            <a:r>
              <a:rPr lang="ru-RU" sz="1200" dirty="0" err="1"/>
              <a:t>неоптимален</a:t>
            </a:r>
            <a:r>
              <a:rPr lang="ru-RU" sz="1200" dirty="0"/>
              <a:t>, следует перейти к новому опорному плану с меньшими транспортными издержками.</a:t>
            </a:r>
          </a:p>
          <a:p>
            <a:r>
              <a:rPr lang="ru-RU" sz="1200" dirty="0"/>
              <a:t>Согласно канонам симплексного метода, этот процесс совершается в три шага.</a:t>
            </a:r>
          </a:p>
          <a:p>
            <a:r>
              <a:rPr lang="ru-RU" sz="1200" dirty="0"/>
              <a:t>1. Определение вектора, включаемого в базис. Соответственно создается новая перевозка, которая в старом плане отсутствовала.</a:t>
            </a:r>
          </a:p>
          <a:p>
            <a:r>
              <a:rPr lang="ru-RU" sz="1200" dirty="0"/>
              <a:t>2. Определение вектора, исключаемого из базиса. Из плана при этом некоторая перевозка исключается.</a:t>
            </a:r>
          </a:p>
          <a:p>
            <a:r>
              <a:rPr lang="ru-RU" sz="1200" dirty="0"/>
              <a:t>3. Преобразование плана перевозок.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r>
              <a:rPr lang="ru-RU" sz="1200" dirty="0"/>
              <a:t>В базовом симплексном методе для определения вектора, включаемого в базис, анализируется управляющая </a:t>
            </a:r>
            <a:r>
              <a:rPr lang="ru-RU" sz="1200" i="1" dirty="0"/>
              <a:t>m </a:t>
            </a:r>
            <a:r>
              <a:rPr lang="ru-RU" sz="1200" dirty="0"/>
              <a:t>+ 1-я строка и находится наибольший положительный ее элемент.</a:t>
            </a:r>
          </a:p>
          <a:p>
            <a:r>
              <a:rPr lang="ru-RU" sz="1200" dirty="0"/>
              <a:t>У нас роль управляющей строки играет матрица невязок. Поэтому в базис включается вектор </a:t>
            </a:r>
            <a:r>
              <a:rPr lang="ru-RU" sz="1200" i="1" dirty="0" err="1"/>
              <a:t>P</a:t>
            </a:r>
            <a:r>
              <a:rPr lang="ru-RU" sz="1200" i="1" baseline="-25000" dirty="0" err="1"/>
              <a:t>ij</a:t>
            </a:r>
            <a:r>
              <a:rPr lang="ru-RU" sz="1200" i="1" dirty="0"/>
              <a:t> </a:t>
            </a:r>
            <a:r>
              <a:rPr lang="ru-RU" sz="1200" dirty="0"/>
              <a:t>, а в план — перевозка </a:t>
            </a:r>
            <a:r>
              <a:rPr lang="ru-RU" sz="1200" i="1" dirty="0" err="1"/>
              <a:t>x</a:t>
            </a:r>
            <a:r>
              <a:rPr lang="ru-RU" sz="1200" i="1" baseline="-25000" dirty="0" err="1"/>
              <a:t>ij</a:t>
            </a:r>
            <a:r>
              <a:rPr lang="ru-RU" sz="1200" i="1" dirty="0"/>
              <a:t> </a:t>
            </a:r>
            <a:r>
              <a:rPr lang="ru-RU" sz="1200" dirty="0"/>
              <a:t>, соответствующая наибольшему положительному элементу матрицы невязок  (</a:t>
            </a:r>
            <a:r>
              <a:rPr lang="en-US" sz="1200" dirty="0" err="1"/>
              <a:t>s</a:t>
            </a:r>
            <a:r>
              <a:rPr lang="en-US" sz="1200" baseline="-25000" dirty="0" err="1"/>
              <a:t>ij</a:t>
            </a:r>
            <a:r>
              <a:rPr lang="en-US" sz="1200" dirty="0"/>
              <a:t>)</a:t>
            </a:r>
            <a:r>
              <a:rPr lang="ru-RU" sz="1200" dirty="0"/>
              <a:t>.</a:t>
            </a:r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61078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(поиск исключаемого вектора)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Возьмем полученный ранее неоптимальный опорный план.</a:t>
            </a:r>
          </a:p>
          <a:p>
            <a:r>
              <a:rPr lang="ru-RU" sz="1200" dirty="0">
                <a:latin typeface="+mj-lt"/>
              </a:rPr>
              <a:t>Максимальный элемент соответствует </a:t>
            </a:r>
            <a:r>
              <a:rPr lang="en-US" sz="1200" dirty="0">
                <a:latin typeface="+mj-lt"/>
              </a:rPr>
              <a:t>P</a:t>
            </a:r>
            <a:r>
              <a:rPr lang="en-US" sz="1200" baseline="-25000" dirty="0">
                <a:latin typeface="+mj-lt"/>
              </a:rPr>
              <a:t>13</a:t>
            </a:r>
            <a:r>
              <a:rPr lang="en-US" sz="1200" dirty="0">
                <a:latin typeface="+mj-lt"/>
              </a:rPr>
              <a:t>.</a:t>
            </a:r>
            <a:endParaRPr lang="ru-RU" sz="1200" dirty="0">
              <a:latin typeface="+mj-lt"/>
            </a:endParaRPr>
          </a:p>
          <a:p>
            <a:endParaRPr lang="ru-RU" sz="1200" baseline="-25000" dirty="0">
              <a:latin typeface="+mj-lt"/>
            </a:endParaRPr>
          </a:p>
          <a:p>
            <a:r>
              <a:rPr lang="ru-RU" sz="1200" dirty="0"/>
              <a:t>В обычном симплексном методе вектор </a:t>
            </a:r>
            <a:r>
              <a:rPr lang="en-GB" sz="1200" i="1" dirty="0"/>
              <a:t>P </a:t>
            </a:r>
            <a:r>
              <a:rPr lang="ru-RU" sz="1200" dirty="0"/>
              <a:t>исключается из базиса, если</a:t>
            </a:r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r>
              <a:rPr lang="ru-RU" sz="1200" dirty="0"/>
              <a:t>где </a:t>
            </a:r>
            <a:r>
              <a:rPr lang="ru-RU" sz="1200" i="1" dirty="0" err="1"/>
              <a:t>x</a:t>
            </a:r>
            <a:r>
              <a:rPr lang="ru-RU" sz="1200" i="1" baseline="-25000" dirty="0" err="1"/>
              <a:t>ik</a:t>
            </a:r>
            <a:r>
              <a:rPr lang="ru-RU" sz="1200" i="1" dirty="0"/>
              <a:t> </a:t>
            </a:r>
            <a:r>
              <a:rPr lang="ru-RU" sz="1200" dirty="0"/>
              <a:t>— коэффициенты разложения включаемого вектора </a:t>
            </a:r>
            <a:r>
              <a:rPr lang="en-GB" sz="1200" i="1" dirty="0"/>
              <a:t>P</a:t>
            </a:r>
            <a:r>
              <a:rPr lang="en-GB" sz="1200" i="1" baseline="-25000" dirty="0"/>
              <a:t> k</a:t>
            </a:r>
          </a:p>
          <a:p>
            <a:r>
              <a:rPr lang="ru-RU" sz="1200" dirty="0"/>
              <a:t>по текущему базису, они в готовом виде содержатся в ведущем</a:t>
            </a:r>
          </a:p>
          <a:p>
            <a:r>
              <a:rPr lang="ru-RU" sz="1200" dirty="0"/>
              <a:t>столбце симплексной таблицы.</a:t>
            </a:r>
          </a:p>
          <a:p>
            <a:endParaRPr lang="ru-RU" sz="1200" baseline="-25000" dirty="0">
              <a:latin typeface="+mj-lt"/>
            </a:endParaRPr>
          </a:p>
          <a:p>
            <a:r>
              <a:rPr lang="ru-RU" sz="1200" dirty="0"/>
              <a:t>Для того чтобы определить, какую перевозку следует исключить, если</a:t>
            </a:r>
          </a:p>
          <a:p>
            <a:r>
              <a:rPr lang="ru-RU" sz="1200" dirty="0"/>
              <a:t>создается перевозка </a:t>
            </a:r>
            <a:r>
              <a:rPr lang="ru-RU" sz="1200" i="1" dirty="0"/>
              <a:t>x</a:t>
            </a:r>
            <a:r>
              <a:rPr lang="ru-RU" sz="1200" baseline="-25000" dirty="0"/>
              <a:t>13</a:t>
            </a:r>
            <a:r>
              <a:rPr lang="ru-RU" sz="1200" dirty="0"/>
              <a:t>, построим замкнутый маршрут из ненулевых </a:t>
            </a:r>
          </a:p>
          <a:p>
            <a:r>
              <a:rPr lang="ru-RU" sz="1200" dirty="0"/>
              <a:t>перевозок опорного плана, замыкающийся на вводимую перевозку.</a:t>
            </a:r>
          </a:p>
          <a:p>
            <a:endParaRPr lang="ru-RU" sz="1200" baseline="-25000" dirty="0">
              <a:latin typeface="+mj-lt"/>
            </a:endParaRPr>
          </a:p>
          <a:p>
            <a:r>
              <a:rPr lang="ru-RU" sz="1200" dirty="0"/>
              <a:t>В данном маршруте две нечетных перевозки: 1-я </a:t>
            </a:r>
            <a:r>
              <a:rPr lang="ru-RU" sz="1200" i="1" dirty="0"/>
              <a:t>x</a:t>
            </a:r>
            <a:r>
              <a:rPr lang="ru-RU" sz="1200" baseline="-25000" dirty="0"/>
              <a:t>12</a:t>
            </a:r>
            <a:r>
              <a:rPr lang="ru-RU" sz="1200" dirty="0"/>
              <a:t> = 3 и 3-я </a:t>
            </a:r>
            <a:r>
              <a:rPr lang="ru-RU" sz="1200" i="1" dirty="0"/>
              <a:t>x</a:t>
            </a:r>
            <a:r>
              <a:rPr lang="ru-RU" sz="1200" baseline="-25000" dirty="0"/>
              <a:t>23</a:t>
            </a:r>
            <a:r>
              <a:rPr lang="ru-RU" sz="1200" dirty="0"/>
              <a:t> = 6, минимальная из них 1-я:</a:t>
            </a:r>
          </a:p>
          <a:p>
            <a:endParaRPr lang="ru-RU" sz="1200" i="1" dirty="0"/>
          </a:p>
          <a:p>
            <a:endParaRPr lang="ru-RU" sz="1200" dirty="0"/>
          </a:p>
          <a:p>
            <a:r>
              <a:rPr lang="ru-RU" sz="1200" dirty="0"/>
              <a:t>Следовательно, из базиса исключается вектор </a:t>
            </a:r>
            <a:r>
              <a:rPr lang="ru-RU" sz="1200" i="1" dirty="0"/>
              <a:t>P</a:t>
            </a:r>
            <a:r>
              <a:rPr lang="ru-RU" sz="1200" i="1" baseline="-25000" dirty="0"/>
              <a:t> </a:t>
            </a:r>
            <a:r>
              <a:rPr lang="ru-RU" sz="1200" baseline="-25000" dirty="0"/>
              <a:t>12</a:t>
            </a:r>
            <a:r>
              <a:rPr lang="ru-RU" sz="1200" dirty="0"/>
              <a:t>, в новом плане продукция с первого склада во второй магазин перевозиться не будет.</a:t>
            </a:r>
            <a:endParaRPr lang="ru-RU" sz="1200" baseline="-25000" dirty="0">
              <a:latin typeface="+mj-lt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158" y="1116193"/>
            <a:ext cx="3096344" cy="775589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610" y="1904254"/>
            <a:ext cx="2265967" cy="936104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7" y="1850869"/>
            <a:ext cx="1512168" cy="52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767" y="2997766"/>
            <a:ext cx="1427773" cy="65410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673" y="3867894"/>
            <a:ext cx="1724397" cy="328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1078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(преобразование опорного плана)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Преобразование опорного плана при переходе к новому базису в симплексном методе </a:t>
            </a:r>
            <a:r>
              <a:rPr lang="ru-RU" sz="1200" dirty="0" err="1"/>
              <a:t>проис</a:t>
            </a:r>
            <a:r>
              <a:rPr lang="ru-RU" sz="1200" dirty="0"/>
              <a:t>-</a:t>
            </a:r>
          </a:p>
          <a:p>
            <a:r>
              <a:rPr lang="ru-RU" sz="1200" dirty="0"/>
              <a:t>ходит по формулам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r>
              <a:rPr lang="ru-RU" sz="1200" dirty="0"/>
              <a:t>Адаптируя это преобразование к транспортной задаче, в которой коэффициенты разложения </a:t>
            </a:r>
            <a:r>
              <a:rPr lang="ru-RU" sz="1200" i="1" dirty="0" err="1"/>
              <a:t>x</a:t>
            </a:r>
            <a:r>
              <a:rPr lang="ru-RU" sz="1200" i="1" baseline="-25000" dirty="0" err="1"/>
              <a:t>ik</a:t>
            </a:r>
            <a:r>
              <a:rPr lang="ru-RU" sz="1200" i="1" dirty="0"/>
              <a:t> ∈ </a:t>
            </a:r>
            <a:r>
              <a:rPr lang="ru-RU" sz="1200" dirty="0"/>
              <a:t>(+1</a:t>
            </a:r>
            <a:r>
              <a:rPr lang="ru-RU" sz="1200" i="1" dirty="0"/>
              <a:t>,−</a:t>
            </a:r>
            <a:r>
              <a:rPr lang="ru-RU" sz="1200" dirty="0"/>
              <a:t>1</a:t>
            </a:r>
            <a:r>
              <a:rPr lang="ru-RU" sz="1200" i="1" dirty="0"/>
              <a:t>, </a:t>
            </a:r>
            <a:r>
              <a:rPr lang="ru-RU" sz="1200" dirty="0"/>
              <a:t>0)</a:t>
            </a:r>
            <a:r>
              <a:rPr lang="ru-RU" sz="1200" i="1" dirty="0"/>
              <a:t>, </a:t>
            </a:r>
            <a:r>
              <a:rPr lang="ru-RU" sz="1200" dirty="0"/>
              <a:t>а </a:t>
            </a:r>
            <a:r>
              <a:rPr lang="el-GR" sz="1200" dirty="0"/>
              <a:t>θ</a:t>
            </a:r>
            <a:r>
              <a:rPr lang="ru-RU" sz="1200" baseline="-25000" dirty="0"/>
              <a:t>0</a:t>
            </a:r>
            <a:r>
              <a:rPr lang="ru-RU" sz="1200" dirty="0"/>
              <a:t>—</a:t>
            </a:r>
          </a:p>
          <a:p>
            <a:r>
              <a:rPr lang="ru-RU" sz="1200" dirty="0"/>
              <a:t>минимальная нечетная перевозка, получаем следующее правило преобразования плана перевозок: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r>
              <a:rPr lang="ru-RU" sz="1200" dirty="0">
                <a:latin typeface="+mj-lt"/>
              </a:rPr>
              <a:t>Полученный план оптимален?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558131"/>
            <a:ext cx="1313771" cy="607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601223"/>
            <a:ext cx="1512168" cy="52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765" y="3529114"/>
            <a:ext cx="1724397" cy="328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67" y="2656206"/>
            <a:ext cx="4584346" cy="121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7078" y="2787774"/>
            <a:ext cx="1427773" cy="654103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604" y="3857207"/>
            <a:ext cx="1155452" cy="67758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10781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(алгоритм)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87" y="927120"/>
            <a:ext cx="4567947" cy="3700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1078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(алгоритм)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976629"/>
            <a:ext cx="4467942" cy="3611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1078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</a:t>
            </a:r>
            <a:r>
              <a:rPr lang="ru-RU" dirty="0" err="1"/>
              <a:t>многопродуктовая</a:t>
            </a:r>
            <a:r>
              <a:rPr lang="ru-RU" dirty="0"/>
              <a:t> задача)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59377"/>
            <a:ext cx="3024336" cy="2392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8696" y="1185332"/>
            <a:ext cx="4298121" cy="2046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1078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(производство с запасами)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1086546"/>
            <a:ext cx="78405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Некоторая фирма собирается выпускать изделия определенного вида в течение четырех месяцев. Величина спроса в течение этих четырех месяцев составляет 100, 200, 180 и 300 изделий соответственно. В каждый месяц спрос можно удовлетворить за счет</a:t>
            </a:r>
          </a:p>
          <a:p>
            <a:r>
              <a:rPr lang="ru-RU" sz="1200" dirty="0"/>
              <a:t>1) избытка произведенных в прошлом месяце изделий, сохраняющихся для реализации в будущем</a:t>
            </a:r>
          </a:p>
          <a:p>
            <a:r>
              <a:rPr lang="ru-RU" sz="1200" dirty="0"/>
              <a:t>2) производства изделий в течение месяца</a:t>
            </a:r>
          </a:p>
          <a:p>
            <a:r>
              <a:rPr lang="ru-RU" sz="1200" dirty="0"/>
              <a:t>3) избытка производства изделий в более поздние месяцы в счет невыполненных заказов</a:t>
            </a:r>
          </a:p>
          <a:p>
            <a:endParaRPr lang="ru-RU" sz="1200" dirty="0"/>
          </a:p>
          <a:p>
            <a:r>
              <a:rPr lang="ru-RU" sz="1200" dirty="0"/>
              <a:t>Затраты на одно изделие в каждый месяц составляют 4 доллара. Изделие, произведенное для более поздней реализации, влечет за собой дополнительные издержки за хранение 0,5 дол/мес. </a:t>
            </a:r>
          </a:p>
          <a:p>
            <a:r>
              <a:rPr lang="ru-RU" sz="1200" dirty="0"/>
              <a:t>С другой стороны, каждое изделие, выпускаемое в счет невыполненных заказов, облагается штрафом 2 дол/мес.</a:t>
            </a:r>
          </a:p>
          <a:p>
            <a:r>
              <a:rPr lang="ru-RU" sz="1200" dirty="0"/>
              <a:t>Объем производства изделий меняется от месяца к месяцу. </a:t>
            </a:r>
          </a:p>
          <a:p>
            <a:r>
              <a:rPr lang="ru-RU" sz="1200" dirty="0"/>
              <a:t>В рассматриваемые четыре месяца предполагается выпуск 50, 180, 280 и 270 изделий соответственно.</a:t>
            </a:r>
          </a:p>
          <a:p>
            <a:endParaRPr lang="ru-RU" sz="1200" dirty="0"/>
          </a:p>
          <a:p>
            <a:r>
              <a:rPr lang="ru-RU" sz="1200" dirty="0"/>
              <a:t>Требуется составить план, имеющий минимальную стоимость производства и хранения изделий.</a:t>
            </a:r>
          </a:p>
        </p:txBody>
      </p:sp>
    </p:spTree>
    <p:extLst>
      <p:ext uri="{BB962C8B-B14F-4D97-AF65-F5344CB8AC3E}">
        <p14:creationId xmlns:p14="http://schemas.microsoft.com/office/powerpoint/2010/main" val="4161078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5131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5931" y="995781"/>
            <a:ext cx="2821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Задачу можно сформулировать как транспортную. Эквивалентность между элементами производственной и транспортной систем устанавливается следующим образом.</a:t>
            </a:r>
          </a:p>
          <a:p>
            <a:endParaRPr lang="ru-RU" sz="1200" dirty="0">
              <a:latin typeface="+mj-lt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983655"/>
            <a:ext cx="5129187" cy="3595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3" y="2499742"/>
            <a:ext cx="2635587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1078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403" y="0"/>
            <a:ext cx="8172400" cy="5143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4528" y="1275606"/>
            <a:ext cx="78405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1.Сформулируйте </a:t>
            </a:r>
            <a:r>
              <a:rPr lang="ru-RU" sz="1200" dirty="0" err="1"/>
              <a:t>экономико</a:t>
            </a:r>
            <a:r>
              <a:rPr lang="ru-RU" sz="1200" dirty="0"/>
              <a:t> – математическую модель транспортной задачи</a:t>
            </a:r>
          </a:p>
          <a:p>
            <a:r>
              <a:rPr lang="ru-RU" sz="1200" dirty="0"/>
              <a:t>2. Приведите отрытую модель транспортной задачи</a:t>
            </a:r>
          </a:p>
          <a:p>
            <a:r>
              <a:rPr lang="ru-RU" sz="1200" dirty="0"/>
              <a:t>3. Как решить транспортную задачу симплексным методом?</a:t>
            </a:r>
          </a:p>
          <a:p>
            <a:r>
              <a:rPr lang="ru-RU" sz="1200" dirty="0"/>
              <a:t>4. В чем состоит суть метода северо-западного угла поиска начального базиса при решении транспортной задачи?</a:t>
            </a:r>
          </a:p>
          <a:p>
            <a:r>
              <a:rPr lang="ru-RU" sz="1200" dirty="0"/>
              <a:t>5. В чем состоит суть метода наименьших стоимостей поиска начального базиса при решении транспортной задачи?</a:t>
            </a:r>
          </a:p>
          <a:p>
            <a:r>
              <a:rPr lang="ru-RU" sz="1200" dirty="0"/>
              <a:t>6. Опишите суть метода потенциалов </a:t>
            </a:r>
          </a:p>
          <a:p>
            <a:r>
              <a:rPr lang="ru-RU" sz="1200" dirty="0"/>
              <a:t>7. Как улучшить оптимальный план перевозок в транспортной задаче (циклы перераспределения)?</a:t>
            </a:r>
          </a:p>
          <a:p>
            <a:r>
              <a:rPr lang="ru-RU" sz="1200" dirty="0"/>
              <a:t>8. Как решить открытую транспортную задачу?</a:t>
            </a:r>
            <a:endParaRPr lang="ru-RU" sz="1200" dirty="0">
              <a:solidFill>
                <a:srgbClr val="FF0000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44" y="28135"/>
            <a:ext cx="2306235" cy="189265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47" y="4570851"/>
            <a:ext cx="1123949" cy="5334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4434" y="258588"/>
            <a:ext cx="5293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Arial Black" pitchFamily="34" charset="0"/>
              </a:rPr>
              <a:t>?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33" y="382698"/>
            <a:ext cx="2213007" cy="94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194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(команда 1)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+mj-lt"/>
              </a:rPr>
              <a:t>Решить транспортную задачу, составив первоначальный план перевозок по правилу минимального элемента</a:t>
            </a:r>
          </a:p>
          <a:p>
            <a:endParaRPr lang="ru-RU" sz="1200" dirty="0">
              <a:latin typeface="+mj-lt"/>
            </a:endParaRPr>
          </a:p>
          <a:p>
            <a:endParaRPr lang="ru-RU" sz="1200" dirty="0">
              <a:latin typeface="+mj-lt"/>
            </a:endParaRPr>
          </a:p>
          <a:p>
            <a:r>
              <a:rPr lang="ru-RU" sz="1200" dirty="0"/>
              <a:t>Из трёх пунктов отправления нужно отправить груз в четыре пункта потребления.</a:t>
            </a:r>
          </a:p>
          <a:p>
            <a:endParaRPr lang="ru-RU" sz="1200" dirty="0"/>
          </a:p>
          <a:p>
            <a:r>
              <a:rPr lang="ru-RU" sz="1200" dirty="0"/>
              <a:t>В пункте </a:t>
            </a:r>
            <a:r>
              <a:rPr lang="ru-RU" sz="1200" i="1" dirty="0"/>
              <a:t>A</a:t>
            </a:r>
            <a:r>
              <a:rPr lang="ru-RU" sz="1200" dirty="0"/>
              <a:t>1 в наличии 40 единиц груза, в пункте </a:t>
            </a:r>
            <a:r>
              <a:rPr lang="ru-RU" sz="1200" i="1" dirty="0"/>
              <a:t>A</a:t>
            </a:r>
            <a:r>
              <a:rPr lang="ru-RU" sz="1200" dirty="0"/>
              <a:t>2 - 60 единиц, в пункте </a:t>
            </a:r>
            <a:r>
              <a:rPr lang="ru-RU" sz="1200" i="1" dirty="0"/>
              <a:t>A</a:t>
            </a:r>
            <a:r>
              <a:rPr lang="ru-RU" sz="1200" dirty="0"/>
              <a:t>3 - 100. Пункту потребления </a:t>
            </a:r>
            <a:r>
              <a:rPr lang="ru-RU" sz="1200" i="1" dirty="0"/>
              <a:t>B</a:t>
            </a:r>
            <a:r>
              <a:rPr lang="ru-RU" sz="1200" dirty="0"/>
              <a:t>1 требуются 35 единиц груза, пункту </a:t>
            </a:r>
            <a:r>
              <a:rPr lang="ru-RU" sz="1200" i="1" dirty="0"/>
              <a:t>B</a:t>
            </a:r>
            <a:r>
              <a:rPr lang="ru-RU" sz="1200" dirty="0"/>
              <a:t>2 - 35, пункту </a:t>
            </a:r>
            <a:r>
              <a:rPr lang="ru-RU" sz="1200" i="1" dirty="0"/>
              <a:t>B</a:t>
            </a:r>
            <a:r>
              <a:rPr lang="ru-RU" sz="1200" dirty="0"/>
              <a:t>3 - 80, пункту </a:t>
            </a:r>
            <a:r>
              <a:rPr lang="ru-RU" sz="1200" i="1" dirty="0"/>
              <a:t>B</a:t>
            </a:r>
            <a:r>
              <a:rPr lang="ru-RU" sz="1200" dirty="0"/>
              <a:t>4 - 50.</a:t>
            </a:r>
          </a:p>
          <a:p>
            <a:endParaRPr lang="ru-RU" sz="1200" dirty="0">
              <a:latin typeface="+mj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26033461-AC78-9743-81C8-07C5A844A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987" y="2571750"/>
            <a:ext cx="416242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7601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(команда 2)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5931" y="1086546"/>
            <a:ext cx="7840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+mj-lt"/>
              </a:rPr>
              <a:t>Решить транспортную задачу, составив первоначальный план перевозок по правилу северо-западного угла.</a:t>
            </a:r>
          </a:p>
          <a:p>
            <a:endParaRPr lang="ru-RU" sz="1200" dirty="0">
              <a:latin typeface="+mj-lt"/>
            </a:endParaRPr>
          </a:p>
          <a:p>
            <a:r>
              <a:rPr lang="ru-RU" sz="1200" dirty="0">
                <a:latin typeface="+mj-lt"/>
              </a:rPr>
              <a:t>Из трёх пунктов отправления нужно отправить груз в три пункта потребления.</a:t>
            </a:r>
          </a:p>
          <a:p>
            <a:endParaRPr lang="ru-RU" sz="1200" dirty="0">
              <a:latin typeface="+mj-lt"/>
            </a:endParaRPr>
          </a:p>
          <a:p>
            <a:r>
              <a:rPr lang="ru-RU" sz="1200" dirty="0">
                <a:latin typeface="+mj-lt"/>
              </a:rPr>
              <a:t>В пункте A1 в наличии 20 единиц груза, в пункте A2 - 40 единиц, в пункте A3 - 40. Пункту потребления B1 требуются 20 единиц груза, пункту B2 - 20, пункту B3 - 60.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CF3FA403-C688-1B49-BD59-3414A9B22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355726"/>
            <a:ext cx="40767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4126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(команда 3)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25" y="1059582"/>
            <a:ext cx="6830342" cy="2709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09234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(команда 4)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89" y="1203598"/>
            <a:ext cx="7272210" cy="282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83418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(команда 5)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09" y="1521247"/>
            <a:ext cx="7816951" cy="30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179512" y="1059582"/>
            <a:ext cx="74168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Решить транспортную задачу, составив первоначальный план перевозок по правилу северо-западного угла</a:t>
            </a:r>
          </a:p>
        </p:txBody>
      </p:sp>
    </p:spTree>
    <p:extLst>
      <p:ext uri="{BB962C8B-B14F-4D97-AF65-F5344CB8AC3E}">
        <p14:creationId xmlns:p14="http://schemas.microsoft.com/office/powerpoint/2010/main" val="9779247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46062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(команда 6)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7504" y="4698855"/>
            <a:ext cx="7840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707654"/>
            <a:ext cx="7056240" cy="2789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79512" y="1059582"/>
            <a:ext cx="69127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Решить транспортную задачу, составив первоначальный план перевозок по правилу минимального элемента</a:t>
            </a:r>
          </a:p>
        </p:txBody>
      </p:sp>
    </p:spTree>
    <p:extLst>
      <p:ext uri="{BB962C8B-B14F-4D97-AF65-F5344CB8AC3E}">
        <p14:creationId xmlns:p14="http://schemas.microsoft.com/office/powerpoint/2010/main" val="15396070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(команда 7)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25" y="1059582"/>
            <a:ext cx="6830342" cy="2709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84437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4623542"/>
            <a:ext cx="8172400" cy="519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15566"/>
            <a:ext cx="7092280" cy="7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07504" y="483518"/>
            <a:ext cx="7056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Транспортная задача (команда 8)</a:t>
            </a:r>
            <a:endParaRPr lang="ru-RU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748" y="0"/>
            <a:ext cx="968940" cy="51435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50" y="4534787"/>
            <a:ext cx="1123950" cy="533400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89" y="1203598"/>
            <a:ext cx="7272210" cy="282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58753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72400" cy="5143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4528" y="1275606"/>
            <a:ext cx="78405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ru-RU" sz="1200" dirty="0"/>
              <a:t>Какие из задач в семинаре были двойственными? Как связаны их решения?</a:t>
            </a:r>
          </a:p>
          <a:p>
            <a:pPr marL="228600" indent="-228600">
              <a:buAutoNum type="arabicPeriod"/>
            </a:pPr>
            <a:r>
              <a:rPr lang="ru-RU" sz="1200" dirty="0"/>
              <a:t>Что означает не выход одной из переменных из базиса?</a:t>
            </a:r>
          </a:p>
          <a:p>
            <a:pPr marL="228600" indent="-228600">
              <a:buAutoNum type="arabicPeriod"/>
            </a:pPr>
            <a:r>
              <a:rPr lang="ru-RU" sz="1200" dirty="0"/>
              <a:t>Как изменился бы симплекс метод, если бы в каноническом виде решалась бы задача на максимум?</a:t>
            </a:r>
          </a:p>
          <a:p>
            <a:pPr marL="228600" indent="-228600">
              <a:buFontTx/>
              <a:buAutoNum type="arabicPeriod"/>
            </a:pPr>
            <a:endParaRPr lang="ru-RU" sz="1200" dirty="0"/>
          </a:p>
          <a:p>
            <a:pPr marL="228600" indent="-228600">
              <a:buFontTx/>
              <a:buAutoNum type="arabicPeriod"/>
            </a:pPr>
            <a:endParaRPr lang="ru-RU" sz="1200" dirty="0"/>
          </a:p>
          <a:p>
            <a:pPr marL="228600" indent="-228600">
              <a:buFontTx/>
              <a:buAutoNum type="arabicPeriod"/>
            </a:pPr>
            <a:endParaRPr lang="ru-RU" sz="1200" dirty="0"/>
          </a:p>
          <a:p>
            <a:pPr marL="228600" indent="-228600">
              <a:buFontTx/>
              <a:buAutoNum type="arabicPeriod"/>
            </a:pPr>
            <a:endParaRPr lang="ru-RU" sz="1200" dirty="0"/>
          </a:p>
          <a:p>
            <a:pPr marL="228600" indent="-228600">
              <a:buAutoNum type="arabicPeriod"/>
            </a:pPr>
            <a:endParaRPr lang="en-US" sz="1200" dirty="0"/>
          </a:p>
          <a:p>
            <a:pPr marL="228600" indent="-228600">
              <a:buAutoNum type="arabicPeriod"/>
            </a:pPr>
            <a:endParaRPr lang="ru-RU" sz="12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44" y="28135"/>
            <a:ext cx="2306235" cy="189265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047" y="4570851"/>
            <a:ext cx="1123949" cy="5334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4434" y="258588"/>
            <a:ext cx="5293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Arial Black" pitchFamily="34" charset="0"/>
              </a:rPr>
              <a:t>?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33" y="382698"/>
            <a:ext cx="2213007" cy="94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7011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11987</TotalTime>
  <Words>2761</Words>
  <Application>Microsoft Macintosh PowerPoint</Application>
  <PresentationFormat>Presentación en pantalla (16:9)</PresentationFormat>
  <Paragraphs>302</Paragraphs>
  <Slides>37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2" baseType="lpstr">
      <vt:lpstr>Arial</vt:lpstr>
      <vt:lpstr>Arial Black</vt:lpstr>
      <vt:lpstr>Calibri</vt:lpstr>
      <vt:lpstr>PT Sans</vt:lpstr>
      <vt:lpstr>Тема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Dudarin Pavel</cp:lastModifiedBy>
  <cp:revision>382</cp:revision>
  <dcterms:created xsi:type="dcterms:W3CDTF">2021-07-29T10:45:19Z</dcterms:created>
  <dcterms:modified xsi:type="dcterms:W3CDTF">2024-11-12T05:22:59Z</dcterms:modified>
</cp:coreProperties>
</file>