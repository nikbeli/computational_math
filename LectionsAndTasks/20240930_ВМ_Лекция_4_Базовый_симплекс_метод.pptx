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7" r:id="rId2"/>
    <p:sldId id="348" r:id="rId3"/>
    <p:sldId id="406" r:id="rId4"/>
    <p:sldId id="407" r:id="rId5"/>
    <p:sldId id="408" r:id="rId6"/>
    <p:sldId id="409" r:id="rId7"/>
    <p:sldId id="410" r:id="rId8"/>
    <p:sldId id="411" r:id="rId9"/>
    <p:sldId id="413" r:id="rId10"/>
    <p:sldId id="412" r:id="rId11"/>
    <p:sldId id="414" r:id="rId12"/>
    <p:sldId id="416" r:id="rId13"/>
    <p:sldId id="417" r:id="rId14"/>
    <p:sldId id="418" r:id="rId15"/>
    <p:sldId id="419" r:id="rId16"/>
    <p:sldId id="420" r:id="rId17"/>
    <p:sldId id="421" r:id="rId18"/>
    <p:sldId id="441" r:id="rId19"/>
    <p:sldId id="439" r:id="rId20"/>
    <p:sldId id="445" r:id="rId21"/>
    <p:sldId id="275" r:id="rId22"/>
    <p:sldId id="354" r:id="rId23"/>
    <p:sldId id="367" r:id="rId24"/>
    <p:sldId id="280" r:id="rId25"/>
    <p:sldId id="366" r:id="rId26"/>
    <p:sldId id="370" r:id="rId27"/>
    <p:sldId id="361" r:id="rId28"/>
    <p:sldId id="362" r:id="rId29"/>
    <p:sldId id="452" r:id="rId30"/>
    <p:sldId id="451" r:id="rId3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94" autoAdjust="0"/>
    <p:restoredTop sz="95878" autoAdjust="0"/>
  </p:normalViewPr>
  <p:slideViewPr>
    <p:cSldViewPr>
      <p:cViewPr varScale="1">
        <p:scale>
          <a:sx n="167" d="100"/>
          <a:sy n="167" d="100"/>
        </p:scale>
        <p:origin x="720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B7474-73D3-4763-9101-60B4C5294CC5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A5ED2-282E-461B-A939-F0BB6074ADC9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23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224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Ответы</a:t>
            </a:r>
            <a:r>
              <a:rPr lang="ru-RU" baseline="0" dirty="0"/>
              <a:t> :  1 (1,3)  2 (3) 3 (3, 4)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Как получить базис?</a:t>
            </a:r>
          </a:p>
          <a:p>
            <a:pPr marL="228600" indent="-228600">
              <a:buAutoNum type="arabicPeriod"/>
            </a:pPr>
            <a:r>
              <a:rPr lang="ru-RU" baseline="0" dirty="0"/>
              <a:t>Всегда ли можно получить базисное решение преобразованиями Гаусса-</a:t>
            </a:r>
            <a:r>
              <a:rPr lang="ru-RU" baseline="0" dirty="0" err="1"/>
              <a:t>Жордана</a:t>
            </a:r>
            <a:r>
              <a:rPr lang="ru-RU" baseline="0" dirty="0"/>
              <a:t>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baseline="0" dirty="0"/>
              <a:t>Не все искусственные переменные вышли из базиса. О чем это говорит? Это плохо?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395"/>
            <a:ext cx="9144000" cy="51435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063"/>
            <a:ext cx="6186488" cy="3500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715" y="1108041"/>
            <a:ext cx="86205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Исследование операций и методы оптимизации</a:t>
            </a:r>
          </a:p>
          <a:p>
            <a:pPr algn="ctr"/>
            <a:endParaRPr lang="ru-RU" sz="24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sym typeface="PT Sans"/>
              </a:rPr>
              <a:t>Лекция 3</a:t>
            </a: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Базовый симплекс метод </a:t>
            </a: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решения задачи линейного программирования</a:t>
            </a:r>
            <a:endParaRPr lang="ru-RU" sz="2400" b="1" dirty="0">
              <a:solidFill>
                <a:srgbClr val="FFFFFF"/>
              </a:solidFill>
              <a:latin typeface="PT Sans"/>
              <a:sym typeface="PT San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94" y="0"/>
            <a:ext cx="2907506" cy="20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Гаусс и </a:t>
            </a:r>
            <a:r>
              <a:rPr lang="ru-RU" dirty="0" err="1"/>
              <a:t>Жордан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095" y="985792"/>
            <a:ext cx="1737355" cy="349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74" y="1015582"/>
            <a:ext cx="2141916" cy="3554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348" y="1019517"/>
            <a:ext cx="1803940" cy="3612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805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Определение. </a:t>
            </a:r>
            <a:r>
              <a:rPr lang="ru-RU" sz="1200" i="1" dirty="0"/>
              <a:t>План X </a:t>
            </a:r>
            <a:r>
              <a:rPr lang="ru-RU" sz="1200" dirty="0"/>
              <a:t>= (</a:t>
            </a:r>
            <a:r>
              <a:rPr lang="ru-RU" sz="1200" i="1" dirty="0"/>
              <a:t>x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n</a:t>
            </a:r>
            <a:r>
              <a:rPr lang="ru-RU" sz="1200" dirty="0"/>
              <a:t>)</a:t>
            </a:r>
            <a:r>
              <a:rPr lang="ru-RU" sz="1200" i="1" baseline="30000" dirty="0"/>
              <a:t>T</a:t>
            </a:r>
            <a:r>
              <a:rPr lang="ru-RU" sz="1200" i="1" dirty="0"/>
              <a:t> задачи линейного программирования называется </a:t>
            </a:r>
            <a:r>
              <a:rPr lang="ru-RU" sz="1200" b="1" i="1" dirty="0"/>
              <a:t>опорным</a:t>
            </a:r>
            <a:r>
              <a:rPr lang="ru-RU" sz="1200" i="1" dirty="0"/>
              <a:t>, если векторы-</a:t>
            </a:r>
          </a:p>
          <a:p>
            <a:r>
              <a:rPr lang="ru-RU" sz="1200" i="1" dirty="0"/>
              <a:t>столбцы матрицы A, соответствующие ненулевым компонентам вектора </a:t>
            </a:r>
            <a:r>
              <a:rPr lang="en-GB" sz="1200" i="1" dirty="0"/>
              <a:t>X , </a:t>
            </a:r>
            <a:r>
              <a:rPr lang="ru-RU" sz="1200" i="1" dirty="0"/>
              <a:t>являются линейно независимыми.</a:t>
            </a:r>
          </a:p>
          <a:p>
            <a:endParaRPr lang="ru-RU" sz="1200" i="1" dirty="0">
              <a:latin typeface="+mj-lt"/>
            </a:endParaRPr>
          </a:p>
          <a:p>
            <a:r>
              <a:rPr lang="ru-RU" sz="1200" dirty="0"/>
              <a:t>Из определения следует, что в опорном плане имеется не более </a:t>
            </a:r>
            <a:r>
              <a:rPr lang="ru-RU" sz="1200" i="1" dirty="0"/>
              <a:t>r </a:t>
            </a:r>
            <a:r>
              <a:rPr lang="ru-RU" sz="1200" dirty="0"/>
              <a:t>ненулевых компонент, где </a:t>
            </a:r>
            <a:r>
              <a:rPr lang="ru-RU" sz="1200" i="1" dirty="0"/>
              <a:t>r =</a:t>
            </a:r>
            <a:r>
              <a:rPr lang="ru-RU" sz="1200" dirty="0"/>
              <a:t> рангу матрицы </a:t>
            </a:r>
            <a:r>
              <a:rPr lang="ru-RU" sz="1200" i="1" dirty="0"/>
              <a:t>A</a:t>
            </a:r>
            <a:r>
              <a:rPr lang="ru-RU" sz="1200" dirty="0"/>
              <a:t>. Если считать, что в условиях задачи нет линейно зависимых уравнений, то ранг равен числу уравнений </a:t>
            </a:r>
            <a:r>
              <a:rPr lang="ru-RU" sz="1200" i="1" dirty="0"/>
              <a:t>m.</a:t>
            </a:r>
            <a:r>
              <a:rPr lang="ru-RU" sz="1200" dirty="0"/>
              <a:t> </a:t>
            </a:r>
          </a:p>
          <a:p>
            <a:r>
              <a:rPr lang="ru-RU" sz="1200" dirty="0"/>
              <a:t>Тогда если в опорном плане имеется ровно </a:t>
            </a:r>
            <a:r>
              <a:rPr lang="ru-RU" sz="1200" i="1" dirty="0"/>
              <a:t>m </a:t>
            </a:r>
            <a:r>
              <a:rPr lang="ru-RU" sz="1200" dirty="0"/>
              <a:t>ненулевых компонент, то он является невырожденным, в противном</a:t>
            </a:r>
          </a:p>
          <a:p>
            <a:r>
              <a:rPr lang="ru-RU" sz="1200" dirty="0"/>
              <a:t>случае — вырожденным.</a:t>
            </a:r>
          </a:p>
          <a:p>
            <a:endParaRPr lang="ru-RU" sz="1200" dirty="0"/>
          </a:p>
          <a:p>
            <a:r>
              <a:rPr lang="ru-RU" sz="1200" b="1" dirty="0"/>
              <a:t>Свойство 3.</a:t>
            </a:r>
            <a:r>
              <a:rPr lang="ru-RU" sz="1200" dirty="0"/>
              <a:t> </a:t>
            </a:r>
            <a:r>
              <a:rPr lang="ru-RU" sz="1200" i="1" dirty="0"/>
              <a:t>План X является крайней точкой множества планов тогда и только тогда, когда он опорный.</a:t>
            </a:r>
          </a:p>
          <a:p>
            <a:endParaRPr lang="ru-RU" sz="1200" i="1" dirty="0"/>
          </a:p>
          <a:p>
            <a:endParaRPr lang="ru-RU" sz="1200" dirty="0"/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003798"/>
            <a:ext cx="3168352" cy="1263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51520" y="2944529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Этот фундаментальный вывод открывает следующий путь решения задачи линейного программирования. Следуя ему, для нахождения оптимального плана нужно: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найти все базисные решения соответствующей системы линейных уравнений;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выбрать из них неотрицательные;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подставляя выбранные решения в целевую функцию, найти</a:t>
            </a:r>
          </a:p>
          <a:p>
            <a:r>
              <a:rPr lang="ru-RU" sz="1200" dirty="0"/>
              <a:t>наилучшее.</a:t>
            </a:r>
          </a:p>
        </p:txBody>
      </p:sp>
    </p:spTree>
    <p:extLst>
      <p:ext uri="{BB962C8B-B14F-4D97-AF65-F5344CB8AC3E}">
        <p14:creationId xmlns:p14="http://schemas.microsoft.com/office/powerpoint/2010/main" val="244395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Большинство методов оптимизации сводится к последовательному перебору некоторого числа вариантов. </a:t>
            </a:r>
          </a:p>
          <a:p>
            <a:r>
              <a:rPr lang="ru-RU" sz="1200" dirty="0"/>
              <a:t>Чтобы его сократить, перебор нужно каким-то образом упорядочить. В различных конкретных методах способы упорядочения перебора свои, однако все они в той или иной степени основываются на трех общих приемах.</a:t>
            </a:r>
          </a:p>
          <a:p>
            <a:endParaRPr lang="ru-RU" sz="1200" i="1" dirty="0"/>
          </a:p>
          <a:p>
            <a:r>
              <a:rPr lang="ru-RU" sz="1200" i="1" dirty="0"/>
              <a:t>• Ограничение перебора. </a:t>
            </a:r>
            <a:r>
              <a:rPr lang="ru-RU" sz="1200" dirty="0"/>
              <a:t>Состоит в том, что следующий анализируемый вариант выбирается не где попало, а в некоторой связи с предыдущим.</a:t>
            </a:r>
          </a:p>
          <a:p>
            <a:endParaRPr lang="ru-RU" sz="1200" dirty="0"/>
          </a:p>
          <a:p>
            <a:r>
              <a:rPr lang="ru-RU" sz="1200" i="1" dirty="0"/>
              <a:t>• Направленность перебора. </a:t>
            </a:r>
            <a:r>
              <a:rPr lang="ru-RU" sz="1200" dirty="0"/>
              <a:t>При переборе целевая функция должна все время улучшаться. Таким образом, каждый раз отсекается множество заведомо неперспективных вариантов.</a:t>
            </a:r>
          </a:p>
          <a:p>
            <a:endParaRPr lang="ru-RU" sz="1200" dirty="0"/>
          </a:p>
          <a:p>
            <a:r>
              <a:rPr lang="ru-RU" sz="1200" i="1" dirty="0"/>
              <a:t>• Критерий оптимальности. </a:t>
            </a:r>
            <a:r>
              <a:rPr lang="ru-RU" sz="1200" dirty="0"/>
              <a:t>Неоценимую роль для любого метода играет критерий оптимальности, который позволяет распознать в текущем варианте оптимальный без перебора всех оставшихся.</a:t>
            </a:r>
          </a:p>
          <a:p>
            <a:endParaRPr lang="ru-RU" sz="1200" dirty="0"/>
          </a:p>
          <a:p>
            <a:r>
              <a:rPr lang="ru-RU" sz="1200" dirty="0"/>
              <a:t>В симплексном методе задействованы все три приема, что делает его необычайно эффективным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solidFill>
                  <a:srgbClr val="FF0000"/>
                </a:solidFill>
                <a:latin typeface="+mj-lt"/>
              </a:rPr>
              <a:t>Другие примеры?</a:t>
            </a:r>
          </a:p>
        </p:txBody>
      </p:sp>
    </p:spTree>
    <p:extLst>
      <p:ext uri="{BB962C8B-B14F-4D97-AF65-F5344CB8AC3E}">
        <p14:creationId xmlns:p14="http://schemas.microsoft.com/office/powerpoint/2010/main" val="108103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822" y="2950008"/>
            <a:ext cx="1800200" cy="167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 (включаемый вектор)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923171"/>
            <a:ext cx="7840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Применительно к линейному программированию этот прием реализуется следующим образом.</a:t>
            </a:r>
          </a:p>
          <a:p>
            <a:endParaRPr lang="ru-RU" sz="1200" dirty="0"/>
          </a:p>
          <a:p>
            <a:r>
              <a:rPr lang="ru-RU" sz="1200" dirty="0"/>
              <a:t>Мы знаем, что каждой крайней точке соответствует </a:t>
            </a:r>
            <a:r>
              <a:rPr lang="ru-RU" sz="1200" b="1" dirty="0"/>
              <a:t>опорный план – неотрицательное базисное решение системы уравнений</a:t>
            </a:r>
            <a:r>
              <a:rPr lang="ru-RU" sz="1200" dirty="0"/>
              <a:t>; </a:t>
            </a:r>
          </a:p>
          <a:p>
            <a:r>
              <a:rPr lang="ru-RU" sz="1200" dirty="0"/>
              <a:t>Таким образом, перебор крайних точек сводится к перебору базисов.</a:t>
            </a:r>
          </a:p>
          <a:p>
            <a:endParaRPr lang="ru-RU" sz="1200" dirty="0"/>
          </a:p>
          <a:p>
            <a:r>
              <a:rPr lang="ru-RU" sz="1200" dirty="0"/>
              <a:t>В симплексном методе ограничение перебора состоит в том, что новый базис получается из текущего замещением всего одного вектора. (</a:t>
            </a:r>
            <a:r>
              <a:rPr lang="ru-RU" sz="1200" dirty="0">
                <a:solidFill>
                  <a:srgbClr val="FF0000"/>
                </a:solidFill>
              </a:rPr>
              <a:t>см. прошлый семинар и лекцию</a:t>
            </a:r>
            <a:r>
              <a:rPr lang="ru-RU" sz="1200" dirty="0"/>
              <a:t>)</a:t>
            </a:r>
          </a:p>
          <a:p>
            <a:endParaRPr lang="ru-RU" sz="1200" dirty="0"/>
          </a:p>
          <a:p>
            <a:r>
              <a:rPr lang="ru-RU" sz="1200" dirty="0"/>
              <a:t>Предположим, что включаемый вектор </a:t>
            </a:r>
            <a:r>
              <a:rPr lang="en-GB" sz="1200" i="1" dirty="0" err="1"/>
              <a:t>P</a:t>
            </a:r>
            <a:r>
              <a:rPr lang="en-GB" sz="1200" i="1" baseline="-25000" dirty="0" err="1"/>
              <a:t>k</a:t>
            </a:r>
            <a:r>
              <a:rPr lang="en-GB" sz="1200" i="1" dirty="0"/>
              <a:t> </a:t>
            </a:r>
            <a:r>
              <a:rPr lang="ru-RU" sz="1200" dirty="0"/>
              <a:t>нам известен. Спрашивается, какой вектор следует исключить из базиса? Любой или конкретный </a:t>
            </a:r>
            <a:r>
              <a:rPr lang="ru-RU" sz="1200" i="1" dirty="0" err="1"/>
              <a:t>P</a:t>
            </a:r>
            <a:r>
              <a:rPr lang="ru-RU" sz="1200" i="1" baseline="-25000" dirty="0" err="1"/>
              <a:t>l</a:t>
            </a:r>
            <a:r>
              <a:rPr lang="ru-RU" sz="1200" i="1" dirty="0"/>
              <a:t> </a:t>
            </a:r>
            <a:r>
              <a:rPr lang="ru-RU" sz="1200" dirty="0"/>
              <a:t>?   </a:t>
            </a:r>
            <a:r>
              <a:rPr lang="ru-RU" sz="1200" dirty="0">
                <a:solidFill>
                  <a:srgbClr val="FF0000"/>
                </a:solidFill>
              </a:rPr>
              <a:t>А как выбрать вектор, который необходимо включить?</a:t>
            </a:r>
          </a:p>
          <a:p>
            <a:endParaRPr lang="ru-RU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59774"/>
            <a:ext cx="4536504" cy="26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62" y="3323739"/>
            <a:ext cx="1563427" cy="39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79" y="3707732"/>
            <a:ext cx="3248161" cy="296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940870"/>
            <a:ext cx="1660490" cy="68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351" y="2975405"/>
            <a:ext cx="1457918" cy="47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97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 (включаемый вектор)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Поскольку выбор вектора, исключаемого из базиса, предопределен предыдущими рассуждениями, остается одна степень свободы – выбор вектора, подлежащего включению в базис. Это нужно сделать так, чтобы целевая функция при переходе от текущего опорного плана X к новому опорному плану X</a:t>
            </a:r>
            <a:r>
              <a:rPr lang="en-US" sz="1200" dirty="0"/>
              <a:t>’</a:t>
            </a:r>
            <a:r>
              <a:rPr lang="ru-RU" sz="1200" dirty="0"/>
              <a:t> улучшилась (уменьшилась).</a:t>
            </a:r>
            <a:endParaRPr lang="en-US" sz="1200" dirty="0"/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(</a:t>
            </a:r>
            <a:r>
              <a:rPr lang="ru-RU" sz="1200" dirty="0">
                <a:latin typeface="+mj-lt"/>
              </a:rPr>
              <a:t>вектор с номером </a:t>
            </a:r>
            <a:r>
              <a:rPr lang="en-US" sz="1200" dirty="0">
                <a:latin typeface="+mj-lt"/>
              </a:rPr>
              <a:t>l </a:t>
            </a:r>
            <a:r>
              <a:rPr lang="ru-RU" sz="1200" dirty="0">
                <a:latin typeface="+mj-lt"/>
              </a:rPr>
              <a:t>должен уйти).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solidFill>
                  <a:srgbClr val="FF0000"/>
                </a:solidFill>
                <a:latin typeface="+mj-lt"/>
              </a:rPr>
              <a:t>Как можно содержательно интерпретировать </a:t>
            </a:r>
            <a:r>
              <a:rPr lang="en-US" sz="1200" dirty="0" err="1">
                <a:solidFill>
                  <a:srgbClr val="FF0000"/>
                </a:solidFill>
                <a:latin typeface="+mj-lt"/>
              </a:rPr>
              <a:t>z</a:t>
            </a:r>
            <a:r>
              <a:rPr lang="en-US" sz="1200" baseline="-25000" dirty="0" err="1">
                <a:solidFill>
                  <a:srgbClr val="FF0000"/>
                </a:solidFill>
                <a:latin typeface="+mj-lt"/>
              </a:rPr>
              <a:t>k</a:t>
            </a:r>
            <a:r>
              <a:rPr lang="ru-RU" sz="1200" baseline="-25000" dirty="0">
                <a:solidFill>
                  <a:srgbClr val="FF0000"/>
                </a:solidFill>
                <a:latin typeface="+mj-lt"/>
              </a:rPr>
              <a:t> </a:t>
            </a:r>
            <a:r>
              <a:rPr lang="ru-RU" sz="1200" dirty="0">
                <a:solidFill>
                  <a:srgbClr val="FF0000"/>
                </a:solidFill>
                <a:latin typeface="+mj-lt"/>
              </a:rPr>
              <a:t>?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63687"/>
            <a:ext cx="1638010" cy="677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684" y="1896801"/>
            <a:ext cx="1424516" cy="41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915923"/>
            <a:ext cx="1512168" cy="40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rrow12"/>
          <p:cNvSpPr>
            <a:spLocks noChangeAspect="1" noChangeArrowheads="1"/>
          </p:cNvSpPr>
          <p:nvPr/>
        </p:nvSpPr>
        <p:spPr bwMode="auto">
          <a:xfrm>
            <a:off x="4355976" y="1928392"/>
            <a:ext cx="347845" cy="237059"/>
          </a:xfrm>
          <a:prstGeom prst="notchedRightArrow">
            <a:avLst>
              <a:gd name="adj1" fmla="val 54954"/>
              <a:gd name="adj2" fmla="val 31826"/>
            </a:avLst>
          </a:prstGeom>
          <a:gradFill flip="none" rotWithShape="1">
            <a:gsLst>
              <a:gs pos="0">
                <a:srgbClr val="98D2FF"/>
              </a:gs>
              <a:gs pos="100000">
                <a:srgbClr val="4AAED8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" h="6350"/>
          </a:sp3d>
        </p:spPr>
        <p:txBody>
          <a:bodyPr vert="horz" lIns="72000" tIns="0" rIns="0" bIns="0" rtlCol="0" anchor="ctr">
            <a:normAutofit fontScale="77500" lnSpcReduction="20000"/>
          </a:bodyPr>
          <a:lstStyle/>
          <a:p>
            <a:pPr indent="-266700">
              <a:lnSpc>
                <a:spcPct val="80000"/>
              </a:lnSpc>
              <a:spcBef>
                <a:spcPct val="50000"/>
              </a:spcBef>
              <a:spcAft>
                <a:spcPts val="600"/>
              </a:spcAft>
              <a:buClr>
                <a:schemeClr val="tx2"/>
              </a:buClr>
            </a:pPr>
            <a:endParaRPr lang="ru-RU" sz="1600" b="1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75909"/>
            <a:ext cx="497144" cy="29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6" y="2898181"/>
            <a:ext cx="3114600" cy="34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3261565"/>
            <a:ext cx="968987" cy="48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76" y="3764344"/>
            <a:ext cx="1841723" cy="37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97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95345" y="1639114"/>
            <a:ext cx="78405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Тогда любой продукт, представленный вектором </a:t>
            </a:r>
            <a:r>
              <a:rPr lang="ru-RU" sz="1200" i="1" dirty="0" err="1"/>
              <a:t>P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и не входящий в базис, может быть замещен эквивалентным набором базисных продуктов, например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В данной интерпретации критерий выбора становится совершенно прозрачным: в базисный набор выгодно включить такой продукт </a:t>
            </a:r>
            <a:r>
              <a:rPr lang="ru-RU" sz="1200" i="1" dirty="0" err="1"/>
              <a:t>P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, у которого истинная стоимость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меньше эквивалентной </a:t>
            </a:r>
            <a:r>
              <a:rPr lang="ru-RU" sz="1200" i="1" dirty="0" err="1"/>
              <a:t>z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, и эта разница максимальна.</a:t>
            </a:r>
          </a:p>
          <a:p>
            <a:r>
              <a:rPr lang="ru-RU" sz="1200" dirty="0"/>
              <a:t>(в исходной задаче хлеб стоил 20 рублей, т.е. нужно включить в базис)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67694"/>
            <a:ext cx="438566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 (включаемый вектор)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35" y="987574"/>
            <a:ext cx="3904265" cy="65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97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 (критерий оптимальности)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Из предыдущих рассуждений напрашивается вывод: если все (</a:t>
            </a:r>
            <a:r>
              <a:rPr lang="ru-RU" sz="1200" i="1" dirty="0" err="1"/>
              <a:t>z</a:t>
            </a:r>
            <a:r>
              <a:rPr lang="ru-RU" sz="1200" i="1" baseline="-25000" dirty="0" err="1"/>
              <a:t>j</a:t>
            </a:r>
            <a:r>
              <a:rPr lang="ru-RU" sz="1200" i="1" dirty="0"/>
              <a:t> −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j</a:t>
            </a:r>
            <a:r>
              <a:rPr lang="ru-RU" sz="1200" dirty="0"/>
              <a:t>) </a:t>
            </a:r>
            <a:r>
              <a:rPr lang="en-US" sz="1200" dirty="0"/>
              <a:t>&lt;=</a:t>
            </a:r>
            <a:r>
              <a:rPr lang="ru-RU" sz="1200" dirty="0"/>
              <a:t> 0, то никакое замещение вектора в текущем базисе не сможет</a:t>
            </a:r>
            <a:r>
              <a:rPr lang="en-US" sz="1200" dirty="0"/>
              <a:t> </a:t>
            </a:r>
            <a:r>
              <a:rPr lang="ru-RU" sz="1200" dirty="0"/>
              <a:t>уменьшить значение целевой функции, значит, текущий опорный план является оптимальным. </a:t>
            </a:r>
            <a:endParaRPr lang="en-US" sz="1200" dirty="0"/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r>
              <a:rPr lang="ru-RU" sz="1200" dirty="0">
                <a:solidFill>
                  <a:srgbClr val="FF0000"/>
                </a:solidFill>
                <a:latin typeface="+mj-lt"/>
              </a:rPr>
              <a:t>Когда решения не будет?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72775"/>
            <a:ext cx="4211761" cy="9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97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метод в общем виде (критерий оптимальности)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Из предыдущих рассуждений напрашивается вывод: если все (</a:t>
            </a:r>
            <a:r>
              <a:rPr lang="ru-RU" sz="1200" i="1" dirty="0" err="1"/>
              <a:t>z</a:t>
            </a:r>
            <a:r>
              <a:rPr lang="ru-RU" sz="1200" i="1" baseline="-25000" dirty="0" err="1"/>
              <a:t>j</a:t>
            </a:r>
            <a:r>
              <a:rPr lang="ru-RU" sz="1200" i="1" dirty="0"/>
              <a:t> −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j</a:t>
            </a:r>
            <a:r>
              <a:rPr lang="ru-RU" sz="1200" dirty="0"/>
              <a:t>) </a:t>
            </a:r>
            <a:r>
              <a:rPr lang="en-US" sz="1200" dirty="0"/>
              <a:t>&lt;=</a:t>
            </a:r>
            <a:r>
              <a:rPr lang="ru-RU" sz="1200" dirty="0"/>
              <a:t> 0, то никакое замещение вектора в текущем базисе не сможет</a:t>
            </a:r>
            <a:r>
              <a:rPr lang="en-US" sz="1200" dirty="0"/>
              <a:t> </a:t>
            </a:r>
            <a:r>
              <a:rPr lang="ru-RU" sz="1200" dirty="0"/>
              <a:t>уменьшить значение целевой функции, значит, текущий опорный план является оптимальным. </a:t>
            </a:r>
            <a:endParaRPr lang="en-US" sz="1200" dirty="0"/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endParaRPr lang="en-US" sz="1200" dirty="0">
              <a:latin typeface="+mj-lt"/>
            </a:endParaRPr>
          </a:p>
          <a:p>
            <a:pPr marL="228600" indent="-228600">
              <a:buAutoNum type="arabicPeriod"/>
            </a:pPr>
            <a:r>
              <a:rPr lang="ru-RU" sz="1200" dirty="0">
                <a:latin typeface="+mj-lt"/>
              </a:rPr>
              <a:t>Неограниченность целевой функции</a:t>
            </a:r>
          </a:p>
          <a:p>
            <a:r>
              <a:rPr lang="ru-RU" sz="1200" dirty="0">
                <a:latin typeface="+mj-lt"/>
              </a:rPr>
              <a:t>Возможен случай, когда при переходе к новому базису ни один старый вектор исключить не удастся, потому что при некотором (</a:t>
            </a:r>
            <a:r>
              <a:rPr lang="ru-RU" sz="1200" dirty="0" err="1">
                <a:latin typeface="+mj-lt"/>
              </a:rPr>
              <a:t>z</a:t>
            </a:r>
            <a:r>
              <a:rPr lang="ru-RU" sz="1200" baseline="-25000" dirty="0" err="1">
                <a:latin typeface="+mj-lt"/>
              </a:rPr>
              <a:t>k</a:t>
            </a:r>
            <a:r>
              <a:rPr lang="ru-RU" sz="1200" dirty="0">
                <a:latin typeface="+mj-lt"/>
              </a:rPr>
              <a:t> −</a:t>
            </a:r>
            <a:r>
              <a:rPr lang="ru-RU" sz="1200" dirty="0" err="1">
                <a:latin typeface="+mj-lt"/>
              </a:rPr>
              <a:t>c</a:t>
            </a:r>
            <a:r>
              <a:rPr lang="ru-RU" sz="1200" baseline="-25000" dirty="0" err="1">
                <a:latin typeface="+mj-lt"/>
              </a:rPr>
              <a:t>k</a:t>
            </a:r>
            <a:r>
              <a:rPr lang="ru-RU" sz="1200" dirty="0">
                <a:latin typeface="+mj-lt"/>
              </a:rPr>
              <a:t>) &gt; 0 все </a:t>
            </a:r>
            <a:r>
              <a:rPr lang="ru-RU" sz="1200" dirty="0" err="1">
                <a:latin typeface="+mj-lt"/>
              </a:rPr>
              <a:t>x</a:t>
            </a:r>
            <a:r>
              <a:rPr lang="ru-RU" sz="1200" baseline="-25000" dirty="0" err="1">
                <a:latin typeface="+mj-lt"/>
              </a:rPr>
              <a:t>ik</a:t>
            </a:r>
            <a:r>
              <a:rPr lang="ru-RU" sz="1200" dirty="0">
                <a:latin typeface="+mj-lt"/>
              </a:rPr>
              <a:t> </a:t>
            </a:r>
            <a:r>
              <a:rPr lang="en-US" sz="1200" dirty="0">
                <a:latin typeface="+mj-lt"/>
              </a:rPr>
              <a:t>&lt;=</a:t>
            </a:r>
            <a:r>
              <a:rPr lang="ru-RU" sz="1200" dirty="0">
                <a:latin typeface="+mj-lt"/>
              </a:rPr>
              <a:t> 0, i = 1, . . . , m. </a:t>
            </a:r>
            <a:endParaRPr lang="en-US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Тогда, (</a:t>
            </a:r>
            <a:r>
              <a:rPr lang="ru-RU" sz="1200" dirty="0" err="1">
                <a:latin typeface="+mj-lt"/>
              </a:rPr>
              <a:t>z</a:t>
            </a:r>
            <a:r>
              <a:rPr lang="ru-RU" sz="1200" baseline="-25000" dirty="0" err="1">
                <a:latin typeface="+mj-lt"/>
              </a:rPr>
              <a:t>k</a:t>
            </a:r>
            <a:r>
              <a:rPr lang="ru-RU" sz="1200" dirty="0">
                <a:latin typeface="+mj-lt"/>
              </a:rPr>
              <a:t> −</a:t>
            </a:r>
            <a:r>
              <a:rPr lang="ru-RU" sz="1200" dirty="0" err="1">
                <a:latin typeface="+mj-lt"/>
              </a:rPr>
              <a:t>c</a:t>
            </a:r>
            <a:r>
              <a:rPr lang="ru-RU" sz="1200" baseline="-25000" dirty="0" err="1">
                <a:latin typeface="+mj-lt"/>
              </a:rPr>
              <a:t>k</a:t>
            </a:r>
            <a:r>
              <a:rPr lang="ru-RU" sz="1200" dirty="0">
                <a:latin typeface="+mj-lt"/>
              </a:rPr>
              <a:t>) &gt; 0, то при θ→∞ L(X</a:t>
            </a:r>
            <a:r>
              <a:rPr lang="en-US" sz="1200" dirty="0">
                <a:latin typeface="+mj-lt"/>
              </a:rPr>
              <a:t>’</a:t>
            </a:r>
            <a:r>
              <a:rPr lang="ru-RU" sz="1200" dirty="0">
                <a:latin typeface="+mj-lt"/>
              </a:rPr>
              <a:t>)→−∞, то есть</a:t>
            </a:r>
            <a:r>
              <a:rPr lang="en-US" sz="1200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задача не имеет решения по причине неограниченности целевой</a:t>
            </a:r>
          </a:p>
          <a:p>
            <a:r>
              <a:rPr lang="ru-RU" sz="1200" dirty="0">
                <a:latin typeface="+mj-lt"/>
              </a:rPr>
              <a:t>функции в сторону оптимизации</a:t>
            </a:r>
            <a:endParaRPr lang="en-US" sz="1200" dirty="0">
              <a:latin typeface="+mj-lt"/>
            </a:endParaRPr>
          </a:p>
          <a:p>
            <a:endParaRPr lang="ru-RU" sz="1200" dirty="0">
              <a:solidFill>
                <a:srgbClr val="FF0000"/>
              </a:solidFill>
              <a:latin typeface="+mj-lt"/>
            </a:endParaRPr>
          </a:p>
          <a:p>
            <a:r>
              <a:rPr lang="ru-RU" sz="1200" dirty="0">
                <a:latin typeface="+mj-lt"/>
              </a:rPr>
              <a:t>2. Несовместность условий</a:t>
            </a:r>
            <a:endParaRPr lang="en-US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Не удалось найти первый опорный план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572775"/>
            <a:ext cx="4211761" cy="9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593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Схема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err="1"/>
              <a:t>ююю</a:t>
            </a:r>
            <a:endParaRPr lang="ru-RU" sz="1200" dirty="0">
              <a:latin typeface="+mj-lt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62" y="1052357"/>
            <a:ext cx="4009752" cy="357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497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Схема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344" y="4211621"/>
            <a:ext cx="784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результате </a:t>
            </a:r>
            <a:r>
              <a:rPr lang="ru-RU" sz="1200" dirty="0">
                <a:solidFill>
                  <a:srgbClr val="FF0000"/>
                </a:solidFill>
              </a:rPr>
              <a:t>нескольких</a:t>
            </a:r>
            <a:r>
              <a:rPr lang="ru-RU" sz="1200" dirty="0"/>
              <a:t> итераций будет получен оптимальный план.</a:t>
            </a:r>
          </a:p>
          <a:p>
            <a:r>
              <a:rPr lang="ru-RU" sz="1200" dirty="0">
                <a:solidFill>
                  <a:srgbClr val="FF0000"/>
                </a:solidFill>
              </a:rPr>
              <a:t>Почему метод, а не алгоритм?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7901"/>
            <a:ext cx="4853824" cy="822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851671"/>
            <a:ext cx="4608512" cy="2030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Определение алгоритма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Алгоритм - </a:t>
            </a:r>
            <a:r>
              <a:rPr lang="ru-RU" sz="1200" dirty="0"/>
              <a:t>конечная совокупность точно заданных правил решения некоторого класса задач или набор инструкций, описывающих порядок действий исполнителя для решения определённой задачи. 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b="1" dirty="0">
                <a:latin typeface="+mj-lt"/>
              </a:rPr>
              <a:t>Дискретность</a:t>
            </a:r>
            <a:r>
              <a:rPr lang="ru-RU" sz="1200" dirty="0">
                <a:latin typeface="+mj-lt"/>
              </a:rPr>
              <a:t> — алгоритм должен представлять процесс решения задачи как упорядоченное выполнение некоторых простых шагов. При этом для выполнения каждого шага алгоритма требуется конечный отрезок времени, то есть преобразование исходных данных в результат осуществляется во времени дискретно.</a:t>
            </a:r>
          </a:p>
          <a:p>
            <a:r>
              <a:rPr lang="ru-RU" sz="1200" b="1" dirty="0">
                <a:latin typeface="+mj-lt"/>
              </a:rPr>
              <a:t>Детерминированность (определённость).</a:t>
            </a:r>
            <a:r>
              <a:rPr lang="ru-RU" sz="1200" dirty="0">
                <a:latin typeface="+mj-lt"/>
              </a:rPr>
              <a:t> В каждый момент времени следующий шаг работы однозначно определяется состоянием системы. Таким образом, алгоритм выдаёт один и тот же результат (ответ) для одних и тех же исходных данных. </a:t>
            </a:r>
          </a:p>
          <a:p>
            <a:r>
              <a:rPr lang="ru-RU" sz="1200" b="1" dirty="0">
                <a:latin typeface="+mj-lt"/>
              </a:rPr>
              <a:t>Понятность</a:t>
            </a:r>
            <a:r>
              <a:rPr lang="ru-RU" sz="1200" dirty="0">
                <a:latin typeface="+mj-lt"/>
              </a:rPr>
              <a:t> — алгоритм должен включать только те команды, которые доступны исполнителю и входят в его систему команд.</a:t>
            </a:r>
          </a:p>
          <a:p>
            <a:r>
              <a:rPr lang="ru-RU" sz="1200" b="1" dirty="0" err="1">
                <a:latin typeface="+mj-lt"/>
              </a:rPr>
              <a:t>Завершаемость</a:t>
            </a:r>
            <a:r>
              <a:rPr lang="ru-RU" sz="1200" b="1" dirty="0">
                <a:latin typeface="+mj-lt"/>
              </a:rPr>
              <a:t> (конечность)</a:t>
            </a:r>
            <a:r>
              <a:rPr lang="ru-RU" sz="1200" dirty="0">
                <a:latin typeface="+mj-lt"/>
              </a:rPr>
              <a:t> — в более узком понимании алгоритма как математической функции, при правильно заданных начальных данных алгоритм должен завершать работу и выдавать результат за определённое число шагов. </a:t>
            </a:r>
          </a:p>
          <a:p>
            <a:r>
              <a:rPr lang="ru-RU" sz="1200" b="1" dirty="0">
                <a:latin typeface="+mj-lt"/>
              </a:rPr>
              <a:t>Массовость (универсальность).</a:t>
            </a:r>
            <a:r>
              <a:rPr lang="ru-RU" sz="1200" dirty="0">
                <a:latin typeface="+mj-lt"/>
              </a:rPr>
              <a:t> Алгоритм должен быть применим к разным наборам начальных данных.</a:t>
            </a:r>
          </a:p>
          <a:p>
            <a:r>
              <a:rPr lang="ru-RU" sz="1200" b="1" dirty="0">
                <a:latin typeface="+mj-lt"/>
              </a:rPr>
              <a:t>Результативность</a:t>
            </a:r>
            <a:r>
              <a:rPr lang="ru-RU" sz="1200" dirty="0">
                <a:latin typeface="+mj-lt"/>
              </a:rPr>
              <a:t> — завершение алгоритма определёнными результатами.</a:t>
            </a:r>
          </a:p>
        </p:txBody>
      </p:sp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504" y="4257788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Как это соотносится с постановкой задачи в канонической форме?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572" y="1059582"/>
            <a:ext cx="4901356" cy="312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64088" y="4161877"/>
            <a:ext cx="267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Базис гарантировано есть и система совместна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28" y="998274"/>
            <a:ext cx="512445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3341" y="4257788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err="1"/>
              <a:t>ююю</a:t>
            </a:r>
            <a:endParaRPr lang="ru-RU" sz="1200" dirty="0">
              <a:latin typeface="+mj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40" y="1027427"/>
            <a:ext cx="4944723" cy="3577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1636" y="4257788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Кто готов? </a:t>
            </a:r>
            <a:r>
              <a:rPr lang="ru-RU" sz="1200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3" y="1059582"/>
            <a:ext cx="5193234" cy="1222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55726"/>
            <a:ext cx="4861545" cy="181236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1674" y="4257788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err="1"/>
              <a:t>ююю</a:t>
            </a:r>
            <a:endParaRPr lang="ru-RU" sz="1200" dirty="0">
              <a:latin typeface="+mj-lt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8" y="1020406"/>
            <a:ext cx="5270165" cy="95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180" y="1026875"/>
            <a:ext cx="2426629" cy="9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47355"/>
            <a:ext cx="4968552" cy="24874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8104" y="4257788"/>
            <a:ext cx="2514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Оптимальный план?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98" y="1020406"/>
            <a:ext cx="5270165" cy="95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180" y="1026875"/>
            <a:ext cx="2426629" cy="9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047355"/>
            <a:ext cx="4968552" cy="2487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394" y="2800335"/>
            <a:ext cx="2184200" cy="981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739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Вторая итерация</a:t>
            </a:r>
            <a:endParaRPr lang="ru-RU" sz="1200" dirty="0">
              <a:latin typeface="+mj-l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63545"/>
            <a:ext cx="1663675" cy="430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088077"/>
            <a:ext cx="2184200" cy="98147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701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51261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Вторая итерация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Так как в управляющей строке нет положительных элементов, то задача решена. </a:t>
            </a:r>
          </a:p>
          <a:p>
            <a:endParaRPr lang="ru-RU" sz="1200" dirty="0"/>
          </a:p>
          <a:p>
            <a:r>
              <a:rPr lang="ru-RU" sz="1200" dirty="0"/>
              <a:t>Оптимальный план </a:t>
            </a:r>
            <a:r>
              <a:rPr lang="en-GB" sz="1200" i="1" dirty="0"/>
              <a:t>X</a:t>
            </a:r>
            <a:r>
              <a:rPr lang="ru-RU" sz="1200" i="1" dirty="0"/>
              <a:t>*</a:t>
            </a:r>
            <a:r>
              <a:rPr lang="en-GB" sz="1200" i="1" dirty="0"/>
              <a:t> </a:t>
            </a:r>
            <a:r>
              <a:rPr lang="en-GB" sz="1200" dirty="0"/>
              <a:t>= (3</a:t>
            </a:r>
            <a:r>
              <a:rPr lang="en-GB" sz="1200" i="1" dirty="0"/>
              <a:t>, </a:t>
            </a:r>
            <a:r>
              <a:rPr lang="en-GB" sz="1200" dirty="0"/>
              <a:t>4</a:t>
            </a:r>
            <a:r>
              <a:rPr lang="en-GB" sz="1200" i="1" dirty="0"/>
              <a:t>, </a:t>
            </a:r>
            <a:r>
              <a:rPr lang="en-GB" sz="1200" dirty="0"/>
              <a:t>0</a:t>
            </a:r>
            <a:r>
              <a:rPr lang="en-GB" sz="1200" i="1" dirty="0"/>
              <a:t>, </a:t>
            </a:r>
            <a:r>
              <a:rPr lang="en-GB" sz="1200" dirty="0"/>
              <a:t>0)</a:t>
            </a:r>
            <a:r>
              <a:rPr lang="en-GB" sz="1200" i="1" baseline="30000" dirty="0"/>
              <a:t>T</a:t>
            </a:r>
            <a:r>
              <a:rPr lang="en-GB" sz="1200" dirty="0"/>
              <a:t>, </a:t>
            </a:r>
            <a:endParaRPr lang="ru-RU" sz="1200" dirty="0"/>
          </a:p>
          <a:p>
            <a:r>
              <a:rPr lang="ru-RU" sz="1200" dirty="0"/>
              <a:t>оптимальное значение целевой функции </a:t>
            </a:r>
            <a:r>
              <a:rPr lang="ru-RU" sz="1200" i="1" dirty="0"/>
              <a:t>L* </a:t>
            </a:r>
            <a:r>
              <a:rPr lang="ru-RU" sz="1200" dirty="0"/>
              <a:t>= </a:t>
            </a:r>
            <a:r>
              <a:rPr lang="ru-RU" sz="1200" i="1" dirty="0"/>
              <a:t>−</a:t>
            </a:r>
            <a:r>
              <a:rPr lang="ru-RU" sz="1200" dirty="0"/>
              <a:t>48. </a:t>
            </a:r>
          </a:p>
          <a:p>
            <a:endParaRPr lang="ru-RU" sz="1200" dirty="0"/>
          </a:p>
          <a:p>
            <a:r>
              <a:rPr lang="ru-RU" sz="1200" dirty="0">
                <a:solidFill>
                  <a:srgbClr val="FF0000"/>
                </a:solidFill>
              </a:rPr>
              <a:t>Почему размер прибыли отрицательный? </a:t>
            </a:r>
          </a:p>
          <a:p>
            <a:endParaRPr lang="ru-RU" sz="1200" dirty="0">
              <a:solidFill>
                <a:srgbClr val="FF0000"/>
              </a:solidFill>
            </a:endParaRPr>
          </a:p>
          <a:p>
            <a:r>
              <a:rPr lang="ru-RU" sz="1200" dirty="0">
                <a:solidFill>
                  <a:srgbClr val="FF0000"/>
                </a:solidFill>
              </a:rPr>
              <a:t>Что еще могло пойти не так?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solidFill>
                  <a:srgbClr val="FF0000"/>
                </a:solidFill>
              </a:rPr>
              <a:t>в столбце одни нули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solidFill>
                  <a:srgbClr val="FF0000"/>
                </a:solidFill>
              </a:rPr>
              <a:t>зацикливание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solidFill>
                  <a:srgbClr val="FF0000"/>
                </a:solidFill>
              </a:rPr>
              <a:t>не все искусственные переменные вышли из базиса</a:t>
            </a:r>
          </a:p>
          <a:p>
            <a:pPr marL="171450" indent="-171450">
              <a:buFontTx/>
              <a:buChar char="-"/>
            </a:pPr>
            <a:endParaRPr lang="ru-RU" sz="1200" dirty="0">
              <a:solidFill>
                <a:srgbClr val="FF0000"/>
              </a:solidFill>
            </a:endParaRPr>
          </a:p>
          <a:p>
            <a:r>
              <a:rPr lang="ru-RU" sz="1200" dirty="0">
                <a:solidFill>
                  <a:srgbClr val="FF0000"/>
                </a:solidFill>
              </a:rPr>
              <a:t>Что мы можем сразу сказать о решении данной задачи? </a:t>
            </a:r>
            <a:r>
              <a:rPr lang="en-US" sz="1200" dirty="0">
                <a:solidFill>
                  <a:srgbClr val="FF0000"/>
                </a:solidFill>
              </a:rPr>
              <a:t>(</a:t>
            </a:r>
            <a:r>
              <a:rPr lang="ru-RU" sz="1200" dirty="0">
                <a:solidFill>
                  <a:srgbClr val="FF0000"/>
                </a:solidFill>
              </a:rPr>
              <a:t>решали в </a:t>
            </a:r>
            <a:r>
              <a:rPr lang="en-US" sz="1200" dirty="0">
                <a:solidFill>
                  <a:srgbClr val="FF0000"/>
                </a:solidFill>
              </a:rPr>
              <a:t>3D</a:t>
            </a:r>
            <a:r>
              <a:rPr lang="ru-RU" sz="1200" dirty="0">
                <a:solidFill>
                  <a:srgbClr val="FF0000"/>
                </a:solidFill>
              </a:rPr>
              <a:t>) </a:t>
            </a:r>
          </a:p>
          <a:p>
            <a:pPr marL="171450" indent="-171450">
              <a:buFontTx/>
              <a:buChar char="-"/>
            </a:pPr>
            <a:endParaRPr lang="ru-RU" sz="1200" dirty="0">
              <a:solidFill>
                <a:srgbClr val="FF0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63545"/>
            <a:ext cx="1663675" cy="430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088077"/>
            <a:ext cx="2184200" cy="981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92" y="2427734"/>
            <a:ext cx="2163575" cy="88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756152"/>
            <a:ext cx="1651377" cy="86739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343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03" y="0"/>
            <a:ext cx="8172400" cy="514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28" y="1275606"/>
            <a:ext cx="7840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1. Приведите основные определения и теоремы линейного программирования</a:t>
            </a:r>
          </a:p>
          <a:p>
            <a:r>
              <a:rPr lang="ru-RU" sz="1200" dirty="0"/>
              <a:t>2. Приведите алгоритм симплекс метода</a:t>
            </a:r>
          </a:p>
          <a:p>
            <a:r>
              <a:rPr lang="ru-RU" sz="1200" dirty="0"/>
              <a:t>3. Сформулируйте алгоритм поиска начального базиса в задаче линейного программирования</a:t>
            </a:r>
          </a:p>
          <a:p>
            <a:r>
              <a:rPr lang="ru-RU" sz="1200" dirty="0"/>
              <a:t>4. В чем состоит суть метода симплексного преобразования таблицы ограничений?</a:t>
            </a:r>
          </a:p>
          <a:p>
            <a:r>
              <a:rPr lang="ru-RU" sz="1200" dirty="0"/>
              <a:t>5. В чем состоит суть метода искусственного базиса?</a:t>
            </a:r>
          </a:p>
          <a:p>
            <a:r>
              <a:rPr lang="ru-RU" sz="1200" dirty="0"/>
              <a:t>6. Каким образом найти начальное приближение, когда часть ограничений задана в виде равенств, а часть – в виде неравенств?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4" y="28135"/>
            <a:ext cx="2306235" cy="18926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7" y="4570851"/>
            <a:ext cx="1123949" cy="53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4434" y="25858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3" y="382698"/>
            <a:ext cx="2213007" cy="9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94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 (вариант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+mj-lt"/>
              </a:rPr>
              <a:t>Найти оптимальное решение симплекс методом (НЕ используя метод искусственного базиса)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63545"/>
            <a:ext cx="5112568" cy="1890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7601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 (вариант </a:t>
            </a:r>
            <a:r>
              <a:rPr lang="en-US" dirty="0"/>
              <a:t>2</a:t>
            </a:r>
            <a:r>
              <a:rPr lang="ru-RU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Найти оптимальное решение симплекс методом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en-US" sz="1200" dirty="0"/>
              <a:t> </a:t>
            </a:r>
            <a:endParaRPr lang="ru-RU" sz="1200" dirty="0"/>
          </a:p>
          <a:p>
            <a:r>
              <a:rPr lang="en-US" sz="1200" dirty="0"/>
              <a:t>                                                                                                         x</a:t>
            </a:r>
            <a:r>
              <a:rPr lang="en-US" sz="1200" baseline="-25000" dirty="0"/>
              <a:t>i</a:t>
            </a:r>
            <a:r>
              <a:rPr lang="en-US" sz="1200" dirty="0"/>
              <a:t>&gt;=0</a:t>
            </a:r>
          </a:p>
          <a:p>
            <a:endParaRPr lang="en-US" sz="1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102" y="1826287"/>
            <a:ext cx="2150195" cy="2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805" y="2211710"/>
            <a:ext cx="1175935" cy="107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9014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 (вариант 3)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Найти оптимальное решение симплекс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4975"/>
            <a:ext cx="65722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103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 (вариант 4)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Найти оптимальное решение симплекс методом</a:t>
            </a:r>
            <a:endParaRPr lang="ru-RU" sz="12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324" y="1491630"/>
            <a:ext cx="2356898" cy="131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1656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Практический алгоритм симплекс метода (вариант 5)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Найти оптимальное решение симплекс методом</a:t>
            </a:r>
            <a:endParaRPr lang="ru-RU" sz="12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791" y="1491630"/>
            <a:ext cx="3462338" cy="1331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9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</a:t>
            </a:r>
            <a:r>
              <a:rPr lang="ru-RU" dirty="0" err="1"/>
              <a:t>комбо</a:t>
            </a:r>
            <a:r>
              <a:rPr lang="ru-RU" dirty="0"/>
              <a:t> (вариант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+mj-lt"/>
              </a:rPr>
              <a:t>Решить задачу оптимизации в стандартной форме графическим методом и симплекс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36" y="3138592"/>
            <a:ext cx="5449294" cy="1439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1419622"/>
            <a:ext cx="5457928" cy="1718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992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</a:t>
            </a:r>
            <a:r>
              <a:rPr lang="ru-RU" dirty="0" err="1"/>
              <a:t>комбо</a:t>
            </a:r>
            <a:r>
              <a:rPr lang="ru-RU" dirty="0"/>
              <a:t> (вариант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Решить задачу оптимизации в стандартной форме графическим методом и симплекс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103" y="1414793"/>
            <a:ext cx="5643339" cy="2747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7156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Симплекс </a:t>
            </a:r>
            <a:r>
              <a:rPr lang="ru-RU" dirty="0" err="1"/>
              <a:t>комбо</a:t>
            </a:r>
            <a:r>
              <a:rPr lang="ru-RU" dirty="0"/>
              <a:t> (вариант 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Решить задачу оптимизации в стандартной форме графическим методом и симплекс методом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D3CB2567-4020-FB41-B0B1-9842776E44A1}"/>
              </a:ext>
            </a:extLst>
          </p:cNvPr>
          <p:cNvSpPr txBox="1"/>
          <p:nvPr/>
        </p:nvSpPr>
        <p:spPr>
          <a:xfrm>
            <a:off x="179512" y="1293343"/>
            <a:ext cx="7840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en-US" sz="1200" dirty="0"/>
              <a:t> </a:t>
            </a:r>
            <a:endParaRPr lang="ru-RU" sz="1200" dirty="0"/>
          </a:p>
          <a:p>
            <a:r>
              <a:rPr lang="en-US" sz="1200" dirty="0"/>
              <a:t>                                                                                                         x</a:t>
            </a:r>
            <a:r>
              <a:rPr lang="en-US" sz="1200" baseline="-25000" dirty="0"/>
              <a:t>i</a:t>
            </a:r>
            <a:r>
              <a:rPr lang="en-US" sz="1200" dirty="0"/>
              <a:t>&gt;=0</a:t>
            </a:r>
          </a:p>
          <a:p>
            <a:endParaRPr lang="en-US" sz="120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D36144D-3C65-C84D-A093-2AE5ADDE2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683" y="1985523"/>
            <a:ext cx="2150195" cy="2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42470A4F-F867-D341-93F0-2DD9A3767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805" y="2453400"/>
            <a:ext cx="1175935" cy="107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7678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2400" cy="514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28" y="1275606"/>
            <a:ext cx="7840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1200" dirty="0"/>
              <a:t>Как получить базис, если нельзя применять метод искусственного базиса?</a:t>
            </a:r>
          </a:p>
          <a:p>
            <a:pPr marL="228600" indent="-228600">
              <a:buAutoNum type="arabicPeriod"/>
            </a:pPr>
            <a:r>
              <a:rPr lang="ru-RU" sz="1200" dirty="0"/>
              <a:t>Всегда ли можно получить базисное решение преобразованиями Гаусса-</a:t>
            </a:r>
            <a:r>
              <a:rPr lang="ru-RU" sz="1200" dirty="0" err="1"/>
              <a:t>Жордана</a:t>
            </a:r>
            <a:r>
              <a:rPr lang="ru-RU" sz="1200" dirty="0"/>
              <a:t>?</a:t>
            </a:r>
          </a:p>
          <a:p>
            <a:pPr marL="228600" indent="-228600">
              <a:buAutoNum type="arabicPeriod"/>
            </a:pPr>
            <a:r>
              <a:rPr lang="ru-RU" sz="1200" dirty="0"/>
              <a:t>В результате применения симплекс метода не все искусственные переменные вышли из базиса. О чем это говорит? Это плохо?</a:t>
            </a:r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ru-RU" sz="1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4" y="28135"/>
            <a:ext cx="2306235" cy="18926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7" y="4570851"/>
            <a:ext cx="1123949" cy="53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4434" y="25858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3" y="382698"/>
            <a:ext cx="2213007" cy="9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570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8592</TotalTime>
  <Words>1412</Words>
  <Application>Microsoft Macintosh PowerPoint</Application>
  <PresentationFormat>Presentación en pantalla (16:9)</PresentationFormat>
  <Paragraphs>220</Paragraphs>
  <Slides>30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Arial Black</vt:lpstr>
      <vt:lpstr>Calibri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Dudarin Pavel</cp:lastModifiedBy>
  <cp:revision>299</cp:revision>
  <dcterms:created xsi:type="dcterms:W3CDTF">2021-07-29T10:45:19Z</dcterms:created>
  <dcterms:modified xsi:type="dcterms:W3CDTF">2024-10-15T05:15:26Z</dcterms:modified>
</cp:coreProperties>
</file>