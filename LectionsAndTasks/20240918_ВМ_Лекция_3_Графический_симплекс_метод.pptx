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87" r:id="rId2"/>
    <p:sldId id="257" r:id="rId3"/>
    <p:sldId id="349" r:id="rId4"/>
    <p:sldId id="348" r:id="rId5"/>
    <p:sldId id="330" r:id="rId6"/>
    <p:sldId id="329" r:id="rId7"/>
    <p:sldId id="331" r:id="rId8"/>
    <p:sldId id="345" r:id="rId9"/>
    <p:sldId id="332" r:id="rId10"/>
    <p:sldId id="333" r:id="rId11"/>
    <p:sldId id="346" r:id="rId12"/>
    <p:sldId id="347" r:id="rId13"/>
    <p:sldId id="334" r:id="rId14"/>
    <p:sldId id="367" r:id="rId15"/>
    <p:sldId id="335" r:id="rId16"/>
    <p:sldId id="336" r:id="rId17"/>
    <p:sldId id="368" r:id="rId18"/>
    <p:sldId id="337" r:id="rId19"/>
    <p:sldId id="350" r:id="rId20"/>
    <p:sldId id="338" r:id="rId21"/>
    <p:sldId id="351" r:id="rId22"/>
    <p:sldId id="354" r:id="rId23"/>
    <p:sldId id="275" r:id="rId24"/>
    <p:sldId id="441" r:id="rId25"/>
    <p:sldId id="442" r:id="rId26"/>
    <p:sldId id="369" r:id="rId27"/>
    <p:sldId id="404" r:id="rId28"/>
    <p:sldId id="384" r:id="rId29"/>
    <p:sldId id="370" r:id="rId30"/>
    <p:sldId id="371" r:id="rId31"/>
    <p:sldId id="372" r:id="rId32"/>
    <p:sldId id="443" r:id="rId33"/>
    <p:sldId id="375" r:id="rId34"/>
    <p:sldId id="376" r:id="rId35"/>
    <p:sldId id="377" r:id="rId36"/>
    <p:sldId id="378" r:id="rId37"/>
    <p:sldId id="379" r:id="rId38"/>
    <p:sldId id="380" r:id="rId39"/>
    <p:sldId id="381" r:id="rId40"/>
    <p:sldId id="382" r:id="rId41"/>
    <p:sldId id="383" r:id="rId42"/>
    <p:sldId id="385" r:id="rId43"/>
    <p:sldId id="391" r:id="rId44"/>
    <p:sldId id="386" r:id="rId45"/>
    <p:sldId id="387" r:id="rId46"/>
    <p:sldId id="388" r:id="rId47"/>
    <p:sldId id="403" r:id="rId48"/>
    <p:sldId id="389" r:id="rId49"/>
    <p:sldId id="390" r:id="rId50"/>
    <p:sldId id="444" r:id="rId51"/>
    <p:sldId id="445" r:id="rId52"/>
    <p:sldId id="280" r:id="rId53"/>
    <p:sldId id="361" r:id="rId54"/>
    <p:sldId id="362" r:id="rId55"/>
    <p:sldId id="353" r:id="rId56"/>
    <p:sldId id="355" r:id="rId57"/>
    <p:sldId id="356" r:id="rId5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A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74"/>
    <p:restoredTop sz="97376"/>
  </p:normalViewPr>
  <p:slideViewPr>
    <p:cSldViewPr snapToGrid="0">
      <p:cViewPr>
        <p:scale>
          <a:sx n="180" d="100"/>
          <a:sy n="180" d="100"/>
        </p:scale>
        <p:origin x="440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8E29F-B136-4320-B718-99224E7E1AF5}" type="datetimeFigureOut">
              <a:rPr lang="ru-RU" smtClean="0"/>
              <a:pPr/>
              <a:t>23.09.2024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5FBA70-BD6B-4DB4-92D4-9CFF0251AC11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111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229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Ответы</a:t>
            </a:r>
            <a:r>
              <a:rPr lang="ru-RU" baseline="0" dirty="0"/>
              <a:t> :  1 (1,3)  2 (3) 3 (3, 4)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409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Ответы</a:t>
            </a:r>
            <a:r>
              <a:rPr lang="ru-RU" baseline="0" dirty="0"/>
              <a:t> :  1 (1,3)  2 (3) 3 (3, 4)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409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686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ru-RU" dirty="0"/>
              <a:t>Что  было</a:t>
            </a:r>
            <a:r>
              <a:rPr lang="ru-RU" baseline="0" dirty="0"/>
              <a:t> бы если бы коэффициент при базисной переменной был 0?</a:t>
            </a:r>
          </a:p>
          <a:p>
            <a:pPr marL="228600" indent="-228600"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441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ru-RU" dirty="0"/>
              <a:t>Какая</a:t>
            </a:r>
            <a:r>
              <a:rPr lang="ru-RU" baseline="0" dirty="0"/>
              <a:t> я сгенерировал эту задачу?</a:t>
            </a:r>
          </a:p>
          <a:p>
            <a:pPr marL="228600" indent="-228600">
              <a:buAutoNum type="arabicPeriod"/>
            </a:pPr>
            <a:r>
              <a:rPr lang="ru-RU" baseline="0" dirty="0"/>
              <a:t>Как связанные между собой плоскость и коэффициенты в уравнении плоскости?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517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ru-RU" dirty="0"/>
              <a:t>Какие могут быть варианты исходов?</a:t>
            </a:r>
          </a:p>
          <a:p>
            <a:pPr marL="228600" indent="-228600">
              <a:buAutoNum type="arabicPeriod"/>
            </a:pPr>
            <a:r>
              <a:rPr lang="ru-RU" dirty="0"/>
              <a:t>Связь базисных</a:t>
            </a:r>
            <a:r>
              <a:rPr lang="ru-RU" baseline="0" dirty="0"/>
              <a:t> и опорных решений</a:t>
            </a:r>
          </a:p>
          <a:p>
            <a:pPr marL="228600" indent="-228600">
              <a:buAutoNum type="arabicPeriod"/>
            </a:pPr>
            <a:r>
              <a:rPr lang="ru-RU" baseline="0" dirty="0"/>
              <a:t>Как перебрать все базисные решения методом </a:t>
            </a:r>
            <a:r>
              <a:rPr lang="ru-RU" baseline="0" dirty="0" err="1"/>
              <a:t>Гасусса-Жордано</a:t>
            </a:r>
            <a:r>
              <a:rPr lang="ru-RU" baseline="0" dirty="0"/>
              <a:t>?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788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E2A4E2-329E-4A4B-B44A-A616ECC56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B5C5CD-7B78-4053-B74D-725447E6D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C155FE-C85A-44DA-80A5-BFE260925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DDC4F2-4524-42C3-B630-FCA2A5043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FEF37A-025D-4335-B37C-EF2AECB78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4173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ABB643-B587-404A-8344-DB97C3FCD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8CBBD5-C95A-4304-99E1-5DA1102E2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6445E9-0EAD-4814-8A1B-BAE2A5E7C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D1EB48-4C60-4D6C-B25B-B8645124E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E27CBD-4D2C-42B3-8D8A-7101AB53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1191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049D51-8218-44DC-AE29-39D78A28B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01B9B5-4F62-4600-921E-332F9AB68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75EB1D-5432-4EFF-9A1C-84857CDCE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F7DEA1-A965-4EE3-A9C3-B1D3C52F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E3D38D-ACA6-4EC0-BB4C-6C1B2299A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89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8C1C70-BDD6-48E6-B53C-8C8A55793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0471C2-9346-43DB-B120-950AFF60C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1F305B-0EBE-4823-BB63-12943915A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F16978-D488-4CA0-89EF-FA63FFA02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1DD534-B533-4E8C-BAC7-52F334568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AED044-067F-4A73-9AAD-C90E08001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969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F35E6-A339-4F44-9622-9DEA622B0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3D7D9C-8515-4B94-9508-FA159DE22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4981837-4D60-4858-B952-E2FB3BBE9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3A152B1-D8BD-4614-958B-113F9346A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65B602-C8B7-42EE-B631-B4BF7081A6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4C770B9-701F-40B6-AAA9-B270219EA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23.09.2024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22310EE-E8FE-46A5-8007-18A9F0B24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A1A46E3-7D1D-4A54-BD9E-C7FFD1850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14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CF4DD2-BD88-4707-BCEA-9D2718C4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4128B03-DC37-40BF-97ED-43D62DA5B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212B847-E6C7-4FCC-B443-BDE74773B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0E268B-FCFC-41A0-B78D-AD7F5F81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726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73A9EF4-5365-4FB8-BD85-AFB464ECD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23.09.2024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0856D66-952D-4A5C-A1AB-0EDB032BE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256873-4C73-4E06-95C0-7018655F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078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C4616C-7112-4C21-B9AB-C464E8D47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FA6F4E-AC6B-49E6-99CE-9200606B2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B24C889-F1A0-4E7C-A873-E707EBFA2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D51719-5077-46EC-A991-42128E5E7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B16B4A-67C3-4FD0-A96A-22C0AFD24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0173C5-717B-4F3D-9BFE-E9D6B6A1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3297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5CB46-3021-4537-BA28-7170509A4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065A7DA-316D-4E94-81F5-EEBC5846E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FDD228-7D09-4FA9-8E69-C96699C46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3F4B59-E515-4088-BADC-600D6B82F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DB93C9-4273-4886-A7CC-C35C5B100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C78BA5-2C60-45E5-BC1C-0E5DB648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385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9EFC0D-7CE7-4054-944C-2B5771849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3D96205-B7DC-4FB1-B8CD-EECF46371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2C0994-9E76-4334-B397-1B129850C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58DAD9-D444-4E21-81C2-A75C98AD2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E29954-11B3-41F0-A9A7-2AF9960A1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1393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5EDE96E-F4AC-4361-A59D-5284F89F2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FED631-8316-4373-9D4B-68D4747DC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F2DD9D-12CD-4B84-9276-9A60DE6AA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B12E-09F9-4A42-8633-91B79DAE53B2}" type="datetimeFigureOut">
              <a:rPr lang="ru-RU" smtClean="0"/>
              <a:pPr/>
              <a:t>23.09.2024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75BBD5-7646-46E9-B3A1-57DE994F0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F23C25-D330-45E8-AD86-DB7A08B7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72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841F3-1442-45DA-992E-A959969C3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1045B3-FF43-4CFF-81F8-6A1632002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8D6405-8B8B-496D-940B-777F4CCC4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2B12E-09F9-4A42-8633-91B79DAE53B2}" type="datetimeFigureOut">
              <a:rPr lang="ru-RU" smtClean="0"/>
              <a:pPr/>
              <a:t>23.09.2024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E8012C-E990-44BB-8052-A055E1642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EDB793-D120-4A2A-AB46-88D5FB97C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822FF-6F83-4E26-93DF-E6DE79D7B39D}" type="slidenum">
              <a:rPr lang="ru-RU" smtClean="0"/>
              <a:pPr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8078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4.png"/><Relationship Id="rId7" Type="http://schemas.openxmlformats.org/officeDocument/2006/relationships/image" Target="../media/image6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0751"/>
            <a:ext cx="8248650" cy="4667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8953" y="1477388"/>
            <a:ext cx="1149409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Исследование операций и методы оптимизации</a:t>
            </a:r>
          </a:p>
          <a:p>
            <a:pPr algn="ctr"/>
            <a:endParaRPr lang="ru-RU" sz="3200" b="1" dirty="0">
              <a:solidFill>
                <a:srgbClr val="FFFFFF"/>
              </a:solidFill>
              <a:latin typeface="PT Sans"/>
              <a:ea typeface="PT Sans"/>
              <a:sym typeface="PT Sans"/>
            </a:endParaRPr>
          </a:p>
          <a:p>
            <a:pPr algn="ctr"/>
            <a:r>
              <a:rPr lang="ru-RU" sz="3200" b="1" dirty="0">
                <a:solidFill>
                  <a:srgbClr val="FFFFFF"/>
                </a:solidFill>
                <a:latin typeface="PT Sans"/>
                <a:sym typeface="PT Sans"/>
              </a:rPr>
              <a:t>Лекция 2</a:t>
            </a:r>
          </a:p>
          <a:p>
            <a:pPr algn="ctr"/>
            <a:r>
              <a:rPr lang="ru-RU" sz="3200" b="1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Общий и канонический вид задачи </a:t>
            </a:r>
          </a:p>
          <a:p>
            <a:pPr algn="ctr"/>
            <a:r>
              <a:rPr lang="ru-RU" sz="3200" b="1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линейного программирования </a:t>
            </a:r>
          </a:p>
          <a:p>
            <a:pPr algn="ctr"/>
            <a:r>
              <a:rPr lang="ru-RU" sz="3200" b="1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Графический симплекс метод</a:t>
            </a:r>
            <a:endParaRPr lang="ru-RU" sz="3200" b="1" dirty="0">
              <a:solidFill>
                <a:srgbClr val="FFFFFF"/>
              </a:solidFill>
              <a:latin typeface="PT Sans"/>
              <a:sym typeface="PT Sans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325" y="0"/>
            <a:ext cx="387667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29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Линейное программирование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2" y="1448728"/>
            <a:ext cx="789098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Значительная часть задач принятия решения — это задачи распределения</a:t>
            </a:r>
            <a:r>
              <a:rPr lang="en-US" sz="1600" dirty="0"/>
              <a:t> </a:t>
            </a:r>
            <a:r>
              <a:rPr lang="ru-RU" sz="1600" dirty="0"/>
              <a:t>ресурсов между объектами.</a:t>
            </a:r>
          </a:p>
          <a:p>
            <a:endParaRPr lang="ru-RU" sz="1600" dirty="0"/>
          </a:p>
          <a:p>
            <a:r>
              <a:rPr lang="ru-RU" sz="1600" dirty="0"/>
              <a:t>Первые работы по линейной оптимизации принадлежат выдающемуся советскому математику Леониду Витальевичу Канторовичу (1912–1986). В 1938 г. он консультировал фанерный трест по проблеме эффективного использования лущильных станков. Канторович понял, что проблема сводится к максимизации линейной функции многих переменных при наличии ограничений в форме линейных равенств и неравенств.</a:t>
            </a:r>
          </a:p>
          <a:p>
            <a:endParaRPr lang="ru-RU" sz="1600" dirty="0"/>
          </a:p>
          <a:p>
            <a:r>
              <a:rPr lang="ru-RU" sz="1600" dirty="0"/>
              <a:t>Он модифицировал метод множителей Лагранжа для ее решения и осознал, что к такого рода задачам сводится множество проблем экономики. В 1939 г. опубликовал работу ≪Математические методы организации и планирования производства≫</a:t>
            </a:r>
          </a:p>
          <a:p>
            <a:endParaRPr lang="ru-RU" sz="1600" dirty="0"/>
          </a:p>
          <a:p>
            <a:r>
              <a:rPr lang="ru-RU" sz="1600" dirty="0"/>
              <a:t>Признание в своей стране пришло намного позже, в 1960-е годы, а в 1975 г. Канторович совместно с американским экономистом голландского происхождения </a:t>
            </a:r>
            <a:r>
              <a:rPr lang="ru-RU" sz="1600" dirty="0" err="1"/>
              <a:t>Тьяллингом</a:t>
            </a:r>
            <a:r>
              <a:rPr lang="ru-RU" sz="1600" dirty="0"/>
              <a:t> </a:t>
            </a:r>
            <a:r>
              <a:rPr lang="ru-RU" sz="1600" dirty="0" err="1"/>
              <a:t>Купмансом</a:t>
            </a:r>
            <a:r>
              <a:rPr lang="ru-RU" sz="1600" dirty="0"/>
              <a:t> </a:t>
            </a:r>
            <a:r>
              <a:rPr lang="en-GB" sz="1600" dirty="0"/>
              <a:t>(Koopmans, </a:t>
            </a:r>
            <a:r>
              <a:rPr lang="en-GB" sz="1600" dirty="0" err="1"/>
              <a:t>Tjalling</a:t>
            </a:r>
            <a:r>
              <a:rPr lang="en-GB" sz="1600" dirty="0"/>
              <a:t> Charles; 1910–1985) </a:t>
            </a:r>
            <a:r>
              <a:rPr lang="ru-RU" sz="1600" dirty="0"/>
              <a:t>был удостоен Нобелевской премия по экономике ≪за вклад в теорию оптимального распределения ресурсов≫</a:t>
            </a:r>
          </a:p>
          <a:p>
            <a:endParaRPr lang="ru-RU" sz="1600" dirty="0"/>
          </a:p>
          <a:p>
            <a:endParaRPr lang="ru-RU" sz="16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235" y="1903611"/>
            <a:ext cx="2295736" cy="3050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5568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Линейное программирование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2" y="1448729"/>
            <a:ext cx="75069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На Западе отцом-основателем линейного программирования считают американского математика Джорджа Данцига (</a:t>
            </a:r>
            <a:r>
              <a:rPr lang="ru-RU" sz="1600" dirty="0" err="1"/>
              <a:t>Dantzig</a:t>
            </a:r>
            <a:r>
              <a:rPr lang="ru-RU" sz="1600" dirty="0"/>
              <a:t>, </a:t>
            </a:r>
            <a:r>
              <a:rPr lang="ru-RU" sz="1600" dirty="0" err="1"/>
              <a:t>George</a:t>
            </a:r>
            <a:r>
              <a:rPr lang="ru-RU" sz="1600" dirty="0"/>
              <a:t> </a:t>
            </a:r>
            <a:r>
              <a:rPr lang="ru-RU" sz="1600" dirty="0" err="1"/>
              <a:t>Bernard</a:t>
            </a:r>
            <a:r>
              <a:rPr lang="ru-RU" sz="1600" dirty="0"/>
              <a:t>; 1914–2005). В годы Второй мировой войны он работал в качестве советника по математике в командовании Военно-воздушных сил и занимался программированием поставок военной техники. </a:t>
            </a:r>
          </a:p>
          <a:p>
            <a:endParaRPr lang="ru-RU" sz="1600" dirty="0"/>
          </a:p>
          <a:p>
            <a:r>
              <a:rPr lang="ru-RU" sz="1600" dirty="0"/>
              <a:t>Слово ≪программирование≫ тогда было специфическим военным термином, оно означало составление планов и расписаний для военных учений, поставок вооружений или развертывания войсковых операций, а для компьютерного программирования использовался термин ≪кодирование≫. </a:t>
            </a:r>
          </a:p>
          <a:p>
            <a:endParaRPr lang="ru-RU" sz="1600" dirty="0"/>
          </a:p>
          <a:p>
            <a:r>
              <a:rPr lang="ru-RU" sz="1600" dirty="0"/>
              <a:t>Данциг предложил использовать линейную модель для оптимизации планирования и изобрел универсальный численный метод решения — симплексный метод.</a:t>
            </a:r>
          </a:p>
          <a:p>
            <a:endParaRPr lang="ru-RU" sz="1600" dirty="0"/>
          </a:p>
          <a:p>
            <a:r>
              <a:rPr lang="ru-RU" sz="1600" dirty="0"/>
              <a:t>До окончания войны эти результаты считались секретными и были опубликованы только в 1947 г., вызвав взрыв интереса к новой области науки, которая с подачи того же Данцига получила название ≪линейное программирование≫.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5641" y="1942157"/>
            <a:ext cx="2261464" cy="3445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641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Задача о производственном плане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На складе фирмы имеется 50 ед. (погонных метров, квадратных футов или иных подходящих единиц измерения) дерева и 54 ед. (возможно, других) металла. </a:t>
            </a:r>
          </a:p>
          <a:p>
            <a:endParaRPr lang="ru-RU" sz="1600" dirty="0"/>
          </a:p>
          <a:p>
            <a:r>
              <a:rPr lang="ru-RU" sz="1600" dirty="0"/>
              <a:t>Из этого сырья можно производить дачную мебель двух видов: столы и стулья. </a:t>
            </a:r>
          </a:p>
          <a:p>
            <a:endParaRPr lang="ru-RU" sz="1600" dirty="0"/>
          </a:p>
          <a:p>
            <a:r>
              <a:rPr lang="ru-RU" sz="1600" dirty="0"/>
              <a:t>Пусть для изготовления одного стола требуется 10 ед. дерева и 6 ед. металла, </a:t>
            </a:r>
          </a:p>
          <a:p>
            <a:r>
              <a:rPr lang="ru-RU" sz="1600" dirty="0"/>
              <a:t>а для изготовления одного стула — 5 ед. дерева и 9 ед. металла. </a:t>
            </a:r>
          </a:p>
          <a:p>
            <a:endParaRPr lang="ru-RU" sz="1600" dirty="0"/>
          </a:p>
          <a:p>
            <a:r>
              <a:rPr lang="ru-RU" sz="1600" dirty="0"/>
              <a:t>Продажная цена одного стола составляет 8 условных денежных единиц, а одного стула — 6 у. е.</a:t>
            </a:r>
          </a:p>
          <a:p>
            <a:endParaRPr lang="ru-RU" sz="1600" dirty="0"/>
          </a:p>
          <a:p>
            <a:r>
              <a:rPr lang="ru-RU" sz="1600" dirty="0"/>
              <a:t>Спрашивается, какое количество столов и стульев следует изготовить, чтобы максимизировать доход, уложившись при этом в имеющиеся ресурсы? </a:t>
            </a:r>
          </a:p>
          <a:p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05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Задача о производственном плане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Если обозначить через </a:t>
            </a:r>
            <a:r>
              <a:rPr lang="ru-RU" sz="1600" i="1" dirty="0"/>
              <a:t>x</a:t>
            </a:r>
            <a:r>
              <a:rPr lang="ru-RU" sz="1600" dirty="0"/>
              <a:t>1 количество производимых столов, а через </a:t>
            </a:r>
            <a:r>
              <a:rPr lang="ru-RU" sz="1600" i="1" dirty="0"/>
              <a:t>x</a:t>
            </a:r>
            <a:r>
              <a:rPr lang="ru-RU" sz="1600" dirty="0"/>
              <a:t>2 — количество стульев, то целевая функция задачи об оптимальном производственном плане 1 будет иметь вид.</a:t>
            </a:r>
          </a:p>
          <a:p>
            <a:r>
              <a:rPr lang="ru-RU" sz="1600" dirty="0"/>
              <a:t>а ограничения на объем потребляемых ресурсов запишутся двумя</a:t>
            </a:r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Неравенствами</a:t>
            </a:r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Таким образом, экономическая задача об оптимальном производственном плане свелась к математической задаче нахождения максимума линейной целевой функции (2.1) двух переменных с двумя линейными же ограничениями — неравенствами.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805" y="2416566"/>
            <a:ext cx="3264363" cy="373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777" y="3429000"/>
            <a:ext cx="2173436" cy="714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776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Задача о производственном плане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По смыслу данной задачи </a:t>
            </a:r>
            <a:r>
              <a:rPr lang="ru-RU" sz="1600" i="1" dirty="0"/>
              <a:t>x</a:t>
            </a:r>
            <a:r>
              <a:rPr lang="ru-RU" sz="1600" dirty="0"/>
              <a:t>1 и </a:t>
            </a:r>
            <a:r>
              <a:rPr lang="ru-RU" sz="1600" i="1" dirty="0"/>
              <a:t>x</a:t>
            </a:r>
            <a:r>
              <a:rPr lang="ru-RU" sz="1600" dirty="0"/>
              <a:t>2 должны быть целочисленными, однако пока мы абстрагируемся от этого требования;</a:t>
            </a:r>
            <a:endParaRPr lang="en-US" sz="1600" dirty="0"/>
          </a:p>
          <a:p>
            <a:r>
              <a:rPr lang="ru-RU" sz="1600" dirty="0"/>
              <a:t>Исходные данные в примере подобраны так, что оптимальное решение получится заведомо целочисленным. </a:t>
            </a:r>
          </a:p>
          <a:p>
            <a:r>
              <a:rPr lang="ru-RU" sz="1600" dirty="0"/>
              <a:t>В противном случае возникает намного более трудная задача </a:t>
            </a:r>
            <a:r>
              <a:rPr lang="ru-RU" sz="1600" b="1" i="1" dirty="0"/>
              <a:t>целочисленного линейного программирования</a:t>
            </a:r>
            <a:r>
              <a:rPr lang="ru-RU" sz="1600" dirty="0"/>
              <a:t>.</a:t>
            </a:r>
            <a:endParaRPr lang="en-US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r>
              <a:rPr lang="ru-RU" sz="1600" dirty="0"/>
              <a:t>Пример с двумя видами ресурсов и двумя типами продукции является сильно стилизованным. На практике</a:t>
            </a:r>
          </a:p>
          <a:p>
            <a:r>
              <a:rPr lang="ru-RU" sz="1600" dirty="0"/>
              <a:t>номенклатура изделий может быть очень широкой, а в ограничениях приходится учитывать как сырьевые, так и другие виды ресурсов (энергию, загрузку оборудования, рабочее время исполнителей и др.). Однако суть задачи от этого не меняется, проблема составления оптимального производственного плана (производственной программы) является одной из самых актуальных в математической экономике. </a:t>
            </a:r>
          </a:p>
          <a:p>
            <a:endParaRPr lang="ru-RU" sz="16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74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Задача о диете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9"/>
            <a:ext cx="1045405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Классическая задача линейного программирования связана с проблемой подбора оптимального набора пищевых продуктов для составления диеты.</a:t>
            </a:r>
          </a:p>
          <a:p>
            <a:r>
              <a:rPr lang="ru-RU" sz="1600" dirty="0"/>
              <a:t>Для того, чтобы жить, человек должен ежедневно получать в необходимых количествах белки, жиры, углеводы, витамины, микроэлементы и прочие питательные вещества. Эти вещества попадают в организм с разнообразными пищевыми продуктами.</a:t>
            </a:r>
          </a:p>
          <a:p>
            <a:endParaRPr lang="ru-RU" sz="1600" dirty="0"/>
          </a:p>
          <a:p>
            <a:r>
              <a:rPr lang="ru-RU" sz="1600" dirty="0"/>
              <a:t>Химический состав продуктов известен, соответствующие таблицы опубликованы в справочниках по кулинарии и диетике (*Интегративная и цифровая </a:t>
            </a:r>
            <a:r>
              <a:rPr lang="ru-RU" sz="1600" dirty="0" err="1"/>
              <a:t>нутрициология</a:t>
            </a:r>
            <a:r>
              <a:rPr lang="ru-RU" sz="1600" dirty="0"/>
              <a:t> как ближайшее будущее). </a:t>
            </a:r>
          </a:p>
          <a:p>
            <a:endParaRPr lang="ru-RU" sz="1600" dirty="0"/>
          </a:p>
          <a:p>
            <a:r>
              <a:rPr lang="ru-RU" sz="1600" dirty="0"/>
              <a:t>Задача состоит в выборе такого набора продуктов, который, с одной стороны, обеспечивал бы потребности организма, а с другой — имел минимальную стоимость.</a:t>
            </a:r>
          </a:p>
          <a:p>
            <a:endParaRPr lang="ru-RU" sz="16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619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Задача о диете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9"/>
            <a:ext cx="1045405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В качестве упрощенного, но реального примера возьмем расчет диеты по трем базовым веществам — белкам, жирам и углеводам. Их суточная потребность равна соответственно 0,1, 0,1 и 0,4 кг. Из всего многообразия пищевых продуктов выберем для примера шесть: рыбу (нежирную), растительное масло, сахар,</a:t>
            </a:r>
          </a:p>
          <a:p>
            <a:r>
              <a:rPr lang="ru-RU" sz="1600" dirty="0"/>
              <a:t>мясо, молоко и хлеб. Содержание базовых питательных веществ в килограммах на 1 кг указанных продуктов приведено ниже.</a:t>
            </a:r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Остальное — вода, клетчатка и прочие не учитываемые в данной модели ингредиенты.</a:t>
            </a:r>
          </a:p>
          <a:p>
            <a:endParaRPr lang="ru-RU" sz="1600" dirty="0">
              <a:latin typeface="+mj-lt"/>
            </a:endParaRPr>
          </a:p>
          <a:p>
            <a:r>
              <a:rPr lang="ru-RU" sz="1600" dirty="0"/>
              <a:t>Для определения стоимости диеты нужно знать цены продуктов, которые, к слову сказать, постоянно меняются в сторону повышения. Здесь мы приводим округленные средние цены соседнего магазина, взятые в начале июля 2008 г. (в рублях за 1 кг).</a:t>
            </a: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573" y="2896579"/>
            <a:ext cx="4992555" cy="1095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024" y="5451677"/>
            <a:ext cx="5013105" cy="660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4376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Задача о диете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9"/>
            <a:ext cx="1045405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Если обозначить количество рыбы в суточной диете через </a:t>
            </a:r>
            <a:r>
              <a:rPr lang="ru-RU" sz="1600" i="1" dirty="0"/>
              <a:t>x</a:t>
            </a:r>
            <a:r>
              <a:rPr lang="ru-RU" sz="1600" baseline="-25000" dirty="0"/>
              <a:t>1</a:t>
            </a:r>
            <a:r>
              <a:rPr lang="ru-RU" sz="1600" dirty="0"/>
              <a:t>, масла — </a:t>
            </a:r>
            <a:r>
              <a:rPr lang="ru-RU" sz="1600" i="1" dirty="0"/>
              <a:t>x</a:t>
            </a:r>
            <a:r>
              <a:rPr lang="ru-RU" sz="1600" baseline="-25000" dirty="0"/>
              <a:t>2</a:t>
            </a:r>
            <a:r>
              <a:rPr lang="ru-RU" sz="1600" dirty="0"/>
              <a:t> и т. д., хлеба — </a:t>
            </a:r>
            <a:r>
              <a:rPr lang="ru-RU" sz="1600" i="1" dirty="0"/>
              <a:t>x</a:t>
            </a:r>
            <a:r>
              <a:rPr lang="ru-RU" sz="1600" dirty="0"/>
              <a:t>6, то задача оптимизации диеты сводится к минимизации линейной целевой функции</a:t>
            </a:r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при линейных ограничениях-равенствах</a:t>
            </a:r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и дополнительных ограничениях на </a:t>
            </a:r>
            <a:r>
              <a:rPr lang="ru-RU" sz="1600" dirty="0" err="1"/>
              <a:t>неотрицательность</a:t>
            </a:r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Решив эту задачу в менее стилизованном виде, взяв широкий состав продуктов и учитывая остальные необходимые вещества — витамины, микроэлементы и т. д., можно ответить на жизненно важный вопрос о биологическом прожиточном минимуме при данном уровне цен.</a:t>
            </a:r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542" y="2055983"/>
            <a:ext cx="6240693" cy="33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144" y="2995187"/>
            <a:ext cx="5357147" cy="913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484" y="4294019"/>
            <a:ext cx="1997405" cy="345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2348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1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Каноническая форма задачи линейного программирования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Для того, чтобы не изобретать для каждого варианта собственный метод решения, договорились приводить все задачи к единообразной, так называемой </a:t>
            </a:r>
            <a:r>
              <a:rPr lang="ru-RU" sz="1600" i="1" dirty="0"/>
              <a:t>канонической, </a:t>
            </a:r>
            <a:r>
              <a:rPr lang="ru-RU" sz="1600" dirty="0"/>
              <a:t>форме</a:t>
            </a:r>
          </a:p>
          <a:p>
            <a:r>
              <a:rPr lang="ru-RU" sz="1600" dirty="0">
                <a:latin typeface="+mj-lt"/>
              </a:rPr>
              <a:t>В канонической форме задача линейного программирования есть задача минимизации линейной целевой функции n переменных</a:t>
            </a:r>
          </a:p>
          <a:p>
            <a:endParaRPr lang="en-US" sz="1600" dirty="0">
              <a:latin typeface="+mj-lt"/>
            </a:endParaRPr>
          </a:p>
          <a:p>
            <a:r>
              <a:rPr lang="ru-RU" sz="1600" dirty="0">
                <a:latin typeface="+mj-lt"/>
              </a:rPr>
              <a:t>при m ограничениях-равенствах</a:t>
            </a: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en-US" sz="1600" dirty="0">
              <a:latin typeface="+mj-lt"/>
            </a:endParaRPr>
          </a:p>
          <a:p>
            <a:r>
              <a:rPr lang="ru-RU" sz="1600" dirty="0">
                <a:latin typeface="+mj-lt"/>
              </a:rPr>
              <a:t>где обязательно b</a:t>
            </a:r>
            <a:r>
              <a:rPr lang="ru-RU" sz="1600" baseline="-25000" dirty="0">
                <a:latin typeface="+mj-lt"/>
              </a:rPr>
              <a:t>1</a:t>
            </a:r>
            <a:r>
              <a:rPr lang="ru-RU" sz="1600" dirty="0">
                <a:latin typeface="+mj-lt"/>
              </a:rPr>
              <a:t>, . . . , </a:t>
            </a:r>
            <a:r>
              <a:rPr lang="ru-RU" sz="1600" dirty="0" err="1">
                <a:latin typeface="+mj-lt"/>
              </a:rPr>
              <a:t>b</a:t>
            </a:r>
            <a:r>
              <a:rPr lang="ru-RU" sz="1600" baseline="-25000" dirty="0" err="1">
                <a:latin typeface="+mj-lt"/>
              </a:rPr>
              <a:t>m</a:t>
            </a:r>
            <a:r>
              <a:rPr lang="ru-RU" sz="1600" dirty="0">
                <a:latin typeface="+mj-lt"/>
              </a:rPr>
              <a:t> </a:t>
            </a:r>
            <a:r>
              <a:rPr lang="en-US" sz="1600" dirty="0">
                <a:latin typeface="+mj-lt"/>
              </a:rPr>
              <a:t>&gt;=</a:t>
            </a:r>
            <a:r>
              <a:rPr lang="ru-RU" sz="1600" dirty="0">
                <a:latin typeface="+mj-lt"/>
              </a:rPr>
              <a:t> 0, а также ограничениях на </a:t>
            </a:r>
            <a:r>
              <a:rPr lang="ru-RU" sz="1600" dirty="0" err="1">
                <a:latin typeface="+mj-lt"/>
              </a:rPr>
              <a:t>неотрицательность</a:t>
            </a:r>
            <a:r>
              <a:rPr lang="ru-RU" sz="1600" dirty="0">
                <a:latin typeface="+mj-lt"/>
              </a:rPr>
              <a:t> переменных</a:t>
            </a:r>
            <a:r>
              <a:rPr lang="en-US" sz="1600" dirty="0">
                <a:latin typeface="+mj-lt"/>
              </a:rPr>
              <a:t> </a:t>
            </a:r>
            <a:r>
              <a:rPr lang="ru-RU" sz="1600" dirty="0">
                <a:latin typeface="+mj-lt"/>
              </a:rPr>
              <a:t>x</a:t>
            </a:r>
            <a:r>
              <a:rPr lang="ru-RU" sz="1600" baseline="-25000" dirty="0">
                <a:latin typeface="+mj-lt"/>
              </a:rPr>
              <a:t>1</a:t>
            </a:r>
            <a:r>
              <a:rPr lang="ru-RU" sz="1600" dirty="0">
                <a:latin typeface="+mj-lt"/>
              </a:rPr>
              <a:t> </a:t>
            </a:r>
            <a:r>
              <a:rPr lang="en-US" sz="1600" dirty="0">
                <a:latin typeface="+mj-lt"/>
              </a:rPr>
              <a:t>&gt;=</a:t>
            </a:r>
            <a:r>
              <a:rPr lang="ru-RU" sz="1600" dirty="0">
                <a:latin typeface="+mj-lt"/>
              </a:rPr>
              <a:t> 0, . . . , </a:t>
            </a:r>
            <a:r>
              <a:rPr lang="ru-RU" sz="1600" dirty="0" err="1">
                <a:latin typeface="+mj-lt"/>
              </a:rPr>
              <a:t>x</a:t>
            </a:r>
            <a:r>
              <a:rPr lang="ru-RU" sz="1600" baseline="-25000" dirty="0" err="1">
                <a:latin typeface="+mj-lt"/>
              </a:rPr>
              <a:t>n</a:t>
            </a:r>
            <a:r>
              <a:rPr lang="ru-RU" sz="1600" dirty="0">
                <a:latin typeface="+mj-lt"/>
              </a:rPr>
              <a:t> </a:t>
            </a:r>
            <a:r>
              <a:rPr lang="en-US" sz="1600" dirty="0">
                <a:latin typeface="+mj-lt"/>
              </a:rPr>
              <a:t>&gt;=</a:t>
            </a:r>
            <a:r>
              <a:rPr lang="ru-RU" sz="1600" dirty="0">
                <a:latin typeface="+mj-lt"/>
              </a:rPr>
              <a:t> 0</a:t>
            </a:r>
          </a:p>
          <a:p>
            <a:r>
              <a:rPr lang="ru-RU" sz="1600" dirty="0">
                <a:latin typeface="+mj-lt"/>
              </a:rPr>
              <a:t>При использовании символов суммирования развернутая запись представляется в виде</a:t>
            </a: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r>
              <a:rPr lang="ru-RU" sz="1600" dirty="0">
                <a:latin typeface="+mj-lt"/>
              </a:rPr>
              <a:t>Как соотносятся </a:t>
            </a:r>
            <a:r>
              <a:rPr lang="en-US" sz="1600" dirty="0">
                <a:latin typeface="+mj-lt"/>
              </a:rPr>
              <a:t>m </a:t>
            </a:r>
            <a:r>
              <a:rPr lang="ru-RU" sz="1600" dirty="0">
                <a:latin typeface="+mj-lt"/>
              </a:rPr>
              <a:t>и </a:t>
            </a:r>
            <a:r>
              <a:rPr lang="en-US" sz="1600" dirty="0">
                <a:latin typeface="+mj-lt"/>
              </a:rPr>
              <a:t>n </a:t>
            </a:r>
            <a:r>
              <a:rPr lang="ru-RU" sz="1600" dirty="0">
                <a:latin typeface="+mj-lt"/>
              </a:rPr>
              <a:t>?</a:t>
            </a:r>
          </a:p>
          <a:p>
            <a:endParaRPr lang="en-US" sz="1600" dirty="0">
              <a:latin typeface="+mj-lt"/>
            </a:endParaRPr>
          </a:p>
          <a:p>
            <a:endParaRPr lang="en-US" sz="1600" dirty="0">
              <a:latin typeface="+mj-lt"/>
            </a:endParaRPr>
          </a:p>
          <a:p>
            <a:endParaRPr lang="en-US" sz="1600" dirty="0">
              <a:latin typeface="+mj-lt"/>
            </a:endParaRPr>
          </a:p>
          <a:p>
            <a:endParaRPr lang="en-US" sz="1600" dirty="0">
              <a:latin typeface="+mj-lt"/>
            </a:endParaRPr>
          </a:p>
          <a:p>
            <a:endParaRPr lang="en-US" sz="1600" dirty="0">
              <a:latin typeface="+mj-lt"/>
            </a:endParaRPr>
          </a:p>
          <a:p>
            <a:endParaRPr lang="en-US" sz="1600" dirty="0">
              <a:latin typeface="+mj-lt"/>
            </a:endParaRPr>
          </a:p>
          <a:p>
            <a:endParaRPr lang="en-US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628" y="2321780"/>
            <a:ext cx="3803385" cy="326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927" y="2725923"/>
            <a:ext cx="3113164" cy="1000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057" y="4190445"/>
            <a:ext cx="4185123" cy="184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1895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1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Матричное представление задачи линейного программирования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1241" y="1448728"/>
            <a:ext cx="1045405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+mj-lt"/>
              </a:rPr>
              <a:t>Считаем векторы – столбцами</a:t>
            </a: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983" y="1988840"/>
            <a:ext cx="3628407" cy="1747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490" y="4037319"/>
            <a:ext cx="2386701" cy="1201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5714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1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Векторное представление задачи линейного программирования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1241" y="1448728"/>
            <a:ext cx="1045405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+mj-lt"/>
              </a:rPr>
              <a:t>Матрицу А считаем вектором векторов</a:t>
            </a: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2849" y="1796819"/>
            <a:ext cx="1894028" cy="384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470" y="2450116"/>
            <a:ext cx="1386599" cy="94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893" y="2447073"/>
            <a:ext cx="1728192" cy="926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637" y="3569565"/>
            <a:ext cx="4057448" cy="1925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4372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Приведение к канонической форме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9"/>
            <a:ext cx="104540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Любую задачу линейного программирования можно привести к канонической форме.</a:t>
            </a:r>
          </a:p>
          <a:p>
            <a:r>
              <a:rPr lang="ru-RU" sz="1600" dirty="0"/>
              <a:t>Принципиально возможны следующие отклонения от канонической формы:</a:t>
            </a:r>
          </a:p>
          <a:p>
            <a:endParaRPr lang="ru-RU" sz="16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438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Приведение к канонической форме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9"/>
            <a:ext cx="1045405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Любую задачу линейного программирования можно привести к канонической форме.</a:t>
            </a:r>
          </a:p>
          <a:p>
            <a:r>
              <a:rPr lang="ru-RU" sz="1600" dirty="0"/>
              <a:t>Принципиально возможны следующие отклонения от канонической формы:</a:t>
            </a:r>
          </a:p>
          <a:p>
            <a:endParaRPr lang="ru-RU" sz="1600" dirty="0"/>
          </a:p>
          <a:p>
            <a:r>
              <a:rPr lang="ru-RU" sz="1600" dirty="0"/>
              <a:t>1) целевая функция </a:t>
            </a:r>
            <a:r>
              <a:rPr lang="ru-RU" sz="1600" dirty="0" err="1"/>
              <a:t>максимизируется</a:t>
            </a:r>
            <a:r>
              <a:rPr lang="ru-RU" sz="1600" dirty="0"/>
              <a:t>. В этом случае следует поменять знаки у стоимостных коэффициентов </a:t>
            </a:r>
            <a:r>
              <a:rPr lang="ru-RU" sz="1600" i="1" dirty="0" err="1"/>
              <a:t>c</a:t>
            </a:r>
            <a:r>
              <a:rPr lang="ru-RU" sz="1600" i="1" baseline="-25000" dirty="0" err="1"/>
              <a:t>j</a:t>
            </a:r>
            <a:r>
              <a:rPr lang="ru-RU" sz="1600" i="1" dirty="0"/>
              <a:t> </a:t>
            </a:r>
            <a:r>
              <a:rPr lang="ru-RU" sz="1600" dirty="0"/>
              <a:t>;</a:t>
            </a:r>
          </a:p>
          <a:p>
            <a:endParaRPr lang="ru-RU" sz="1600" dirty="0"/>
          </a:p>
          <a:p>
            <a:r>
              <a:rPr lang="ru-RU" sz="1600" dirty="0"/>
              <a:t>2) свободный член </a:t>
            </a:r>
            <a:r>
              <a:rPr lang="ru-RU" sz="1600" i="1" dirty="0" err="1"/>
              <a:t>b</a:t>
            </a:r>
            <a:r>
              <a:rPr lang="ru-RU" sz="1600" i="1" baseline="-25000" dirty="0" err="1"/>
              <a:t>i</a:t>
            </a:r>
            <a:r>
              <a:rPr lang="ru-RU" sz="1600" i="1" dirty="0"/>
              <a:t> </a:t>
            </a:r>
            <a:r>
              <a:rPr lang="ru-RU" sz="1600" dirty="0"/>
              <a:t>в некотором </a:t>
            </a:r>
            <a:r>
              <a:rPr lang="ru-RU" sz="1600" i="1" dirty="0"/>
              <a:t>i</a:t>
            </a:r>
            <a:r>
              <a:rPr lang="ru-RU" sz="1600" dirty="0"/>
              <a:t>-м уравнении отрицателен. Умножаем это уравнение на </a:t>
            </a:r>
            <a:r>
              <a:rPr lang="ru-RU" sz="1600" i="1" dirty="0"/>
              <a:t>−</a:t>
            </a:r>
            <a:r>
              <a:rPr lang="ru-RU" sz="1600" dirty="0"/>
              <a:t>1;</a:t>
            </a:r>
          </a:p>
          <a:p>
            <a:endParaRPr lang="ru-RU" sz="1600" dirty="0"/>
          </a:p>
          <a:p>
            <a:r>
              <a:rPr lang="ru-RU" sz="1600" dirty="0"/>
              <a:t>3) </a:t>
            </a:r>
            <a:r>
              <a:rPr lang="ru-RU" sz="1600" i="1" dirty="0"/>
              <a:t>i</a:t>
            </a:r>
            <a:r>
              <a:rPr lang="ru-RU" sz="1600" dirty="0"/>
              <a:t>-е ограничение задано неравенством вида </a:t>
            </a:r>
            <a:r>
              <a:rPr lang="en-GB" sz="1600" i="1" dirty="0"/>
              <a:t>a</a:t>
            </a:r>
            <a:r>
              <a:rPr lang="en-GB" sz="1600" i="1" baseline="-25000" dirty="0"/>
              <a:t>i</a:t>
            </a:r>
            <a:r>
              <a:rPr lang="en-GB" sz="1600" baseline="-25000" dirty="0"/>
              <a:t>1</a:t>
            </a:r>
            <a:r>
              <a:rPr lang="en-GB" sz="1600" i="1" dirty="0"/>
              <a:t>x</a:t>
            </a:r>
            <a:r>
              <a:rPr lang="en-GB" sz="1600" baseline="-25000" dirty="0"/>
              <a:t>1</a:t>
            </a:r>
            <a:r>
              <a:rPr lang="en-GB" sz="1600" dirty="0"/>
              <a:t> + </a:t>
            </a:r>
            <a:r>
              <a:rPr lang="en-GB" sz="1600" i="1" dirty="0"/>
              <a:t>· · · </a:t>
            </a:r>
            <a:r>
              <a:rPr lang="en-GB" sz="1600" dirty="0"/>
              <a:t>+ </a:t>
            </a:r>
            <a:r>
              <a:rPr lang="en-GB" sz="1600" i="1" dirty="0" err="1"/>
              <a:t>a</a:t>
            </a:r>
            <a:r>
              <a:rPr lang="en-GB" sz="1600" i="1" baseline="-25000" dirty="0" err="1"/>
              <a:t>in</a:t>
            </a:r>
            <a:r>
              <a:rPr lang="en-GB" sz="1600" i="1" dirty="0"/>
              <a:t> </a:t>
            </a:r>
            <a:r>
              <a:rPr lang="en-US" sz="1600" i="1" dirty="0"/>
              <a:t>&lt;=</a:t>
            </a:r>
            <a:r>
              <a:rPr lang="en-GB" sz="1600" dirty="0"/>
              <a:t> </a:t>
            </a:r>
            <a:r>
              <a:rPr lang="en-GB" sz="1600" i="1" dirty="0"/>
              <a:t>b</a:t>
            </a:r>
            <a:r>
              <a:rPr lang="en-GB" sz="1600" i="1" baseline="-25000" dirty="0"/>
              <a:t>i</a:t>
            </a:r>
            <a:r>
              <a:rPr lang="en-GB" sz="1600" i="1" dirty="0"/>
              <a:t>.</a:t>
            </a:r>
            <a:endParaRPr lang="ru-RU" sz="1600" i="1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Для приведения данного неравенства к равенству следует ввести</a:t>
            </a:r>
            <a:r>
              <a:rPr lang="en-US" sz="1600" dirty="0"/>
              <a:t> </a:t>
            </a:r>
            <a:r>
              <a:rPr lang="ru-RU" sz="1600" dirty="0"/>
              <a:t>дополнительную н е о т р и ц а т е л ь н у ю переменную </a:t>
            </a:r>
            <a:r>
              <a:rPr lang="ru-RU" sz="1600" i="1" dirty="0"/>
              <a:t>x</a:t>
            </a:r>
            <a:r>
              <a:rPr lang="ru-RU" sz="1600" i="1" baseline="-25000" dirty="0"/>
              <a:t>n</a:t>
            </a:r>
            <a:r>
              <a:rPr lang="ru-RU" sz="1600" baseline="-25000" dirty="0"/>
              <a:t>+1</a:t>
            </a:r>
            <a:r>
              <a:rPr lang="ru-RU" sz="1600" dirty="0"/>
              <a:t>,</a:t>
            </a:r>
            <a:r>
              <a:rPr lang="en-US" sz="1600" dirty="0"/>
              <a:t> </a:t>
            </a:r>
            <a:r>
              <a:rPr lang="ru-RU" sz="1600" dirty="0"/>
              <a:t>входящую в целевую функцию с н у л е в ы м стоимостным</a:t>
            </a:r>
            <a:r>
              <a:rPr lang="en-US" sz="1600" dirty="0"/>
              <a:t> </a:t>
            </a:r>
            <a:r>
              <a:rPr lang="ru-RU" sz="1600" dirty="0"/>
              <a:t>коэффициентом, т. е. </a:t>
            </a:r>
            <a:r>
              <a:rPr lang="ru-RU" sz="1600" i="1" dirty="0"/>
              <a:t>c</a:t>
            </a:r>
            <a:r>
              <a:rPr lang="ru-RU" sz="1600" i="1" baseline="-25000" dirty="0"/>
              <a:t>n</a:t>
            </a:r>
            <a:r>
              <a:rPr lang="ru-RU" sz="1600" baseline="-25000" dirty="0"/>
              <a:t>+1</a:t>
            </a:r>
            <a:r>
              <a:rPr lang="ru-RU" sz="1600" dirty="0"/>
              <a:t> = 0. </a:t>
            </a:r>
            <a:endParaRPr lang="en-US" sz="1600" dirty="0"/>
          </a:p>
          <a:p>
            <a:r>
              <a:rPr lang="ru-RU" sz="1600" dirty="0"/>
              <a:t>Эта переменная, прибавленная к</a:t>
            </a:r>
            <a:r>
              <a:rPr lang="en-US" sz="1600" dirty="0"/>
              <a:t> </a:t>
            </a:r>
            <a:r>
              <a:rPr lang="ru-RU" sz="1600" dirty="0"/>
              <a:t>левой части, превращает неравенство в равенство:</a:t>
            </a:r>
          </a:p>
          <a:p>
            <a:r>
              <a:rPr lang="en-GB" sz="1600" i="1" dirty="0"/>
              <a:t>                                                                            a</a:t>
            </a:r>
            <a:r>
              <a:rPr lang="en-GB" sz="1600" i="1" baseline="-25000" dirty="0"/>
              <a:t>i</a:t>
            </a:r>
            <a:r>
              <a:rPr lang="en-GB" sz="1600" baseline="-25000" dirty="0"/>
              <a:t>1</a:t>
            </a:r>
            <a:r>
              <a:rPr lang="en-GB" sz="1600" i="1" dirty="0"/>
              <a:t>x</a:t>
            </a:r>
            <a:r>
              <a:rPr lang="en-GB" sz="1600" baseline="-25000" dirty="0"/>
              <a:t>1</a:t>
            </a:r>
            <a:r>
              <a:rPr lang="en-GB" sz="1600" dirty="0"/>
              <a:t> + </a:t>
            </a:r>
            <a:r>
              <a:rPr lang="en-GB" sz="1600" i="1" dirty="0"/>
              <a:t>· · · </a:t>
            </a:r>
            <a:r>
              <a:rPr lang="en-GB" sz="1600" dirty="0"/>
              <a:t>+ </a:t>
            </a:r>
            <a:r>
              <a:rPr lang="en-GB" sz="1600" i="1" dirty="0" err="1"/>
              <a:t>a</a:t>
            </a:r>
            <a:r>
              <a:rPr lang="en-GB" sz="1600" i="1" baseline="-25000" dirty="0" err="1"/>
              <a:t>in</a:t>
            </a:r>
            <a:r>
              <a:rPr lang="en-GB" sz="1600" i="1" dirty="0" err="1"/>
              <a:t>x</a:t>
            </a:r>
            <a:r>
              <a:rPr lang="en-GB" sz="1600" i="1" baseline="-25000" dirty="0" err="1"/>
              <a:t>n</a:t>
            </a:r>
            <a:r>
              <a:rPr lang="en-GB" sz="1600" i="1" dirty="0"/>
              <a:t> </a:t>
            </a:r>
            <a:r>
              <a:rPr lang="en-GB" sz="1600" dirty="0"/>
              <a:t>+ </a:t>
            </a:r>
            <a:r>
              <a:rPr lang="en-GB" sz="1600" i="1" dirty="0"/>
              <a:t>x</a:t>
            </a:r>
            <a:r>
              <a:rPr lang="en-GB" sz="1600" i="1" baseline="-25000" dirty="0"/>
              <a:t>n</a:t>
            </a:r>
            <a:r>
              <a:rPr lang="en-GB" sz="1600" baseline="-25000" dirty="0"/>
              <a:t>+1</a:t>
            </a:r>
            <a:r>
              <a:rPr lang="en-GB" sz="1600" dirty="0"/>
              <a:t> = </a:t>
            </a:r>
            <a:r>
              <a:rPr lang="en-GB" sz="1600" i="1" dirty="0"/>
              <a:t>b</a:t>
            </a:r>
            <a:r>
              <a:rPr lang="en-GB" sz="1600" i="1" baseline="-25000" dirty="0"/>
              <a:t>i</a:t>
            </a:r>
            <a:endParaRPr lang="en-GB" sz="1600" i="1" dirty="0"/>
          </a:p>
          <a:p>
            <a:r>
              <a:rPr lang="ru-RU" sz="1600" dirty="0"/>
              <a:t>Для каждого неравенства следует вводить свою дополнительную</a:t>
            </a:r>
            <a:r>
              <a:rPr lang="en-US" sz="1600" dirty="0"/>
              <a:t> </a:t>
            </a:r>
            <a:r>
              <a:rPr lang="ru-RU" sz="1600" dirty="0"/>
              <a:t>переменную;</a:t>
            </a:r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33" y="3510325"/>
            <a:ext cx="2667496" cy="319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2581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Приведение к канонической форме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9"/>
            <a:ext cx="1045405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4) </a:t>
            </a:r>
            <a:r>
              <a:rPr lang="ru-RU" sz="1600" i="1" dirty="0"/>
              <a:t>i</a:t>
            </a:r>
            <a:r>
              <a:rPr lang="ru-RU" sz="1600" dirty="0"/>
              <a:t>-е ограничение задано неравенством вида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ru-RU" sz="1600" dirty="0"/>
              <a:t>Для приведения его к равенству также вводим дополнительную</a:t>
            </a:r>
            <a:r>
              <a:rPr lang="en-US" sz="1600" dirty="0"/>
              <a:t> </a:t>
            </a:r>
            <a:r>
              <a:rPr lang="ru-RU" sz="1600" dirty="0"/>
              <a:t>неотрицательную переменную, которую вычитаем из левой части</a:t>
            </a:r>
            <a:r>
              <a:rPr lang="en-US" sz="1600" dirty="0"/>
              <a:t> </a:t>
            </a:r>
            <a:r>
              <a:rPr lang="ru-RU" sz="1600" dirty="0"/>
              <a:t>неравенства:</a:t>
            </a:r>
          </a:p>
          <a:p>
            <a:r>
              <a:rPr lang="en-GB" sz="1600" i="1" dirty="0"/>
              <a:t>		</a:t>
            </a:r>
          </a:p>
          <a:p>
            <a:endParaRPr lang="en-US" sz="1600" dirty="0"/>
          </a:p>
          <a:p>
            <a:r>
              <a:rPr lang="ru-RU" sz="1600" dirty="0"/>
              <a:t>5) некоторая переменная </a:t>
            </a:r>
            <a:r>
              <a:rPr lang="ru-RU" sz="1600" i="1" dirty="0" err="1"/>
              <a:t>x</a:t>
            </a:r>
            <a:r>
              <a:rPr lang="ru-RU" sz="1600" i="1" baseline="-25000" dirty="0" err="1"/>
              <a:t>j</a:t>
            </a:r>
            <a:r>
              <a:rPr lang="ru-RU" sz="1600" i="1" dirty="0"/>
              <a:t> </a:t>
            </a:r>
            <a:r>
              <a:rPr lang="ru-RU" sz="1600" dirty="0" err="1"/>
              <a:t>неограничена</a:t>
            </a:r>
            <a:r>
              <a:rPr lang="ru-RU" sz="1600" dirty="0"/>
              <a:t> по знаку: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ru-RU" sz="1600" dirty="0"/>
              <a:t>Для приведения к канонической форме, в которой все переменные</a:t>
            </a:r>
            <a:r>
              <a:rPr lang="en-US" sz="1600" dirty="0"/>
              <a:t> </a:t>
            </a:r>
            <a:r>
              <a:rPr lang="ru-RU" sz="1600" dirty="0"/>
              <a:t>неотрицательны, представляем эту переменную в виде разности</a:t>
            </a:r>
            <a:r>
              <a:rPr lang="en-US" sz="1600" dirty="0"/>
              <a:t> </a:t>
            </a:r>
            <a:r>
              <a:rPr lang="ru-RU" sz="1600" dirty="0"/>
              <a:t>двух неотрицательных переменных: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ru-RU" sz="16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126" y="1813767"/>
            <a:ext cx="2577917" cy="321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0710" y="2756925"/>
            <a:ext cx="3260749" cy="313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208" y="3429000"/>
            <a:ext cx="1375771" cy="373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2526" y="4520373"/>
            <a:ext cx="3471481" cy="419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2857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Приведение к каноническому виду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061" y="1314997"/>
            <a:ext cx="5059043" cy="1729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7367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Приведение к каноническому виду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9"/>
            <a:ext cx="104540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ru-RU" sz="1600" dirty="0"/>
              <a:t>Представляем </a:t>
            </a:r>
            <a:r>
              <a:rPr lang="ru-RU" sz="1600" i="1" dirty="0"/>
              <a:t>x</a:t>
            </a:r>
            <a:r>
              <a:rPr lang="ru-RU" sz="1600" baseline="-25000" dirty="0"/>
              <a:t>2</a:t>
            </a:r>
            <a:r>
              <a:rPr lang="ru-RU" sz="1600" dirty="0"/>
              <a:t> в виде разности </a:t>
            </a:r>
            <a:r>
              <a:rPr lang="ru-RU" sz="1600" i="1" dirty="0"/>
              <a:t>x</a:t>
            </a:r>
            <a:r>
              <a:rPr lang="ru-RU" sz="1600" baseline="-25000" dirty="0"/>
              <a:t>2</a:t>
            </a:r>
            <a:r>
              <a:rPr lang="ru-RU" sz="1600" dirty="0"/>
              <a:t> </a:t>
            </a:r>
            <a:r>
              <a:rPr lang="ru-RU" sz="1600" i="1" dirty="0"/>
              <a:t>− x</a:t>
            </a:r>
            <a:r>
              <a:rPr lang="ru-RU" sz="1600" baseline="-25000" dirty="0"/>
              <a:t>3</a:t>
            </a:r>
            <a:r>
              <a:rPr lang="ru-RU" sz="1600" dirty="0"/>
              <a:t> (то есть считаем</a:t>
            </a:r>
            <a:r>
              <a:rPr lang="en-US" sz="1600" dirty="0"/>
              <a:t> </a:t>
            </a:r>
            <a:r>
              <a:rPr lang="en-GB" sz="1600" i="1" dirty="0"/>
              <a:t>x</a:t>
            </a:r>
            <a:r>
              <a:rPr lang="en-GB" sz="1600" baseline="-25000" dirty="0"/>
              <a:t>2</a:t>
            </a:r>
            <a:r>
              <a:rPr lang="en-GB" sz="1600" dirty="0"/>
              <a:t>’= </a:t>
            </a:r>
            <a:r>
              <a:rPr lang="en-GB" sz="1600" i="1" dirty="0"/>
              <a:t>x</a:t>
            </a:r>
            <a:r>
              <a:rPr lang="en-GB" sz="1600" baseline="-25000" dirty="0"/>
              <a:t>2</a:t>
            </a:r>
            <a:r>
              <a:rPr lang="en-GB" sz="1600" i="1" dirty="0"/>
              <a:t>, x</a:t>
            </a:r>
            <a:r>
              <a:rPr lang="ru-RU" sz="1600" baseline="-25000" dirty="0"/>
              <a:t>2</a:t>
            </a:r>
            <a:r>
              <a:rPr lang="ru-RU" sz="1600" dirty="0"/>
              <a:t> </a:t>
            </a:r>
            <a:r>
              <a:rPr lang="en-US" sz="1600" dirty="0"/>
              <a:t>‘’</a:t>
            </a:r>
            <a:r>
              <a:rPr lang="ru-RU" sz="1600" dirty="0"/>
              <a:t>= </a:t>
            </a:r>
            <a:r>
              <a:rPr lang="ru-RU" sz="1600" i="1" dirty="0"/>
              <a:t>x</a:t>
            </a:r>
            <a:r>
              <a:rPr lang="ru-RU" sz="1600" baseline="-25000" dirty="0"/>
              <a:t>3</a:t>
            </a:r>
            <a:r>
              <a:rPr lang="ru-RU" sz="1600" dirty="0"/>
              <a:t>, чтобы нумерация переменных шла по </a:t>
            </a:r>
            <a:r>
              <a:rPr lang="ru-RU" sz="1600" dirty="0" err="1"/>
              <a:t>поряд</a:t>
            </a:r>
            <a:endParaRPr lang="ru-RU" sz="1600" dirty="0"/>
          </a:p>
          <a:p>
            <a:r>
              <a:rPr lang="ru-RU" sz="1600" dirty="0"/>
              <a:t>ку), вводим дополнительные переменные </a:t>
            </a:r>
            <a:r>
              <a:rPr lang="ru-RU" sz="1600" i="1" dirty="0"/>
              <a:t>x</a:t>
            </a:r>
            <a:r>
              <a:rPr lang="ru-RU" sz="1600" baseline="-25000" dirty="0"/>
              <a:t>4</a:t>
            </a:r>
            <a:r>
              <a:rPr lang="ru-RU" sz="1600" dirty="0"/>
              <a:t> и </a:t>
            </a:r>
            <a:r>
              <a:rPr lang="ru-RU" sz="1600" i="1" dirty="0"/>
              <a:t>x</a:t>
            </a:r>
            <a:r>
              <a:rPr lang="ru-RU" sz="1600" baseline="-25000" dirty="0"/>
              <a:t>5</a:t>
            </a:r>
            <a:r>
              <a:rPr lang="ru-RU" sz="1600" dirty="0"/>
              <a:t> для устранения</a:t>
            </a:r>
            <a:r>
              <a:rPr lang="en-US" sz="1600" dirty="0"/>
              <a:t> </a:t>
            </a:r>
            <a:r>
              <a:rPr lang="ru-RU" sz="1600" dirty="0"/>
              <a:t>неравенств, меняем направление оптимизации и умножаем второе</a:t>
            </a:r>
            <a:r>
              <a:rPr lang="en-US" sz="1600" dirty="0"/>
              <a:t> </a:t>
            </a:r>
            <a:r>
              <a:rPr lang="ru-RU" sz="1600" dirty="0"/>
              <a:t>уравнение на </a:t>
            </a:r>
            <a:r>
              <a:rPr lang="ru-RU" sz="1600" i="1" dirty="0"/>
              <a:t>−</a:t>
            </a:r>
            <a:r>
              <a:rPr lang="ru-RU" sz="1600" dirty="0"/>
              <a:t>1. В результате получаем</a:t>
            </a:r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061" y="1314997"/>
            <a:ext cx="5059043" cy="1729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649" y="4101076"/>
            <a:ext cx="5597684" cy="132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8191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Задача о загрузке оборудования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+mj-lt"/>
              </a:rPr>
              <a:t>Задача об использовании мощностей (задача о загрузке оборудования).</a:t>
            </a:r>
          </a:p>
          <a:p>
            <a:r>
              <a:rPr lang="ru-RU" sz="1600" dirty="0">
                <a:latin typeface="+mj-lt"/>
              </a:rPr>
              <a:t>Предприятию задан план производства продукции по времени и номенклатуре: требуется за время T выпустить n</a:t>
            </a:r>
            <a:r>
              <a:rPr lang="ru-RU" sz="1600" baseline="-25000" dirty="0">
                <a:latin typeface="+mj-lt"/>
              </a:rPr>
              <a:t>1</a:t>
            </a:r>
            <a:r>
              <a:rPr lang="ru-RU" sz="1600" dirty="0">
                <a:latin typeface="+mj-lt"/>
              </a:rPr>
              <a:t>,n</a:t>
            </a:r>
            <a:r>
              <a:rPr lang="ru-RU" sz="1600" baseline="-25000" dirty="0">
                <a:latin typeface="+mj-lt"/>
              </a:rPr>
              <a:t>2</a:t>
            </a:r>
            <a:r>
              <a:rPr lang="ru-RU" sz="1600" dirty="0">
                <a:latin typeface="+mj-lt"/>
              </a:rPr>
              <a:t>,...,</a:t>
            </a:r>
            <a:r>
              <a:rPr lang="ru-RU" sz="1600" dirty="0" err="1">
                <a:latin typeface="+mj-lt"/>
              </a:rPr>
              <a:t>n</a:t>
            </a:r>
            <a:r>
              <a:rPr lang="ru-RU" sz="1600" baseline="-25000" dirty="0" err="1">
                <a:latin typeface="+mj-lt"/>
              </a:rPr>
              <a:t>k</a:t>
            </a:r>
            <a:r>
              <a:rPr lang="ru-RU" sz="1600" dirty="0">
                <a:latin typeface="+mj-lt"/>
              </a:rPr>
              <a:t> единиц продукции P</a:t>
            </a:r>
            <a:r>
              <a:rPr lang="ru-RU" sz="1600" baseline="-25000" dirty="0">
                <a:latin typeface="+mj-lt"/>
              </a:rPr>
              <a:t>1</a:t>
            </a:r>
            <a:r>
              <a:rPr lang="ru-RU" sz="1600" dirty="0">
                <a:latin typeface="+mj-lt"/>
              </a:rPr>
              <a:t>, P</a:t>
            </a:r>
            <a:r>
              <a:rPr lang="ru-RU" sz="1600" baseline="-25000" dirty="0">
                <a:latin typeface="+mj-lt"/>
              </a:rPr>
              <a:t>2</a:t>
            </a:r>
            <a:r>
              <a:rPr lang="ru-RU" sz="1600" dirty="0">
                <a:latin typeface="+mj-lt"/>
              </a:rPr>
              <a:t>, …, </a:t>
            </a:r>
            <a:r>
              <a:rPr lang="ru-RU" sz="1600" dirty="0" err="1">
                <a:latin typeface="+mj-lt"/>
              </a:rPr>
              <a:t>P</a:t>
            </a:r>
            <a:r>
              <a:rPr lang="ru-RU" sz="1600" baseline="-25000" dirty="0" err="1">
                <a:latin typeface="+mj-lt"/>
              </a:rPr>
              <a:t>k</a:t>
            </a:r>
            <a:r>
              <a:rPr lang="ru-RU" sz="1600" dirty="0">
                <a:latin typeface="+mj-lt"/>
              </a:rPr>
              <a:t>. Продукция производится на станках S</a:t>
            </a:r>
            <a:r>
              <a:rPr lang="ru-RU" sz="1600" baseline="-25000" dirty="0">
                <a:latin typeface="+mj-lt"/>
              </a:rPr>
              <a:t>1</a:t>
            </a:r>
            <a:r>
              <a:rPr lang="ru-RU" sz="1600" dirty="0">
                <a:latin typeface="+mj-lt"/>
              </a:rPr>
              <a:t>, S</a:t>
            </a:r>
            <a:r>
              <a:rPr lang="ru-RU" sz="1600" baseline="-25000" dirty="0">
                <a:latin typeface="+mj-lt"/>
              </a:rPr>
              <a:t>2</a:t>
            </a:r>
            <a:r>
              <a:rPr lang="ru-RU" sz="1600" dirty="0">
                <a:latin typeface="+mj-lt"/>
              </a:rPr>
              <a:t>, …, </a:t>
            </a:r>
            <a:r>
              <a:rPr lang="ru-RU" sz="1600" dirty="0" err="1">
                <a:latin typeface="+mj-lt"/>
              </a:rPr>
              <a:t>S</a:t>
            </a:r>
            <a:r>
              <a:rPr lang="ru-RU" sz="1600" baseline="-25000" dirty="0" err="1">
                <a:latin typeface="+mj-lt"/>
              </a:rPr>
              <a:t>m</a:t>
            </a:r>
            <a:r>
              <a:rPr lang="ru-RU" sz="1600" dirty="0">
                <a:latin typeface="+mj-lt"/>
              </a:rPr>
              <a:t>. Для каждого станка известны производительность </a:t>
            </a:r>
            <a:r>
              <a:rPr lang="ru-RU" sz="1600" dirty="0" err="1">
                <a:latin typeface="+mj-lt"/>
              </a:rPr>
              <a:t>a</a:t>
            </a:r>
            <a:r>
              <a:rPr lang="ru-RU" sz="1600" baseline="-25000" dirty="0" err="1">
                <a:latin typeface="+mj-lt"/>
              </a:rPr>
              <a:t>ij</a:t>
            </a:r>
            <a:r>
              <a:rPr lang="ru-RU" sz="1600" dirty="0">
                <a:latin typeface="+mj-lt"/>
              </a:rPr>
              <a:t> (т.е. число единиц продукции </a:t>
            </a:r>
            <a:r>
              <a:rPr lang="ru-RU" sz="1600" dirty="0" err="1">
                <a:latin typeface="+mj-lt"/>
              </a:rPr>
              <a:t>P</a:t>
            </a:r>
            <a:r>
              <a:rPr lang="ru-RU" sz="1600" baseline="-25000" dirty="0" err="1">
                <a:latin typeface="+mj-lt"/>
              </a:rPr>
              <a:t>j</a:t>
            </a:r>
            <a:r>
              <a:rPr lang="ru-RU" sz="1600" dirty="0">
                <a:latin typeface="+mj-lt"/>
              </a:rPr>
              <a:t>, которое можно произвести на станке </a:t>
            </a:r>
            <a:r>
              <a:rPr lang="ru-RU" sz="1600" dirty="0" err="1">
                <a:latin typeface="+mj-lt"/>
              </a:rPr>
              <a:t>S</a:t>
            </a:r>
            <a:r>
              <a:rPr lang="ru-RU" sz="1600" baseline="-25000" dirty="0" err="1">
                <a:latin typeface="+mj-lt"/>
              </a:rPr>
              <a:t>i</a:t>
            </a:r>
            <a:r>
              <a:rPr lang="ru-RU" sz="1600" dirty="0">
                <a:latin typeface="+mj-lt"/>
              </a:rPr>
              <a:t> за единицу времени) и затраты </a:t>
            </a:r>
            <a:r>
              <a:rPr lang="ru-RU" sz="1600" dirty="0" err="1">
                <a:latin typeface="+mj-lt"/>
              </a:rPr>
              <a:t>b</a:t>
            </a:r>
            <a:r>
              <a:rPr lang="ru-RU" sz="1600" baseline="-25000" dirty="0" err="1">
                <a:latin typeface="+mj-lt"/>
              </a:rPr>
              <a:t>ij</a:t>
            </a:r>
            <a:r>
              <a:rPr lang="ru-RU" sz="1600" dirty="0">
                <a:latin typeface="+mj-lt"/>
              </a:rPr>
              <a:t> на изготовление продукции </a:t>
            </a:r>
            <a:r>
              <a:rPr lang="ru-RU" sz="1600" dirty="0" err="1">
                <a:latin typeface="+mj-lt"/>
              </a:rPr>
              <a:t>P</a:t>
            </a:r>
            <a:r>
              <a:rPr lang="ru-RU" sz="1600" baseline="-25000" dirty="0" err="1">
                <a:latin typeface="+mj-lt"/>
              </a:rPr>
              <a:t>j</a:t>
            </a:r>
            <a:r>
              <a:rPr lang="ru-RU" sz="1600" dirty="0">
                <a:latin typeface="+mj-lt"/>
              </a:rPr>
              <a:t> на станке </a:t>
            </a:r>
            <a:r>
              <a:rPr lang="ru-RU" sz="1600" dirty="0" err="1">
                <a:latin typeface="+mj-lt"/>
              </a:rPr>
              <a:t>S</a:t>
            </a:r>
            <a:r>
              <a:rPr lang="ru-RU" sz="1600" baseline="-25000" dirty="0" err="1">
                <a:latin typeface="+mj-lt"/>
              </a:rPr>
              <a:t>i</a:t>
            </a:r>
            <a:r>
              <a:rPr lang="ru-RU" sz="1600" dirty="0">
                <a:latin typeface="+mj-lt"/>
              </a:rPr>
              <a:t> в единицу времени.</a:t>
            </a:r>
          </a:p>
          <a:p>
            <a:endParaRPr lang="ru-RU" sz="1600" dirty="0">
              <a:latin typeface="+mj-lt"/>
            </a:endParaRPr>
          </a:p>
          <a:p>
            <a:r>
              <a:rPr lang="ru-RU" sz="1600" dirty="0">
                <a:latin typeface="+mj-lt"/>
              </a:rPr>
              <a:t>Необходимо составить такой план работы станков (т.е. так распределить выпуск продукции между станками), чтобы затраты на производство всей продукции были минимальными. Экономико-математическая модель задачи:</a:t>
            </a:r>
          </a:p>
          <a:p>
            <a:r>
              <a:rPr lang="ru-RU" sz="1600" dirty="0">
                <a:latin typeface="+mj-lt"/>
              </a:rPr>
              <a:t>Обозначим </a:t>
            </a:r>
            <a:r>
              <a:rPr lang="ru-RU" sz="1600" dirty="0" err="1">
                <a:latin typeface="+mj-lt"/>
              </a:rPr>
              <a:t>x</a:t>
            </a:r>
            <a:r>
              <a:rPr lang="ru-RU" sz="1600" baseline="-25000" dirty="0" err="1">
                <a:latin typeface="+mj-lt"/>
              </a:rPr>
              <a:t>ij</a:t>
            </a:r>
            <a:r>
              <a:rPr lang="ru-RU" sz="1600" dirty="0">
                <a:latin typeface="+mj-lt"/>
              </a:rPr>
              <a:t>— время, в течение которого станок </a:t>
            </a:r>
            <a:r>
              <a:rPr lang="ru-RU" sz="1600" dirty="0" err="1">
                <a:latin typeface="+mj-lt"/>
              </a:rPr>
              <a:t>S</a:t>
            </a:r>
            <a:r>
              <a:rPr lang="ru-RU" sz="1600" baseline="-25000" dirty="0" err="1">
                <a:latin typeface="+mj-lt"/>
              </a:rPr>
              <a:t>i</a:t>
            </a:r>
            <a:r>
              <a:rPr lang="ru-RU" sz="1600" dirty="0">
                <a:latin typeface="+mj-lt"/>
              </a:rPr>
              <a:t> (i =1,...,m) будет занят изготовлением продукции </a:t>
            </a:r>
            <a:r>
              <a:rPr lang="ru-RU" sz="1600" dirty="0" err="1">
                <a:latin typeface="+mj-lt"/>
              </a:rPr>
              <a:t>P</a:t>
            </a:r>
            <a:r>
              <a:rPr lang="ru-RU" sz="1600" baseline="-25000" dirty="0" err="1">
                <a:latin typeface="+mj-lt"/>
              </a:rPr>
              <a:t>j</a:t>
            </a:r>
            <a:r>
              <a:rPr lang="ru-RU" sz="1600" dirty="0">
                <a:latin typeface="+mj-lt"/>
              </a:rPr>
              <a:t> ( j =1,...,k ).</a:t>
            </a:r>
          </a:p>
          <a:p>
            <a:r>
              <a:rPr lang="ru-RU" sz="1600" dirty="0">
                <a:latin typeface="+mj-lt"/>
              </a:rPr>
              <a:t>Так как время работы каждого станка ограничено и не превышает T, то справедливы неравенства:</a:t>
            </a:r>
          </a:p>
          <a:p>
            <a:pPr marL="304792" indent="-304792">
              <a:buAutoNum type="arabicPeriod"/>
            </a:pPr>
            <a:endParaRPr lang="ru-RU" sz="1600" dirty="0">
              <a:latin typeface="+mj-lt"/>
            </a:endParaRPr>
          </a:p>
          <a:p>
            <a:pPr marL="304792" indent="-304792">
              <a:buAutoNum type="arabicPeriod"/>
            </a:pPr>
            <a:endParaRPr lang="ru-RU" sz="1600" dirty="0">
              <a:latin typeface="+mj-lt"/>
            </a:endParaRPr>
          </a:p>
          <a:p>
            <a:pPr marL="304792" indent="-304792">
              <a:buAutoNum type="arabicPeriod"/>
            </a:pPr>
            <a:endParaRPr lang="ru-RU" sz="1600" dirty="0">
              <a:latin typeface="+mj-lt"/>
            </a:endParaRPr>
          </a:p>
          <a:p>
            <a:pPr marL="304792" indent="-304792">
              <a:buAutoNum type="arabicPeriod"/>
            </a:pPr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755" y="4101075"/>
            <a:ext cx="2732463" cy="1410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58697" y="5807274"/>
            <a:ext cx="7890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Лирическое отступление: Бизнес-роман </a:t>
            </a:r>
            <a:r>
              <a:rPr lang="ru-RU" sz="1600" dirty="0" err="1"/>
              <a:t>Элияху</a:t>
            </a:r>
            <a:r>
              <a:rPr lang="ru-RU" sz="1600" dirty="0"/>
              <a:t> М. </a:t>
            </a:r>
            <a:r>
              <a:rPr lang="ru-RU" sz="1600" dirty="0" err="1"/>
              <a:t>Голдратта</a:t>
            </a:r>
            <a:r>
              <a:rPr lang="ru-RU" sz="1600" dirty="0"/>
              <a:t> «Цель»</a:t>
            </a:r>
          </a:p>
        </p:txBody>
      </p:sp>
    </p:spTree>
    <p:extLst>
      <p:ext uri="{BB962C8B-B14F-4D97-AF65-F5344CB8AC3E}">
        <p14:creationId xmlns:p14="http://schemas.microsoft.com/office/powerpoint/2010/main" val="210257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Задача о загрузке оборудования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+mj-lt"/>
              </a:rPr>
              <a:t>Для выполнения плана выпуска по номенклатуре необходимо, чтобы выполнялись следующие равенства:</a:t>
            </a: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r>
              <a:rPr lang="ru-RU" sz="1600" dirty="0"/>
              <a:t>Затраты на производство всей продукции выразятся функцией</a:t>
            </a: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3" y="1795808"/>
            <a:ext cx="3504935" cy="1398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452" y="3352205"/>
            <a:ext cx="2735824" cy="378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822" y="4293096"/>
            <a:ext cx="1518713" cy="67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7432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Задача о раскрое материала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9"/>
            <a:ext cx="1045405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На раскрой (распил, обработку) поступает материал одного образца в количестве V единиц. Требуется изготовить из него m разных комплектующих изделий в количествах, пропорциональных числам b</a:t>
            </a:r>
            <a:r>
              <a:rPr lang="ru-RU" sz="1600" baseline="-25000" dirty="0"/>
              <a:t>1</a:t>
            </a:r>
            <a:r>
              <a:rPr lang="ru-RU" sz="1600" dirty="0"/>
              <a:t>,b</a:t>
            </a:r>
            <a:r>
              <a:rPr lang="ru-RU" sz="1600" baseline="-25000" dirty="0"/>
              <a:t>2</a:t>
            </a:r>
            <a:r>
              <a:rPr lang="ru-RU" sz="1600" dirty="0"/>
              <a:t>,...,</a:t>
            </a:r>
            <a:r>
              <a:rPr lang="ru-RU" sz="1600" dirty="0" err="1"/>
              <a:t>b</a:t>
            </a:r>
            <a:r>
              <a:rPr lang="ru-RU" sz="1600" baseline="-25000" dirty="0" err="1"/>
              <a:t>m</a:t>
            </a:r>
            <a:r>
              <a:rPr lang="ru-RU" sz="1600" dirty="0"/>
              <a:t> (условие комплектности). Каждая единица материала может быть раскроена n различными способами, причем использование j-</a:t>
            </a:r>
            <a:r>
              <a:rPr lang="ru-RU" sz="1600" dirty="0" err="1"/>
              <a:t>ro</a:t>
            </a:r>
            <a:r>
              <a:rPr lang="ru-RU" sz="1600" dirty="0"/>
              <a:t> способа ( j =1,2,...,n ) дает a </a:t>
            </a:r>
            <a:r>
              <a:rPr lang="ru-RU" sz="1600" dirty="0" err="1"/>
              <a:t>j</a:t>
            </a:r>
            <a:r>
              <a:rPr lang="ru-RU" sz="1600" baseline="-25000" dirty="0" err="1"/>
              <a:t>i</a:t>
            </a:r>
            <a:r>
              <a:rPr lang="ru-RU" sz="1600" dirty="0"/>
              <a:t> единиц i -го изделия (i =1,2,...,m).</a:t>
            </a:r>
          </a:p>
          <a:p>
            <a:r>
              <a:rPr lang="ru-RU" sz="1600" dirty="0"/>
              <a:t>Необходимо найти план раскроя, обеспечивающий максимальное число комплектов. </a:t>
            </a:r>
          </a:p>
          <a:p>
            <a:r>
              <a:rPr lang="ru-RU" sz="1600" dirty="0"/>
              <a:t>Экономико-математическая модель задачи:</a:t>
            </a:r>
          </a:p>
          <a:p>
            <a:r>
              <a:rPr lang="ru-RU" sz="1600" dirty="0"/>
              <a:t>Обозначим </a:t>
            </a:r>
            <a:r>
              <a:rPr lang="ru-RU" sz="1600" dirty="0" err="1"/>
              <a:t>x</a:t>
            </a:r>
            <a:r>
              <a:rPr lang="ru-RU" sz="1600" baseline="-25000" dirty="0" err="1"/>
              <a:t>j</a:t>
            </a:r>
            <a:r>
              <a:rPr lang="ru-RU" sz="1600" dirty="0"/>
              <a:t>— число единиц материала, раскраиваемых j-м способом, и x — число изготавливаемых комплектов изделий.</a:t>
            </a:r>
          </a:p>
          <a:p>
            <a:r>
              <a:rPr lang="ru-RU" sz="1600" dirty="0"/>
              <a:t>Так как общее количество материала равно сумме его единиц, раскраиваемых</a:t>
            </a:r>
          </a:p>
          <a:p>
            <a:r>
              <a:rPr lang="ru-RU" sz="1600" dirty="0"/>
              <a:t>различными способами, то</a:t>
            </a: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r>
              <a:rPr lang="ru-RU" sz="1600" dirty="0"/>
              <a:t>Требование комплектности выразится уравнениями</a:t>
            </a:r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/>
          </a:p>
          <a:p>
            <a:r>
              <a:rPr lang="ru-RU" sz="1600" dirty="0"/>
              <a:t>Экономико-математическая модель задачи: найти такое решение X = (x1,x2,...,</a:t>
            </a:r>
            <a:r>
              <a:rPr lang="ru-RU" sz="1600" dirty="0" err="1"/>
              <a:t>xn</a:t>
            </a:r>
            <a:r>
              <a:rPr lang="ru-RU" sz="1600" dirty="0"/>
              <a:t> ) ,</a:t>
            </a:r>
          </a:p>
          <a:p>
            <a:r>
              <a:rPr lang="ru-RU" sz="1600" dirty="0"/>
              <a:t>удовлетворяющее системе уравнений и условию </a:t>
            </a:r>
            <a:r>
              <a:rPr lang="ru-RU" sz="1600" dirty="0" err="1"/>
              <a:t>неотрицательности</a:t>
            </a:r>
            <a:r>
              <a:rPr lang="ru-RU" sz="1600" dirty="0"/>
              <a:t>, при котором функция </a:t>
            </a:r>
            <a:r>
              <a:rPr lang="en-GB" sz="1600" dirty="0"/>
              <a:t>f = x</a:t>
            </a:r>
            <a:r>
              <a:rPr lang="ru-RU" sz="1600" dirty="0"/>
              <a:t> принимает </a:t>
            </a:r>
            <a:r>
              <a:rPr lang="ru-RU" sz="1600" b="1" dirty="0"/>
              <a:t>максимальное </a:t>
            </a:r>
            <a:r>
              <a:rPr lang="ru-RU" sz="1600" dirty="0"/>
              <a:t>значение</a:t>
            </a:r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840" y="3813043"/>
            <a:ext cx="954021" cy="675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531" y="4709564"/>
            <a:ext cx="2717800" cy="718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883" y="4898217"/>
            <a:ext cx="1739405" cy="34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7464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Задача технического контроля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В отделе технического контроля (ОТК) некоторой фирмы работают контролеры 1-го и 2-го разрядов. Норма выработки ОТК за 8-ми часовой рабочий день составляет не менее 1800 изделий. Контролер 1-го разряда проверяет 25 изделий в час, причем не ошибается в 98 % случаев. Контролер 2-го разряда проверяет 15 изделий в час; его</a:t>
            </a:r>
          </a:p>
          <a:p>
            <a:r>
              <a:rPr lang="ru-RU" sz="1600" dirty="0"/>
              <a:t>точность – 95 %.</a:t>
            </a:r>
          </a:p>
          <a:p>
            <a:r>
              <a:rPr lang="ru-RU" sz="1600" dirty="0"/>
              <a:t>Зарплата контролера К1 – 4 доллара в час, контроля К2 – 3 доллара в час. При каждой ошибке контролера фирма несет убыток в размере 2 долларов. Фирма может использовать не более 8 К1 и не более 10 К2. Определить оптимальный состав ОТК, при котором общие затраты на контроль будут минимальны.</a:t>
            </a:r>
          </a:p>
          <a:p>
            <a:r>
              <a:rPr lang="ru-RU" sz="1600" dirty="0"/>
              <a:t>Модель ОТК:</a:t>
            </a:r>
          </a:p>
          <a:p>
            <a:r>
              <a:rPr lang="ru-RU" sz="1600" dirty="0"/>
              <a:t>1) пусть x1, x2 обозначают количество К1 и К2 соответственно</a:t>
            </a:r>
          </a:p>
          <a:p>
            <a:r>
              <a:rPr lang="ru-RU" sz="1600" dirty="0"/>
              <a:t>2) число контролеров каждого разряда ограничено, т.е. </a:t>
            </a:r>
            <a:r>
              <a:rPr lang="en-GB" sz="1600" dirty="0"/>
              <a:t>x</a:t>
            </a:r>
            <a:r>
              <a:rPr lang="en-GB" sz="1600" baseline="-25000" dirty="0"/>
              <a:t>1</a:t>
            </a:r>
            <a:r>
              <a:rPr lang="en-GB" sz="1600" dirty="0"/>
              <a:t> ≤ 8 (</a:t>
            </a:r>
            <a:r>
              <a:rPr lang="ru-RU" sz="1600" dirty="0"/>
              <a:t>разряд 1)   </a:t>
            </a:r>
            <a:r>
              <a:rPr lang="en-GB" sz="1600" dirty="0"/>
              <a:t>x</a:t>
            </a:r>
            <a:r>
              <a:rPr lang="en-GB" sz="1600" baseline="-25000" dirty="0"/>
              <a:t>2</a:t>
            </a:r>
            <a:r>
              <a:rPr lang="en-GB" sz="1600" dirty="0"/>
              <a:t> ≤10 (</a:t>
            </a:r>
            <a:r>
              <a:rPr lang="ru-RU" sz="1600" dirty="0"/>
              <a:t>разряд 2)</a:t>
            </a:r>
          </a:p>
          <a:p>
            <a:endParaRPr lang="ru-RU" sz="1600" dirty="0"/>
          </a:p>
          <a:p>
            <a:r>
              <a:rPr lang="ru-RU" sz="1600" dirty="0"/>
              <a:t>Ежедневно необходимо проверять не менее 1800 изделий. Поэтому должно выполняться неравенство</a:t>
            </a:r>
          </a:p>
          <a:p>
            <a:r>
              <a:rPr lang="ru-RU" sz="1600" dirty="0"/>
              <a:t>                                                                       </a:t>
            </a:r>
            <a:r>
              <a:rPr lang="en-GB" sz="1600" dirty="0"/>
              <a:t>8 ⋅ 25 ⋅ x1 + 8 ⋅15 ⋅ x2 = 200x1 +120x2 ≥1800</a:t>
            </a:r>
            <a:endParaRPr lang="ru-RU" sz="1600" dirty="0"/>
          </a:p>
          <a:p>
            <a:r>
              <a:rPr lang="ru-RU" sz="1600" dirty="0"/>
              <a:t>                                                                                                      </a:t>
            </a:r>
            <a:r>
              <a:rPr lang="en-GB" sz="1600" dirty="0"/>
              <a:t>5</a:t>
            </a:r>
            <a:r>
              <a:rPr lang="en-GB" sz="1600" i="1" dirty="0"/>
              <a:t>x</a:t>
            </a:r>
            <a:r>
              <a:rPr lang="en-GB" sz="1600" dirty="0"/>
              <a:t>1 + 3</a:t>
            </a:r>
            <a:r>
              <a:rPr lang="en-GB" sz="1600" i="1" dirty="0"/>
              <a:t>x</a:t>
            </a:r>
            <a:r>
              <a:rPr lang="en-GB" sz="1600" dirty="0"/>
              <a:t>2 ≥ 45</a:t>
            </a:r>
            <a:endParaRPr lang="ru-RU" sz="1600" dirty="0"/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8697" y="5807274"/>
            <a:ext cx="10084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Самостоятельно: Подумайте о такой задачке как подбор оптимальной команды для </a:t>
            </a:r>
            <a:r>
              <a:rPr lang="ru-RU" sz="1600" dirty="0" err="1"/>
              <a:t>стартапа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17163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Задача технического контроля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9"/>
            <a:ext cx="1045405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3) При построении ЦФ следует иметь в виду, что расходы фирмы, связанные с контролем, включают две составляющие</a:t>
            </a:r>
          </a:p>
          <a:p>
            <a:r>
              <a:rPr lang="ru-RU" sz="1600" dirty="0"/>
              <a:t>- зарплату контролеров</a:t>
            </a:r>
          </a:p>
          <a:p>
            <a:r>
              <a:rPr lang="ru-RU" sz="1600" dirty="0"/>
              <a:t>- убытки, вызванные ошибками контролеров</a:t>
            </a:r>
          </a:p>
          <a:p>
            <a:endParaRPr lang="ru-RU" sz="1600" dirty="0"/>
          </a:p>
          <a:p>
            <a:r>
              <a:rPr lang="ru-RU" sz="1600" dirty="0"/>
              <a:t>Расходы на одного контролера К1 составляют</a:t>
            </a:r>
          </a:p>
          <a:p>
            <a:r>
              <a:rPr lang="ru-RU" sz="1600" dirty="0"/>
              <a:t>4долл + 2 ⋅ 25⋅ 0.02 = 5долл/ час</a:t>
            </a:r>
          </a:p>
          <a:p>
            <a:r>
              <a:rPr lang="ru-RU" sz="1600" dirty="0"/>
              <a:t>Расходы на одного контролера К2 составляют</a:t>
            </a:r>
          </a:p>
          <a:p>
            <a:r>
              <a:rPr lang="ru-RU" sz="1600" dirty="0"/>
              <a:t>3долл + 2 ⋅15 ⋅ 0.05 = 4.5долл / час</a:t>
            </a:r>
          </a:p>
          <a:p>
            <a:endParaRPr lang="ru-RU" sz="1600" dirty="0"/>
          </a:p>
          <a:p>
            <a:r>
              <a:rPr lang="ru-RU" sz="1600" dirty="0"/>
              <a:t>Следовательно, ЦФ, выражающая ежедневные расходы на контроль, имеет вид</a:t>
            </a:r>
          </a:p>
          <a:p>
            <a:r>
              <a:rPr lang="ru-RU" sz="1600" dirty="0"/>
              <a:t>		            </a:t>
            </a:r>
            <a:r>
              <a:rPr lang="en-GB" sz="1600" dirty="0"/>
              <a:t>f (x</a:t>
            </a:r>
            <a:r>
              <a:rPr lang="en-GB" sz="1600" baseline="-25000" dirty="0"/>
              <a:t>1</a:t>
            </a:r>
            <a:r>
              <a:rPr lang="en-GB" sz="1600" dirty="0"/>
              <a:t>,x</a:t>
            </a:r>
            <a:r>
              <a:rPr lang="en-GB" sz="1600" baseline="-25000" dirty="0"/>
              <a:t>2</a:t>
            </a:r>
            <a:r>
              <a:rPr lang="en-GB" sz="1600" dirty="0"/>
              <a:t> ) = 8(5x</a:t>
            </a:r>
            <a:r>
              <a:rPr lang="en-GB" sz="1600" baseline="-25000" dirty="0"/>
              <a:t>1</a:t>
            </a:r>
            <a:r>
              <a:rPr lang="en-GB" sz="1600" dirty="0"/>
              <a:t> + 4.5x</a:t>
            </a:r>
            <a:r>
              <a:rPr lang="en-GB" sz="1600" baseline="-25000" dirty="0"/>
              <a:t>2</a:t>
            </a:r>
            <a:r>
              <a:rPr lang="en-GB" sz="1600" dirty="0"/>
              <a:t> ) = 40x</a:t>
            </a:r>
            <a:r>
              <a:rPr lang="en-GB" sz="1600" baseline="-25000" dirty="0"/>
              <a:t>1</a:t>
            </a:r>
            <a:r>
              <a:rPr lang="en-GB" sz="1600" dirty="0"/>
              <a:t> + 36x</a:t>
            </a:r>
            <a:r>
              <a:rPr lang="en-GB" sz="1600" baseline="-25000" dirty="0"/>
              <a:t>2</a:t>
            </a:r>
          </a:p>
          <a:p>
            <a:r>
              <a:rPr lang="ru-RU" sz="1600" dirty="0"/>
              <a:t>Экономико-математическая модель отдела технического контроля примет вид:</a:t>
            </a:r>
          </a:p>
          <a:p>
            <a:r>
              <a:rPr lang="ru-RU" sz="1600" dirty="0"/>
              <a:t>			</a:t>
            </a:r>
            <a:r>
              <a:rPr lang="en-GB" sz="1600" dirty="0"/>
              <a:t>Min</a:t>
            </a:r>
            <a:r>
              <a:rPr lang="ru-RU" sz="1600" dirty="0"/>
              <a:t> </a:t>
            </a:r>
            <a:r>
              <a:rPr lang="en-GB" sz="1600" dirty="0"/>
              <a:t>f (x)= 40x</a:t>
            </a:r>
            <a:r>
              <a:rPr lang="en-GB" sz="1600" baseline="-25000" dirty="0"/>
              <a:t>1</a:t>
            </a:r>
            <a:r>
              <a:rPr lang="en-GB" sz="1600" dirty="0"/>
              <a:t> + 36x</a:t>
            </a:r>
            <a:r>
              <a:rPr lang="en-GB" sz="1600" baseline="-25000" dirty="0"/>
              <a:t>2</a:t>
            </a:r>
          </a:p>
          <a:p>
            <a:r>
              <a:rPr lang="ru-RU" sz="1600" dirty="0"/>
              <a:t>при ограничениях: 5x</a:t>
            </a:r>
            <a:r>
              <a:rPr lang="ru-RU" sz="1600" baseline="-25000" dirty="0"/>
              <a:t>1</a:t>
            </a:r>
            <a:r>
              <a:rPr lang="ru-RU" sz="1600" dirty="0"/>
              <a:t> + 3x</a:t>
            </a:r>
            <a:r>
              <a:rPr lang="ru-RU" sz="1600" baseline="-25000" dirty="0"/>
              <a:t>2</a:t>
            </a:r>
            <a:r>
              <a:rPr lang="ru-RU" sz="1600" dirty="0"/>
              <a:t> ≥ 45</a:t>
            </a:r>
          </a:p>
          <a:p>
            <a:r>
              <a:rPr lang="ru-RU" sz="1600" dirty="0"/>
              <a:t>			</a:t>
            </a:r>
            <a:r>
              <a:rPr lang="en-GB" sz="1600" dirty="0"/>
              <a:t>0 ≤ x</a:t>
            </a:r>
            <a:r>
              <a:rPr lang="en-GB" sz="1600" baseline="-25000" dirty="0"/>
              <a:t>1</a:t>
            </a:r>
            <a:r>
              <a:rPr lang="en-GB" sz="1600" dirty="0"/>
              <a:t> ≤ 8; 0 ≤ x</a:t>
            </a:r>
            <a:r>
              <a:rPr lang="en-GB" sz="1600" baseline="-25000" dirty="0"/>
              <a:t>2</a:t>
            </a:r>
            <a:r>
              <a:rPr lang="en-GB" sz="1600" dirty="0"/>
              <a:t> ≤10</a:t>
            </a:r>
            <a:endParaRPr lang="ru-RU" sz="1600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3339" y="6265141"/>
            <a:ext cx="10454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32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871" y="0"/>
            <a:ext cx="10896533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371" y="1700808"/>
            <a:ext cx="104540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1. Сформулируйте общую постановку задачи линейного программирования</a:t>
            </a:r>
          </a:p>
          <a:p>
            <a:r>
              <a:rPr lang="ru-RU" sz="1600" dirty="0"/>
              <a:t>2. Сформулируйте задачу планирования производства</a:t>
            </a:r>
          </a:p>
          <a:p>
            <a:r>
              <a:rPr lang="ru-RU" sz="1600" dirty="0"/>
              <a:t>3. Сформулируйте задачу составления рациона</a:t>
            </a:r>
          </a:p>
          <a:p>
            <a:r>
              <a:rPr lang="ru-RU" sz="1600" dirty="0"/>
              <a:t>4. Сформулируйте задачу о загрузке оборудования</a:t>
            </a:r>
          </a:p>
          <a:p>
            <a:r>
              <a:rPr lang="ru-RU" sz="1600" dirty="0"/>
              <a:t>5. Сформулируйте задачу о раскрое материалов</a:t>
            </a:r>
          </a:p>
          <a:p>
            <a:r>
              <a:rPr lang="ru-RU" sz="1600" dirty="0"/>
              <a:t>6. Сформулируйте задачу технического контроля</a:t>
            </a:r>
          </a:p>
          <a:p>
            <a:r>
              <a:rPr lang="ru-RU" sz="1600" dirty="0"/>
              <a:t>7. Правила приведения к канонической модели линейного программирования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59" y="37514"/>
            <a:ext cx="3074980" cy="252354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397" y="6094468"/>
            <a:ext cx="1498599" cy="711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32579" y="344785"/>
            <a:ext cx="644728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867" dirty="0">
                <a:solidFill>
                  <a:schemeClr val="bg1"/>
                </a:solidFill>
                <a:latin typeface="Arial Black" pitchFamily="34" charset="0"/>
              </a:rPr>
              <a:t>?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378" y="510265"/>
            <a:ext cx="2950676" cy="126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194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Частные решения СЛУ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9"/>
            <a:ext cx="1045405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Пусть имеется неоднородная система линейных</a:t>
            </a:r>
            <a:r>
              <a:rPr lang="en-US" sz="1600" dirty="0"/>
              <a:t> </a:t>
            </a:r>
            <a:r>
              <a:rPr lang="ru-RU" sz="1600" dirty="0"/>
              <a:t>уравнений общего вида, имеющая </a:t>
            </a:r>
            <a:r>
              <a:rPr lang="ru-RU" sz="1600" i="1" dirty="0"/>
              <a:t>m </a:t>
            </a:r>
            <a:r>
              <a:rPr lang="ru-RU" sz="1600" dirty="0"/>
              <a:t>уравнений и</a:t>
            </a:r>
          </a:p>
          <a:p>
            <a:r>
              <a:rPr lang="ru-RU" sz="1600" i="1" dirty="0"/>
              <a:t>n </a:t>
            </a:r>
            <a:r>
              <a:rPr lang="ru-RU" sz="1600" dirty="0"/>
              <a:t>переменных (неоднородность означает, что среди</a:t>
            </a:r>
            <a:r>
              <a:rPr lang="en-US" sz="1600" dirty="0"/>
              <a:t> </a:t>
            </a:r>
            <a:r>
              <a:rPr lang="ru-RU" sz="1600" dirty="0"/>
              <a:t>свободных членов </a:t>
            </a:r>
            <a:r>
              <a:rPr lang="ru-RU" sz="1600" i="1" dirty="0" err="1"/>
              <a:t>bi</a:t>
            </a:r>
            <a:r>
              <a:rPr lang="ru-RU" sz="1600" i="1" dirty="0"/>
              <a:t> </a:t>
            </a:r>
            <a:r>
              <a:rPr lang="ru-RU" sz="1600" dirty="0"/>
              <a:t>есть ненулевые):</a:t>
            </a:r>
          </a:p>
          <a:p>
            <a:endParaRPr lang="en-GB" sz="1600" i="1" dirty="0"/>
          </a:p>
          <a:p>
            <a:pPr lvl="5"/>
            <a:r>
              <a:rPr lang="en-GB" sz="1600" i="1" dirty="0"/>
              <a:t>a</a:t>
            </a:r>
            <a:r>
              <a:rPr lang="en-GB" sz="1600" baseline="-25000" dirty="0"/>
              <a:t>11</a:t>
            </a:r>
            <a:r>
              <a:rPr lang="en-GB" sz="1600" i="1" dirty="0"/>
              <a:t>x</a:t>
            </a:r>
            <a:r>
              <a:rPr lang="en-GB" sz="1600" baseline="-25000" dirty="0"/>
              <a:t>1</a:t>
            </a:r>
            <a:r>
              <a:rPr lang="en-GB" sz="1600" dirty="0"/>
              <a:t>+ </a:t>
            </a:r>
            <a:r>
              <a:rPr lang="en-GB" sz="1600" i="1" dirty="0"/>
              <a:t>. . . </a:t>
            </a:r>
            <a:r>
              <a:rPr lang="en-GB" sz="1600" dirty="0"/>
              <a:t>+</a:t>
            </a:r>
            <a:r>
              <a:rPr lang="en-GB" sz="1600" i="1" dirty="0"/>
              <a:t>a</a:t>
            </a:r>
            <a:r>
              <a:rPr lang="en-GB" sz="1600" baseline="-25000" dirty="0"/>
              <a:t>1</a:t>
            </a:r>
            <a:r>
              <a:rPr lang="en-GB" sz="1600" i="1" baseline="-25000" dirty="0"/>
              <a:t>n</a:t>
            </a:r>
            <a:r>
              <a:rPr lang="en-GB" sz="1600" i="1" dirty="0"/>
              <a:t>x</a:t>
            </a:r>
            <a:r>
              <a:rPr lang="en-GB" sz="1600" i="1" baseline="-25000" dirty="0"/>
              <a:t>n</a:t>
            </a:r>
            <a:r>
              <a:rPr lang="en-GB" sz="1600" i="1" dirty="0"/>
              <a:t> </a:t>
            </a:r>
            <a:r>
              <a:rPr lang="en-GB" sz="1600" dirty="0"/>
              <a:t>= </a:t>
            </a:r>
            <a:r>
              <a:rPr lang="en-GB" sz="1600" i="1" dirty="0"/>
              <a:t>b</a:t>
            </a:r>
            <a:r>
              <a:rPr lang="en-GB" sz="1600" baseline="-25000" dirty="0"/>
              <a:t>1</a:t>
            </a:r>
            <a:r>
              <a:rPr lang="en-GB" sz="1600" i="1" dirty="0"/>
              <a:t>,</a:t>
            </a:r>
          </a:p>
          <a:p>
            <a:pPr lvl="5"/>
            <a:r>
              <a:rPr lang="ru-RU" sz="1600" i="1" dirty="0"/>
              <a:t>. . . . . . . . . . . . . . . . . . .</a:t>
            </a:r>
          </a:p>
          <a:p>
            <a:pPr lvl="5"/>
            <a:r>
              <a:rPr lang="en-GB" sz="1600" i="1" dirty="0"/>
              <a:t>a</a:t>
            </a:r>
            <a:r>
              <a:rPr lang="en-GB" sz="1600" i="1" baseline="-25000" dirty="0"/>
              <a:t>m</a:t>
            </a:r>
            <a:r>
              <a:rPr lang="en-GB" sz="1600" baseline="-25000" dirty="0"/>
              <a:t>1</a:t>
            </a:r>
            <a:r>
              <a:rPr lang="en-GB" sz="1600" i="1" dirty="0"/>
              <a:t>x</a:t>
            </a:r>
            <a:r>
              <a:rPr lang="en-GB" sz="1600" baseline="-25000" dirty="0"/>
              <a:t>1</a:t>
            </a:r>
            <a:r>
              <a:rPr lang="en-GB" sz="1600" dirty="0"/>
              <a:t>+ </a:t>
            </a:r>
            <a:r>
              <a:rPr lang="en-GB" sz="1600" i="1" dirty="0"/>
              <a:t>. . . </a:t>
            </a:r>
            <a:r>
              <a:rPr lang="en-GB" sz="1600" dirty="0"/>
              <a:t>+</a:t>
            </a:r>
            <a:r>
              <a:rPr lang="en-GB" sz="1600" i="1" dirty="0" err="1"/>
              <a:t>a</a:t>
            </a:r>
            <a:r>
              <a:rPr lang="en-GB" sz="1600" i="1" baseline="-25000" dirty="0" err="1"/>
              <a:t>mn</a:t>
            </a:r>
            <a:r>
              <a:rPr lang="en-GB" sz="1600" i="1" dirty="0" err="1"/>
              <a:t>x</a:t>
            </a:r>
            <a:r>
              <a:rPr lang="en-GB" sz="1600" i="1" baseline="-25000" dirty="0" err="1"/>
              <a:t>n</a:t>
            </a:r>
            <a:r>
              <a:rPr lang="en-GB" sz="1600" i="1" dirty="0"/>
              <a:t> </a:t>
            </a:r>
            <a:r>
              <a:rPr lang="en-GB" sz="1600" dirty="0"/>
              <a:t>= </a:t>
            </a:r>
            <a:r>
              <a:rPr lang="en-GB" sz="1600" i="1" dirty="0"/>
              <a:t>b</a:t>
            </a:r>
            <a:r>
              <a:rPr lang="en-GB" sz="1600" i="1" baseline="-25000" dirty="0"/>
              <a:t>m</a:t>
            </a:r>
            <a:r>
              <a:rPr lang="en-GB" sz="1600" i="1" dirty="0"/>
              <a:t>.</a:t>
            </a:r>
          </a:p>
          <a:p>
            <a:endParaRPr lang="en-US" sz="1600" dirty="0"/>
          </a:p>
          <a:p>
            <a:r>
              <a:rPr lang="ru-RU" sz="1600" dirty="0"/>
              <a:t>Любое решение </a:t>
            </a:r>
            <a:r>
              <a:rPr lang="ru-RU" sz="1600" i="1" dirty="0"/>
              <a:t>x</a:t>
            </a:r>
            <a:r>
              <a:rPr lang="ru-RU" sz="1600" baseline="-25000" dirty="0"/>
              <a:t>1</a:t>
            </a:r>
            <a:r>
              <a:rPr lang="ru-RU" sz="1600" i="1" dirty="0"/>
              <a:t>, . . . , </a:t>
            </a:r>
            <a:r>
              <a:rPr lang="ru-RU" sz="1600" i="1" dirty="0" err="1"/>
              <a:t>x</a:t>
            </a:r>
            <a:r>
              <a:rPr lang="ru-RU" sz="1600" i="1" baseline="-25000" dirty="0" err="1"/>
              <a:t>n</a:t>
            </a:r>
            <a:r>
              <a:rPr lang="ru-RU" sz="1600" i="1" dirty="0"/>
              <a:t> </a:t>
            </a:r>
            <a:r>
              <a:rPr lang="ru-RU" sz="1600" dirty="0"/>
              <a:t>этой системы называется </a:t>
            </a:r>
            <a:r>
              <a:rPr lang="ru-RU" sz="1600" b="1" i="1" dirty="0">
                <a:solidFill>
                  <a:srgbClr val="FF0000"/>
                </a:solidFill>
              </a:rPr>
              <a:t>частным</a:t>
            </a:r>
            <a:r>
              <a:rPr lang="ru-RU" sz="1600" i="1" dirty="0"/>
              <a:t>.</a:t>
            </a:r>
            <a:endParaRPr lang="en-US" sz="1600" i="1" dirty="0"/>
          </a:p>
          <a:p>
            <a:r>
              <a:rPr lang="ru-RU" sz="1600" dirty="0"/>
              <a:t>Первое, что необходимо сделать, — исследовать, имеет ли данная система решения (совместна ли она), и если да, то сколько</a:t>
            </a:r>
            <a:r>
              <a:rPr lang="en-US" sz="1600" dirty="0"/>
              <a:t> </a:t>
            </a:r>
            <a:r>
              <a:rPr lang="ru-RU" sz="1600" dirty="0"/>
              <a:t>частных решений она имеет.</a:t>
            </a:r>
          </a:p>
          <a:p>
            <a:r>
              <a:rPr lang="ru-RU" sz="1600" dirty="0"/>
              <a:t>Как известно, на вопрос о разрешимости отвечает </a:t>
            </a:r>
            <a:r>
              <a:rPr lang="ru-RU" sz="1600" b="1" dirty="0"/>
              <a:t>теорема</a:t>
            </a:r>
            <a:r>
              <a:rPr lang="en-US" sz="1600" b="1" dirty="0"/>
              <a:t> </a:t>
            </a:r>
            <a:r>
              <a:rPr lang="ru-RU" sz="1600" b="1" dirty="0"/>
              <a:t>Кронекера — </a:t>
            </a:r>
            <a:r>
              <a:rPr lang="ru-RU" sz="1600" b="1" dirty="0" err="1"/>
              <a:t>Капелли</a:t>
            </a:r>
            <a:r>
              <a:rPr lang="ru-RU" sz="1600" dirty="0"/>
              <a:t>: </a:t>
            </a:r>
            <a:r>
              <a:rPr lang="ru-RU" sz="1600" i="1" dirty="0"/>
              <a:t>система совместна, если ранг матрицы</a:t>
            </a:r>
            <a:r>
              <a:rPr lang="en-US" sz="1600" i="1" dirty="0"/>
              <a:t> </a:t>
            </a:r>
            <a:r>
              <a:rPr lang="ru-RU" sz="1600" i="1" dirty="0"/>
              <a:t>коэффициентов системы совпадает с рангом расширенной матрицы (с добавлением вектора-столбца свободных членов):</a:t>
            </a:r>
            <a:r>
              <a:rPr lang="en-US" sz="1600" i="1" dirty="0"/>
              <a:t>    </a:t>
            </a:r>
            <a:r>
              <a:rPr lang="en-GB" sz="1600" dirty="0"/>
              <a:t>Rank (</a:t>
            </a:r>
            <a:r>
              <a:rPr lang="en-GB" sz="1600" i="1" dirty="0"/>
              <a:t>A</a:t>
            </a:r>
            <a:r>
              <a:rPr lang="en-GB" sz="1600" dirty="0"/>
              <a:t>) = Rank (</a:t>
            </a:r>
            <a:r>
              <a:rPr lang="en-GB" sz="1600" i="1" dirty="0"/>
              <a:t>A</a:t>
            </a:r>
            <a:r>
              <a:rPr lang="en-US" sz="1600" i="1" dirty="0"/>
              <a:t>|B</a:t>
            </a:r>
            <a:r>
              <a:rPr lang="en-GB" sz="1600" dirty="0"/>
              <a:t>)</a:t>
            </a:r>
            <a:r>
              <a:rPr lang="en-GB" sz="1600" i="1" dirty="0"/>
              <a:t>.</a:t>
            </a:r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635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Базисные решения СЛУ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55816"/>
            <a:ext cx="1045405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Пусть задана совместная неоднородная система </a:t>
            </a:r>
            <a:r>
              <a:rPr lang="ru-RU" sz="1600" i="1" dirty="0"/>
              <a:t>m </a:t>
            </a:r>
            <a:r>
              <a:rPr lang="ru-RU" sz="1600" dirty="0"/>
              <a:t>линейных уравнений с </a:t>
            </a:r>
            <a:r>
              <a:rPr lang="ru-RU" sz="1600" i="1" dirty="0"/>
              <a:t>n </a:t>
            </a:r>
            <a:r>
              <a:rPr lang="ru-RU" sz="1600" dirty="0"/>
              <a:t>неизвестными, имеющая, ранг матрицы </a:t>
            </a:r>
            <a:r>
              <a:rPr lang="ru-RU" sz="1600" dirty="0" err="1"/>
              <a:t>коэффи</a:t>
            </a:r>
            <a:r>
              <a:rPr lang="pt-BR" sz="1600" dirty="0"/>
              <a:t>циентов </a:t>
            </a:r>
            <a:r>
              <a:rPr lang="pt-BR" sz="1600" i="1" dirty="0"/>
              <a:t>r </a:t>
            </a:r>
            <a:r>
              <a:rPr lang="pt-BR" sz="1600" dirty="0"/>
              <a:t>= Rank (</a:t>
            </a:r>
            <a:r>
              <a:rPr lang="pt-BR" sz="1600" i="1" dirty="0"/>
              <a:t>A</a:t>
            </a:r>
            <a:r>
              <a:rPr lang="pt-BR" sz="1600" dirty="0"/>
              <a:t>) </a:t>
            </a:r>
            <a:r>
              <a:rPr lang="pt-BR" sz="1600" i="1" dirty="0"/>
              <a:t>&lt; n.</a:t>
            </a:r>
          </a:p>
          <a:p>
            <a:r>
              <a:rPr lang="ru-RU" sz="1600" dirty="0"/>
              <a:t>Среди бесконечного множества частных решений этой системы особое место занимает </a:t>
            </a:r>
            <a:r>
              <a:rPr lang="ru-RU" sz="1600" b="1" dirty="0"/>
              <a:t>конечное множество</a:t>
            </a:r>
            <a:r>
              <a:rPr lang="ru-RU" sz="1600" dirty="0"/>
              <a:t> так называемых </a:t>
            </a:r>
            <a:r>
              <a:rPr lang="ru-RU" sz="1600" b="1" i="1" dirty="0"/>
              <a:t>базисных</a:t>
            </a:r>
            <a:r>
              <a:rPr lang="ru-RU" sz="1600" i="1" dirty="0"/>
              <a:t> </a:t>
            </a:r>
            <a:r>
              <a:rPr lang="ru-RU" sz="1600" dirty="0"/>
              <a:t>решений.</a:t>
            </a:r>
          </a:p>
          <a:p>
            <a:endParaRPr lang="ru-RU" sz="1600" dirty="0"/>
          </a:p>
          <a:p>
            <a:r>
              <a:rPr lang="ru-RU" sz="1600" b="1" dirty="0"/>
              <a:t>Определение</a:t>
            </a:r>
            <a:r>
              <a:rPr lang="ru-RU" sz="1600" dirty="0"/>
              <a:t>. </a:t>
            </a:r>
            <a:r>
              <a:rPr lang="ru-RU" sz="1600" b="1" i="1" dirty="0"/>
              <a:t>Базисным</a:t>
            </a:r>
            <a:r>
              <a:rPr lang="ru-RU" sz="1600" i="1" dirty="0"/>
              <a:t> называется такое частное решение системы линейных уравнений, при котором векторы столбцы матрицы коэффициентов, соответствующие ненулевым компонентам решения, являются </a:t>
            </a:r>
            <a:r>
              <a:rPr lang="ru-RU" sz="1600" i="1" dirty="0">
                <a:solidFill>
                  <a:srgbClr val="FF0000"/>
                </a:solidFill>
              </a:rPr>
              <a:t>линейно независимыми</a:t>
            </a:r>
            <a:r>
              <a:rPr lang="ru-RU" sz="1600" i="1" dirty="0"/>
              <a:t>.</a:t>
            </a:r>
          </a:p>
          <a:p>
            <a:endParaRPr lang="ru-RU" sz="1600" i="1" dirty="0">
              <a:latin typeface="+mj-lt"/>
            </a:endParaRPr>
          </a:p>
          <a:p>
            <a:r>
              <a:rPr lang="ru-RU" sz="1600" dirty="0"/>
              <a:t>Из определения следует, что для того, чтобы получить некоторое базисное решение, нужно</a:t>
            </a:r>
          </a:p>
          <a:p>
            <a:r>
              <a:rPr lang="ru-RU" sz="1600" i="1" dirty="0"/>
              <a:t>• </a:t>
            </a:r>
            <a:r>
              <a:rPr lang="ru-RU" sz="1600" dirty="0"/>
              <a:t>выбрать в матрице коэффициентов </a:t>
            </a:r>
            <a:r>
              <a:rPr lang="ru-RU" sz="1600" i="1" dirty="0"/>
              <a:t>r </a:t>
            </a:r>
            <a:r>
              <a:rPr lang="ru-RU" sz="1600" dirty="0"/>
              <a:t>линейно независимых столбцов — </a:t>
            </a:r>
            <a:r>
              <a:rPr lang="ru-RU" sz="1600" i="1" dirty="0"/>
              <a:t>базисных столбцов. </a:t>
            </a:r>
            <a:r>
              <a:rPr lang="ru-RU" sz="1600" dirty="0"/>
              <a:t>Переменные, соответствующие базисным столбцам, называются </a:t>
            </a:r>
            <a:r>
              <a:rPr lang="ru-RU" sz="1600" b="1" i="1" dirty="0"/>
              <a:t>базисными переменными</a:t>
            </a:r>
            <a:r>
              <a:rPr lang="ru-RU" sz="1600" i="1" dirty="0"/>
              <a:t>, </a:t>
            </a:r>
            <a:r>
              <a:rPr lang="ru-RU" sz="1600" dirty="0"/>
              <a:t>остальные — </a:t>
            </a:r>
            <a:r>
              <a:rPr lang="ru-RU" sz="1600" b="1" i="1" dirty="0"/>
              <a:t>свободными</a:t>
            </a:r>
            <a:r>
              <a:rPr lang="ru-RU" sz="1600" i="1" dirty="0"/>
              <a:t> </a:t>
            </a:r>
            <a:r>
              <a:rPr lang="ru-RU" sz="1600" b="1" i="1" dirty="0"/>
              <a:t>переменными</a:t>
            </a:r>
            <a:r>
              <a:rPr lang="ru-RU" sz="1600" i="1" dirty="0"/>
              <a:t>;</a:t>
            </a:r>
          </a:p>
          <a:p>
            <a:r>
              <a:rPr lang="ru-RU" sz="1600" i="1" dirty="0"/>
              <a:t>• </a:t>
            </a:r>
            <a:r>
              <a:rPr lang="ru-RU" sz="1600" dirty="0"/>
              <a:t>все свободные переменные (их число равно </a:t>
            </a:r>
            <a:r>
              <a:rPr lang="ru-RU" sz="1600" i="1" dirty="0"/>
              <a:t>n − r</a:t>
            </a:r>
            <a:r>
              <a:rPr lang="ru-RU" sz="1600" dirty="0"/>
              <a:t>) положить равными нулю. Это значит, что в системе остаются только базисные столбцы;</a:t>
            </a:r>
          </a:p>
          <a:p>
            <a:r>
              <a:rPr lang="ru-RU" sz="1600" i="1" dirty="0"/>
              <a:t>• </a:t>
            </a:r>
            <a:r>
              <a:rPr lang="ru-RU" sz="1600" dirty="0"/>
              <a:t>разрешить систему относительно базисных переменных. Она будет иметь единственное решение, так как число неизвестных равно рангу матрицы коэффициентов.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70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Базисные решения СЛУ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Замечание 1.</a:t>
            </a:r>
            <a:r>
              <a:rPr lang="ru-RU" sz="1600" dirty="0"/>
              <a:t> Если все базисные переменные </a:t>
            </a:r>
            <a:r>
              <a:rPr lang="ru-RU" sz="1600" i="1" dirty="0"/>
              <a:t>x</a:t>
            </a:r>
            <a:r>
              <a:rPr lang="ru-RU" sz="1600" baseline="-25000" dirty="0"/>
              <a:t>1</a:t>
            </a:r>
            <a:r>
              <a:rPr lang="ru-RU" sz="1600" i="1" dirty="0"/>
              <a:t>, . . . , </a:t>
            </a:r>
            <a:r>
              <a:rPr lang="ru-RU" sz="1600" i="1" dirty="0" err="1"/>
              <a:t>x</a:t>
            </a:r>
            <a:r>
              <a:rPr lang="ru-RU" sz="1600" i="1" baseline="-25000" dirty="0" err="1"/>
              <a:t>r</a:t>
            </a:r>
            <a:r>
              <a:rPr lang="ru-RU" sz="1600" i="1" dirty="0"/>
              <a:t> </a:t>
            </a:r>
            <a:r>
              <a:rPr lang="ru-RU" sz="1600" dirty="0"/>
              <a:t>отличны от нуля, то такое базисное решение называется </a:t>
            </a:r>
            <a:r>
              <a:rPr lang="ru-RU" sz="1600" i="1" dirty="0"/>
              <a:t>невырожденным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b="1" dirty="0"/>
              <a:t>Замечание 2</a:t>
            </a:r>
            <a:r>
              <a:rPr lang="ru-RU" sz="1600" dirty="0"/>
              <a:t>. </a:t>
            </a:r>
            <a:r>
              <a:rPr lang="ru-RU" sz="1600" dirty="0">
                <a:solidFill>
                  <a:srgbClr val="FF0000"/>
                </a:solidFill>
              </a:rPr>
              <a:t>Попробуем оценить число базисных решений</a:t>
            </a:r>
            <a:r>
              <a:rPr lang="ru-RU" sz="1600" dirty="0"/>
              <a:t>. </a:t>
            </a:r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1147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Комбинаторика (лирическое отступление)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9"/>
            <a:ext cx="104540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792" indent="-304792">
              <a:buAutoNum type="arabicPeriod"/>
            </a:pPr>
            <a:r>
              <a:rPr lang="ru-RU" sz="1600" dirty="0"/>
              <a:t>Сколько существует  перестановок над </a:t>
            </a:r>
            <a:r>
              <a:rPr lang="en-US" sz="1600" dirty="0"/>
              <a:t>N </a:t>
            </a:r>
            <a:r>
              <a:rPr lang="ru-RU" sz="1600" dirty="0"/>
              <a:t>объектами?</a:t>
            </a:r>
          </a:p>
          <a:p>
            <a:pPr marL="304792" indent="-304792">
              <a:buAutoNum type="arabicPeriod"/>
            </a:pPr>
            <a:r>
              <a:rPr lang="ru-RU" sz="1600" dirty="0"/>
              <a:t>Сколько существует вариантов выбора </a:t>
            </a:r>
            <a:r>
              <a:rPr lang="en-US" sz="1600" dirty="0"/>
              <a:t>k </a:t>
            </a:r>
            <a:r>
              <a:rPr lang="ru-RU" sz="1600" dirty="0"/>
              <a:t>объектов из </a:t>
            </a:r>
            <a:r>
              <a:rPr lang="en-US" sz="1600" dirty="0"/>
              <a:t>n</a:t>
            </a:r>
            <a:r>
              <a:rPr lang="ru-RU" sz="1600" dirty="0"/>
              <a:t>?</a:t>
            </a:r>
          </a:p>
          <a:p>
            <a:pPr marL="304792" indent="-304792">
              <a:buAutoNum type="arabicPeriod"/>
            </a:pPr>
            <a:r>
              <a:rPr lang="ru-RU" sz="1600" dirty="0">
                <a:latin typeface="+mj-lt"/>
              </a:rPr>
              <a:t>Связь с биномом Ньютона и треугольником Паскаля?</a:t>
            </a:r>
          </a:p>
          <a:p>
            <a:pPr marL="304792" indent="-304792">
              <a:buAutoNum type="arabicPeriod"/>
            </a:pPr>
            <a:endParaRPr lang="ru-RU" sz="1600" dirty="0">
              <a:latin typeface="+mj-lt"/>
            </a:endParaRPr>
          </a:p>
          <a:p>
            <a:pPr marL="304792" indent="-304792">
              <a:buAutoNum type="arabicPeriod"/>
            </a:pPr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7503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Базисные решения СЛУ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9"/>
            <a:ext cx="1045405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Замечание 1.</a:t>
            </a:r>
            <a:r>
              <a:rPr lang="ru-RU" sz="1600" dirty="0"/>
              <a:t> Если все базисные переменные </a:t>
            </a:r>
            <a:r>
              <a:rPr lang="ru-RU" sz="1600" i="1" dirty="0"/>
              <a:t>x</a:t>
            </a:r>
            <a:r>
              <a:rPr lang="ru-RU" sz="1600" baseline="-25000" dirty="0"/>
              <a:t>1</a:t>
            </a:r>
            <a:r>
              <a:rPr lang="ru-RU" sz="1600" i="1" dirty="0"/>
              <a:t>, . . . , </a:t>
            </a:r>
            <a:r>
              <a:rPr lang="ru-RU" sz="1600" i="1" dirty="0" err="1"/>
              <a:t>x</a:t>
            </a:r>
            <a:r>
              <a:rPr lang="ru-RU" sz="1600" i="1" baseline="-25000" dirty="0" err="1"/>
              <a:t>r</a:t>
            </a:r>
            <a:r>
              <a:rPr lang="ru-RU" sz="1600" i="1" dirty="0"/>
              <a:t> </a:t>
            </a:r>
            <a:r>
              <a:rPr lang="ru-RU" sz="1600" dirty="0"/>
              <a:t>отличны от нуля, то такое базисное решение называется </a:t>
            </a:r>
            <a:r>
              <a:rPr lang="ru-RU" sz="1600" i="1" dirty="0"/>
              <a:t>невырожденным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b="1" dirty="0"/>
              <a:t>Замечание 2</a:t>
            </a:r>
            <a:r>
              <a:rPr lang="ru-RU" sz="1600" dirty="0"/>
              <a:t>. Попробуем оценить число базисных решений. Поскольку нужно некоторым образом выбрать </a:t>
            </a:r>
            <a:r>
              <a:rPr lang="ru-RU" sz="1600" i="1" dirty="0"/>
              <a:t>m </a:t>
            </a:r>
            <a:r>
              <a:rPr lang="ru-RU" sz="1600" dirty="0"/>
              <a:t>базисных столбцов (в условиях предыдущего замечания) из общего числа </a:t>
            </a:r>
            <a:r>
              <a:rPr lang="ru-RU" sz="1600" i="1" dirty="0"/>
              <a:t>n</a:t>
            </a:r>
            <a:r>
              <a:rPr lang="ru-RU" sz="1600" dirty="0"/>
              <a:t>, то количество таких вариантов оценивается числом сочетаний</a:t>
            </a:r>
          </a:p>
          <a:p>
            <a:endParaRPr lang="ru-RU" sz="1600" i="1" dirty="0"/>
          </a:p>
          <a:p>
            <a:endParaRPr lang="ru-RU" sz="1600" i="1" dirty="0"/>
          </a:p>
          <a:p>
            <a:endParaRPr lang="ru-RU" sz="1600" i="1" dirty="0"/>
          </a:p>
          <a:p>
            <a:endParaRPr lang="ru-RU" sz="1600" i="1" dirty="0"/>
          </a:p>
          <a:p>
            <a:r>
              <a:rPr lang="ru-RU" sz="1600" dirty="0"/>
              <a:t>Очевидно, это число является оценкой сверху, так как не все случайно выбранные </a:t>
            </a:r>
            <a:r>
              <a:rPr lang="ru-RU" sz="1600" i="1" dirty="0"/>
              <a:t>m </a:t>
            </a:r>
            <a:r>
              <a:rPr lang="ru-RU" sz="1600" dirty="0"/>
              <a:t>столбцов являются линейно независимыми.</a:t>
            </a:r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649" y="3041830"/>
            <a:ext cx="5497809" cy="774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541" y="4292038"/>
            <a:ext cx="4513808" cy="1822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3304" y="4381670"/>
            <a:ext cx="3363177" cy="1643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11750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Линейная зависимость и независимость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Пусть имеется совокупность векторов. Эти векторы являются </a:t>
            </a:r>
            <a:r>
              <a:rPr lang="ru-RU" sz="1600" i="1" dirty="0"/>
              <a:t>линейно зависимыми, </a:t>
            </a:r>
            <a:r>
              <a:rPr lang="ru-RU" sz="1600" dirty="0"/>
              <a:t>если какой-нибудь из них может быть представлен в виде линейной комбинации других. В противном случае данные векторы называются </a:t>
            </a:r>
            <a:r>
              <a:rPr lang="ru-RU" sz="1600" i="1" dirty="0"/>
              <a:t>линейно</a:t>
            </a:r>
          </a:p>
          <a:p>
            <a:r>
              <a:rPr lang="ru-RU" sz="1600" i="1" dirty="0"/>
              <a:t>независимыми.</a:t>
            </a:r>
          </a:p>
          <a:p>
            <a:r>
              <a:rPr lang="ru-RU" sz="1600" dirty="0"/>
              <a:t>Более формально линейную независимость можно определить следующим образом. </a:t>
            </a:r>
            <a:r>
              <a:rPr lang="ru-RU" sz="1600" i="1" dirty="0"/>
              <a:t>Векторы </a:t>
            </a:r>
            <a:r>
              <a:rPr lang="en-GB" sz="1600" i="1" dirty="0"/>
              <a:t>P</a:t>
            </a:r>
            <a:r>
              <a:rPr lang="en-GB" sz="1600" i="1" baseline="-25000" dirty="0"/>
              <a:t> </a:t>
            </a:r>
            <a:r>
              <a:rPr lang="en-GB" sz="1600" baseline="-25000" dirty="0"/>
              <a:t>1</a:t>
            </a:r>
            <a:r>
              <a:rPr lang="en-GB" sz="1600" i="1" dirty="0"/>
              <a:t>, . . . ,</a:t>
            </a:r>
            <a:r>
              <a:rPr lang="ru-RU" sz="1600" i="1" dirty="0"/>
              <a:t> P</a:t>
            </a:r>
            <a:r>
              <a:rPr lang="ru-RU" sz="1600" i="1" baseline="-25000" dirty="0"/>
              <a:t> n</a:t>
            </a:r>
            <a:r>
              <a:rPr lang="ru-RU" sz="1600" i="1" dirty="0"/>
              <a:t> являются </a:t>
            </a:r>
            <a:r>
              <a:rPr lang="ru-RU" sz="1600" b="1" i="1" dirty="0"/>
              <a:t>линейно независимыми</a:t>
            </a:r>
            <a:r>
              <a:rPr lang="ru-RU" sz="1600" i="1" dirty="0"/>
              <a:t>, если из них нельзя нетривиальным образом скомбинировать нулевой вектор, то есть если равенство </a:t>
            </a:r>
            <a:r>
              <a:rPr lang="el-GR" sz="1600" b="1" i="1" dirty="0"/>
              <a:t>α</a:t>
            </a:r>
            <a:r>
              <a:rPr lang="el-GR" sz="1600" b="1" baseline="-25000" dirty="0"/>
              <a:t>1</a:t>
            </a:r>
            <a:r>
              <a:rPr lang="en-GB" sz="1600" b="1" i="1" dirty="0"/>
              <a:t>P</a:t>
            </a:r>
            <a:r>
              <a:rPr lang="en-GB" sz="1600" b="1" i="1" baseline="-25000" dirty="0"/>
              <a:t> </a:t>
            </a:r>
            <a:r>
              <a:rPr lang="en-GB" sz="1600" b="1" baseline="-25000" dirty="0"/>
              <a:t>1</a:t>
            </a:r>
            <a:r>
              <a:rPr lang="en-GB" sz="1600" b="1" dirty="0"/>
              <a:t> + </a:t>
            </a:r>
            <a:r>
              <a:rPr lang="en-GB" sz="1600" b="1" i="1" dirty="0"/>
              <a:t>· · · </a:t>
            </a:r>
            <a:r>
              <a:rPr lang="en-GB" sz="1600" b="1" dirty="0"/>
              <a:t>+ </a:t>
            </a:r>
            <a:r>
              <a:rPr lang="el-GR" sz="1600" b="1" i="1" dirty="0"/>
              <a:t>α</a:t>
            </a:r>
            <a:r>
              <a:rPr lang="en-GB" sz="1600" b="1" i="1" baseline="-25000" dirty="0" err="1"/>
              <a:t>n</a:t>
            </a:r>
            <a:r>
              <a:rPr lang="en-GB" sz="1600" b="1" i="1" dirty="0" err="1"/>
              <a:t>P</a:t>
            </a:r>
            <a:r>
              <a:rPr lang="en-GB" sz="1600" b="1" i="1" baseline="-25000" dirty="0"/>
              <a:t> n</a:t>
            </a:r>
            <a:r>
              <a:rPr lang="en-GB" sz="1600" b="1" i="1" dirty="0"/>
              <a:t> </a:t>
            </a:r>
            <a:r>
              <a:rPr lang="en-GB" sz="1600" b="1" dirty="0"/>
              <a:t>=</a:t>
            </a:r>
            <a:r>
              <a:rPr lang="ru-RU" sz="1600" b="1" dirty="0"/>
              <a:t>0 </a:t>
            </a:r>
            <a:r>
              <a:rPr lang="ru-RU" sz="1600" i="1" dirty="0"/>
              <a:t>возможно только тогда, когда одновременно все α</a:t>
            </a:r>
            <a:r>
              <a:rPr lang="ru-RU" sz="1600" baseline="-25000" dirty="0"/>
              <a:t>1</a:t>
            </a:r>
            <a:r>
              <a:rPr lang="ru-RU" sz="1600" i="1" dirty="0"/>
              <a:t>, . . . , α</a:t>
            </a:r>
            <a:r>
              <a:rPr lang="ru-RU" sz="1600" i="1" baseline="-25000" dirty="0"/>
              <a:t>n</a:t>
            </a:r>
            <a:r>
              <a:rPr lang="ru-RU" sz="1600" i="1" dirty="0"/>
              <a:t> равны нулю.</a:t>
            </a:r>
          </a:p>
          <a:p>
            <a:r>
              <a:rPr lang="ru-RU" sz="1600" b="1" dirty="0"/>
              <a:t>Базис:</a:t>
            </a:r>
            <a:r>
              <a:rPr lang="ru-RU" sz="1600" dirty="0"/>
              <a:t> Центральным понятием в теории линейных пространств является понятие базиса. </a:t>
            </a:r>
          </a:p>
          <a:p>
            <a:r>
              <a:rPr lang="ru-RU" sz="1600" dirty="0"/>
              <a:t>Система векторов </a:t>
            </a:r>
            <a:r>
              <a:rPr lang="ru-RU" sz="1600" i="1" dirty="0"/>
              <a:t>P</a:t>
            </a:r>
            <a:r>
              <a:rPr lang="ru-RU" sz="1600" i="1" baseline="-25000" dirty="0"/>
              <a:t> </a:t>
            </a:r>
            <a:r>
              <a:rPr lang="ru-RU" sz="1600" baseline="-25000" dirty="0"/>
              <a:t>1</a:t>
            </a:r>
            <a:r>
              <a:rPr lang="ru-RU" sz="1600" i="1" dirty="0"/>
              <a:t>, . . . , P</a:t>
            </a:r>
            <a:r>
              <a:rPr lang="ru-RU" sz="1600" i="1" baseline="-25000" dirty="0"/>
              <a:t> m</a:t>
            </a:r>
            <a:r>
              <a:rPr lang="ru-RU" sz="1600" i="1" dirty="0"/>
              <a:t> </a:t>
            </a:r>
            <a:r>
              <a:rPr lang="ru-RU" sz="1600" dirty="0"/>
              <a:t>называется </a:t>
            </a:r>
            <a:r>
              <a:rPr lang="ru-RU" sz="1600" i="1" dirty="0"/>
              <a:t>базисом </a:t>
            </a:r>
            <a:r>
              <a:rPr lang="ru-RU" sz="1600" dirty="0"/>
              <a:t>линейного пространства </a:t>
            </a:r>
            <a:r>
              <a:rPr lang="ru-RU" sz="1600" i="1" dirty="0"/>
              <a:t>L</a:t>
            </a:r>
            <a:r>
              <a:rPr lang="ru-RU" sz="1600" dirty="0"/>
              <a:t>, если:</a:t>
            </a:r>
          </a:p>
          <a:p>
            <a:r>
              <a:rPr lang="ru-RU" sz="1600" i="1" dirty="0"/>
              <a:t>• </a:t>
            </a:r>
            <a:r>
              <a:rPr lang="ru-RU" sz="1600" dirty="0"/>
              <a:t>она линейно независима;</a:t>
            </a:r>
          </a:p>
          <a:p>
            <a:r>
              <a:rPr lang="ru-RU" sz="1600" i="1" dirty="0"/>
              <a:t>• </a:t>
            </a:r>
            <a:r>
              <a:rPr lang="ru-RU" sz="1600" dirty="0"/>
              <a:t>добавление любого вектора из </a:t>
            </a:r>
            <a:r>
              <a:rPr lang="ru-RU" sz="1600" i="1" dirty="0"/>
              <a:t>L </a:t>
            </a:r>
            <a:r>
              <a:rPr lang="ru-RU" sz="1600" dirty="0"/>
              <a:t>делает ее линейно зависимой.</a:t>
            </a:r>
          </a:p>
          <a:p>
            <a:r>
              <a:rPr lang="ru-RU" sz="1600" dirty="0"/>
              <a:t>Пусть </a:t>
            </a:r>
            <a:r>
              <a:rPr lang="en-GB" sz="1600" i="1" dirty="0"/>
              <a:t>B </a:t>
            </a:r>
            <a:r>
              <a:rPr lang="en-GB" sz="1600" dirty="0"/>
              <a:t>= </a:t>
            </a:r>
            <a:r>
              <a:rPr lang="en-GB" sz="1600" i="1" dirty="0"/>
              <a:t>{P</a:t>
            </a:r>
            <a:r>
              <a:rPr lang="en-GB" sz="1600" i="1" baseline="-25000" dirty="0"/>
              <a:t> </a:t>
            </a:r>
            <a:r>
              <a:rPr lang="en-GB" sz="1600" baseline="-25000" dirty="0"/>
              <a:t>1</a:t>
            </a:r>
            <a:r>
              <a:rPr lang="en-GB" sz="1600" i="1" dirty="0"/>
              <a:t>, . . . ,</a:t>
            </a:r>
            <a:r>
              <a:rPr lang="ru-RU" sz="1600" i="1" dirty="0"/>
              <a:t> P</a:t>
            </a:r>
            <a:r>
              <a:rPr lang="ru-RU" sz="1600" i="1" baseline="-25000" dirty="0"/>
              <a:t> m</a:t>
            </a:r>
            <a:r>
              <a:rPr lang="ru-RU" sz="1600" i="1" dirty="0"/>
              <a:t>} </a:t>
            </a:r>
            <a:r>
              <a:rPr lang="ru-RU" sz="1600" dirty="0"/>
              <a:t>— базис линейного пространства </a:t>
            </a:r>
            <a:r>
              <a:rPr lang="ru-RU" sz="1600" i="1" dirty="0"/>
              <a:t>L</a:t>
            </a:r>
            <a:r>
              <a:rPr lang="ru-RU" sz="1600" dirty="0"/>
              <a:t>. Возьмем произвольный вектор </a:t>
            </a:r>
            <a:r>
              <a:rPr lang="ru-RU" sz="1600" i="1" dirty="0"/>
              <a:t>P </a:t>
            </a:r>
            <a:r>
              <a:rPr lang="ru-RU" sz="1600" dirty="0"/>
              <a:t>и добавим его к базису. Тогда совокупность векторов </a:t>
            </a:r>
            <a:r>
              <a:rPr lang="ru-RU" sz="1600" i="1" dirty="0"/>
              <a:t>{</a:t>
            </a:r>
            <a:r>
              <a:rPr lang="en-GB" sz="1600" i="1" dirty="0"/>
              <a:t>P</a:t>
            </a:r>
            <a:r>
              <a:rPr lang="en-GB" sz="1600" i="1" baseline="-25000" dirty="0"/>
              <a:t> </a:t>
            </a:r>
            <a:r>
              <a:rPr lang="en-GB" sz="1600" baseline="-25000" dirty="0"/>
              <a:t>1</a:t>
            </a:r>
            <a:r>
              <a:rPr lang="en-GB" sz="1600" i="1" dirty="0"/>
              <a:t>, . . . , P</a:t>
            </a:r>
            <a:r>
              <a:rPr lang="en-GB" sz="1600" i="1" baseline="-25000" dirty="0"/>
              <a:t> m</a:t>
            </a:r>
            <a:r>
              <a:rPr lang="en-GB" sz="1600" i="1" dirty="0"/>
              <a:t>,</a:t>
            </a:r>
            <a:r>
              <a:rPr lang="ru-RU" sz="1600" i="1" dirty="0"/>
              <a:t> </a:t>
            </a:r>
            <a:r>
              <a:rPr lang="en-GB" sz="1600" b="1" i="1" dirty="0"/>
              <a:t>P</a:t>
            </a:r>
            <a:r>
              <a:rPr lang="en-GB" sz="1600" i="1" dirty="0"/>
              <a:t> } </a:t>
            </a:r>
            <a:r>
              <a:rPr lang="ru-RU" sz="1600" dirty="0"/>
              <a:t>становится линейно зависимой и возможно нетривиальное (не все коэффициенты равны нулю) равенство </a:t>
            </a:r>
            <a:r>
              <a:rPr lang="el-GR" sz="1600" i="1" dirty="0"/>
              <a:t>α</a:t>
            </a:r>
            <a:r>
              <a:rPr lang="el-GR" sz="1600" baseline="-25000" dirty="0"/>
              <a:t>1</a:t>
            </a:r>
            <a:r>
              <a:rPr lang="en-GB" sz="1600" i="1" dirty="0"/>
              <a:t>P</a:t>
            </a:r>
            <a:r>
              <a:rPr lang="en-GB" sz="1600" i="1" baseline="-25000" dirty="0"/>
              <a:t> </a:t>
            </a:r>
            <a:r>
              <a:rPr lang="en-GB" sz="1600" baseline="-25000" dirty="0"/>
              <a:t>1</a:t>
            </a:r>
            <a:r>
              <a:rPr lang="en-GB" sz="1600" dirty="0"/>
              <a:t> + </a:t>
            </a:r>
            <a:r>
              <a:rPr lang="en-GB" sz="1600" i="1" dirty="0"/>
              <a:t>· · · </a:t>
            </a:r>
            <a:r>
              <a:rPr lang="en-GB" sz="1600" dirty="0"/>
              <a:t>+ </a:t>
            </a:r>
            <a:r>
              <a:rPr lang="el-GR" sz="1600" i="1" dirty="0"/>
              <a:t>α</a:t>
            </a:r>
            <a:r>
              <a:rPr lang="en-GB" sz="1600" i="1" baseline="-25000" dirty="0" err="1"/>
              <a:t>m</a:t>
            </a:r>
            <a:r>
              <a:rPr lang="en-GB" sz="1600" i="1" dirty="0" err="1"/>
              <a:t>P</a:t>
            </a:r>
            <a:r>
              <a:rPr lang="en-GB" sz="1600" i="1" dirty="0"/>
              <a:t> </a:t>
            </a:r>
            <a:r>
              <a:rPr lang="en-GB" sz="1600" i="1" baseline="-25000" dirty="0"/>
              <a:t>m</a:t>
            </a:r>
            <a:r>
              <a:rPr lang="en-GB" sz="1600" i="1" dirty="0"/>
              <a:t> </a:t>
            </a:r>
            <a:r>
              <a:rPr lang="en-GB" sz="1600" dirty="0"/>
              <a:t>+ </a:t>
            </a:r>
            <a:r>
              <a:rPr lang="el-GR" sz="1600" b="1" i="1" dirty="0"/>
              <a:t>α</a:t>
            </a:r>
            <a:r>
              <a:rPr lang="en-GB" sz="1600" b="1" i="1" dirty="0"/>
              <a:t>P</a:t>
            </a:r>
            <a:r>
              <a:rPr lang="en-GB" sz="1600" i="1" dirty="0"/>
              <a:t> </a:t>
            </a:r>
            <a:r>
              <a:rPr lang="en-GB" sz="1600" dirty="0"/>
              <a:t>=</a:t>
            </a:r>
            <a:r>
              <a:rPr lang="ru-RU" sz="1600" dirty="0"/>
              <a:t>0 </a:t>
            </a:r>
            <a:r>
              <a:rPr lang="ru-RU" sz="1600" i="1" dirty="0"/>
              <a:t>, </a:t>
            </a:r>
            <a:r>
              <a:rPr lang="ru-RU" sz="1600" dirty="0"/>
              <a:t>причем </a:t>
            </a:r>
            <a:r>
              <a:rPr lang="ru-RU" sz="1600" i="1" dirty="0"/>
              <a:t>α </a:t>
            </a:r>
            <a:r>
              <a:rPr lang="ru-RU" sz="1600" dirty="0"/>
              <a:t>= 0, так как в противном случае нулевой вектор можно было бы скомбинировать из векторов базиса.</a:t>
            </a:r>
            <a:endParaRPr lang="ru-RU" sz="1600" dirty="0">
              <a:latin typeface="+mj-lt"/>
            </a:endParaRPr>
          </a:p>
          <a:p>
            <a:r>
              <a:rPr lang="ru-RU" sz="1600" dirty="0"/>
              <a:t>Тогда, поделив это выражение на </a:t>
            </a:r>
            <a:r>
              <a:rPr lang="ru-RU" sz="1600" i="1" dirty="0"/>
              <a:t>α </a:t>
            </a:r>
            <a:r>
              <a:rPr lang="ru-RU" sz="1600" dirty="0"/>
              <a:t>и обозначив </a:t>
            </a:r>
            <a:r>
              <a:rPr lang="ru-RU" sz="1600" i="1" dirty="0" err="1"/>
              <a:t>x</a:t>
            </a:r>
            <a:r>
              <a:rPr lang="ru-RU" sz="1600" i="1" baseline="-25000" dirty="0" err="1"/>
              <a:t>i</a:t>
            </a:r>
            <a:r>
              <a:rPr lang="ru-RU" sz="1600" i="1" dirty="0"/>
              <a:t> </a:t>
            </a:r>
            <a:r>
              <a:rPr lang="ru-RU" sz="1600" dirty="0"/>
              <a:t>= </a:t>
            </a:r>
            <a:r>
              <a:rPr lang="ru-RU" sz="1600" i="1" dirty="0"/>
              <a:t>α</a:t>
            </a:r>
            <a:r>
              <a:rPr lang="ru-RU" sz="1600" i="1" baseline="-25000" dirty="0"/>
              <a:t>i</a:t>
            </a:r>
            <a:r>
              <a:rPr lang="ru-RU" sz="1600" i="1" dirty="0"/>
              <a:t> </a:t>
            </a:r>
            <a:r>
              <a:rPr lang="en-US" sz="1600" i="1" dirty="0"/>
              <a:t>/ </a:t>
            </a:r>
            <a:r>
              <a:rPr lang="el-GR" sz="1600" i="1" dirty="0"/>
              <a:t>α</a:t>
            </a:r>
            <a:r>
              <a:rPr lang="ru-RU" sz="1600" dirty="0"/>
              <a:t>, получаем  </a:t>
            </a:r>
            <a:r>
              <a:rPr lang="en-GB" sz="1600" i="1" dirty="0"/>
              <a:t>x</a:t>
            </a:r>
            <a:r>
              <a:rPr lang="en-GB" sz="1600" baseline="-25000" dirty="0"/>
              <a:t>1</a:t>
            </a:r>
            <a:r>
              <a:rPr lang="en-GB" sz="1600" i="1" dirty="0"/>
              <a:t>P</a:t>
            </a:r>
            <a:r>
              <a:rPr lang="en-GB" sz="1600" i="1" baseline="-25000" dirty="0"/>
              <a:t> </a:t>
            </a:r>
            <a:r>
              <a:rPr lang="en-GB" sz="1600" baseline="-25000" dirty="0"/>
              <a:t>1</a:t>
            </a:r>
            <a:r>
              <a:rPr lang="en-GB" sz="1600" dirty="0"/>
              <a:t> + </a:t>
            </a:r>
            <a:r>
              <a:rPr lang="en-GB" sz="1600" i="1" dirty="0"/>
              <a:t>· · · </a:t>
            </a:r>
            <a:r>
              <a:rPr lang="en-GB" sz="1600" dirty="0"/>
              <a:t>+ </a:t>
            </a:r>
            <a:r>
              <a:rPr lang="en-GB" sz="1600" i="1" dirty="0" err="1"/>
              <a:t>x</a:t>
            </a:r>
            <a:r>
              <a:rPr lang="en-GB" sz="1600" i="1" baseline="-25000" dirty="0" err="1"/>
              <a:t>m</a:t>
            </a:r>
            <a:r>
              <a:rPr lang="en-GB" sz="1600" i="1" dirty="0" err="1"/>
              <a:t>P</a:t>
            </a:r>
            <a:r>
              <a:rPr lang="en-GB" sz="1600" i="1" baseline="-25000" dirty="0"/>
              <a:t> m</a:t>
            </a:r>
            <a:r>
              <a:rPr lang="en-GB" sz="1600" i="1" dirty="0"/>
              <a:t> </a:t>
            </a:r>
            <a:r>
              <a:rPr lang="en-GB" sz="1600" dirty="0"/>
              <a:t>=</a:t>
            </a:r>
            <a:r>
              <a:rPr lang="en-GB" sz="1600" i="1" dirty="0"/>
              <a:t>P .</a:t>
            </a:r>
            <a:endParaRPr lang="ru-RU" sz="1600" i="1" dirty="0"/>
          </a:p>
          <a:p>
            <a:r>
              <a:rPr lang="en-GB" sz="1600" i="1" dirty="0"/>
              <a:t> </a:t>
            </a:r>
            <a:r>
              <a:rPr lang="ru-RU" sz="1600" dirty="0"/>
              <a:t>Это значит, что любой вектор может быть представлен в виде линейной комбинации векторов базиса, или, как говорят, </a:t>
            </a:r>
            <a:r>
              <a:rPr lang="ru-RU" sz="1600" b="1" i="1" dirty="0"/>
              <a:t>разложен </a:t>
            </a:r>
            <a:r>
              <a:rPr lang="ru-RU" sz="1600" b="1" dirty="0"/>
              <a:t>по базису</a:t>
            </a:r>
            <a:r>
              <a:rPr lang="ru-RU" sz="1600" dirty="0"/>
              <a:t>. Числа </a:t>
            </a:r>
            <a:r>
              <a:rPr lang="ru-RU" sz="1600" i="1" dirty="0"/>
              <a:t>x</a:t>
            </a:r>
            <a:r>
              <a:rPr lang="ru-RU" sz="1600" baseline="-25000" dirty="0"/>
              <a:t>1</a:t>
            </a:r>
            <a:r>
              <a:rPr lang="ru-RU" sz="1600" i="1" dirty="0"/>
              <a:t>, . . . , </a:t>
            </a:r>
            <a:r>
              <a:rPr lang="ru-RU" sz="1600" i="1" dirty="0" err="1"/>
              <a:t>x</a:t>
            </a:r>
            <a:r>
              <a:rPr lang="ru-RU" sz="1600" i="1" baseline="-25000" dirty="0" err="1"/>
              <a:t>m</a:t>
            </a:r>
            <a:r>
              <a:rPr lang="ru-RU" sz="1600" i="1" dirty="0"/>
              <a:t> </a:t>
            </a:r>
            <a:r>
              <a:rPr lang="ru-RU" sz="1600" dirty="0"/>
              <a:t>называются </a:t>
            </a:r>
            <a:r>
              <a:rPr lang="ru-RU" sz="1600" b="1" i="1" dirty="0"/>
              <a:t>коэффициентами разложения </a:t>
            </a:r>
            <a:r>
              <a:rPr lang="ru-RU" sz="1600" b="1" dirty="0"/>
              <a:t>вектора </a:t>
            </a:r>
            <a:r>
              <a:rPr lang="ru-RU" sz="1600" b="1" i="1" dirty="0"/>
              <a:t>P </a:t>
            </a:r>
            <a:r>
              <a:rPr lang="ru-RU" sz="1600" b="1" dirty="0"/>
              <a:t>по базису </a:t>
            </a:r>
            <a:r>
              <a:rPr lang="ru-RU" sz="1600" b="1" i="1" dirty="0"/>
              <a:t>B</a:t>
            </a:r>
            <a:r>
              <a:rPr lang="ru-RU" sz="1600" dirty="0"/>
              <a:t>. </a:t>
            </a:r>
            <a:r>
              <a:rPr lang="ru-RU" sz="1600" b="1" dirty="0"/>
              <a:t>Разложение по базису единственно.</a:t>
            </a:r>
            <a:endParaRPr lang="ru-RU" sz="1600" b="1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735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Пример разложения по базису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615" y="1316766"/>
            <a:ext cx="5818999" cy="484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85908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Разложение по единичному базису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9"/>
            <a:ext cx="104540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В </a:t>
            </a:r>
            <a:r>
              <a:rPr lang="ru-RU" sz="1600" i="1" dirty="0"/>
              <a:t>m</a:t>
            </a:r>
            <a:r>
              <a:rPr lang="ru-RU" sz="1600" dirty="0"/>
              <a:t>-мерном пространстве может быть выбрано сколько угодно базисов, причем все они содержат по </a:t>
            </a:r>
            <a:r>
              <a:rPr lang="ru-RU" sz="1600" i="1" dirty="0"/>
              <a:t>m </a:t>
            </a:r>
            <a:r>
              <a:rPr lang="ru-RU" sz="1600" dirty="0"/>
              <a:t>векторов. Среди них особую роль играет </a:t>
            </a:r>
            <a:r>
              <a:rPr lang="ru-RU" sz="1600" i="1" dirty="0"/>
              <a:t>единичный базис</a:t>
            </a:r>
            <a:r>
              <a:rPr lang="ru-RU" sz="1600" dirty="0"/>
              <a:t>, составленный из единичных векторов </a:t>
            </a:r>
            <a:r>
              <a:rPr lang="ru-RU" sz="1600" i="1" dirty="0"/>
              <a:t>(ортов)</a:t>
            </a:r>
            <a:r>
              <a:rPr lang="ru-RU" sz="1600" dirty="0"/>
              <a:t>:</a:t>
            </a: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r>
              <a:rPr lang="ru-RU" sz="1600" dirty="0">
                <a:latin typeface="+mj-lt"/>
              </a:rPr>
              <a:t>Разложение любого вектора по такому базису тривиально: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993" y="2180862"/>
            <a:ext cx="3744416" cy="1055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043" y="3787830"/>
            <a:ext cx="4032448" cy="1192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9842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Переход от одного базиса к другому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527" y="1306703"/>
            <a:ext cx="5088565" cy="4840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82698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Частные случаи замены базиса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9"/>
            <a:ext cx="10454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Переход от единичного базиса. Если первоначальный</a:t>
            </a:r>
          </a:p>
          <a:p>
            <a:r>
              <a:rPr lang="ru-RU" sz="1600" dirty="0"/>
              <a:t>базис был единичным, т. е. </a:t>
            </a:r>
            <a:r>
              <a:rPr lang="ru-RU" sz="1600" i="1" dirty="0"/>
              <a:t>B </a:t>
            </a:r>
            <a:r>
              <a:rPr lang="ru-RU" sz="1600" dirty="0"/>
              <a:t>= </a:t>
            </a:r>
            <a:r>
              <a:rPr lang="ru-RU" sz="1600" i="1" dirty="0"/>
              <a:t>I</a:t>
            </a:r>
            <a:r>
              <a:rPr lang="ru-RU" sz="1600" dirty="0"/>
              <a:t>, то формула (3.9) упрощается:</a:t>
            </a:r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702" y="2180861"/>
            <a:ext cx="3072341" cy="50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42" y="2715678"/>
            <a:ext cx="6162791" cy="3442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43419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1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Связь разложения по базису и преобразований Гаусса-</a:t>
            </a:r>
            <a:r>
              <a:rPr lang="ru-RU" sz="2400" dirty="0" err="1"/>
              <a:t>Жордана</a:t>
            </a:r>
            <a:endParaRPr lang="ru-RU"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531" y="1501097"/>
            <a:ext cx="6867948" cy="4104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531" y="1467599"/>
            <a:ext cx="6867948" cy="4104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691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1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Решение СЛУ как процесс замещения векторов в базисе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err="1">
                <a:latin typeface="+mj-lt"/>
              </a:rPr>
              <a:t>вава</a:t>
            </a:r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17" y="1283778"/>
            <a:ext cx="6706891" cy="3023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450" y="4341098"/>
            <a:ext cx="6242423" cy="1705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19092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1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Решение СЛУ как процесс замещения векторов в базисе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97" y="1358839"/>
            <a:ext cx="6558935" cy="4783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2445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Пример решения СЛУ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41" y="1342703"/>
            <a:ext cx="8101888" cy="4703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73062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Пример решения СЛУ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err="1">
                <a:latin typeface="+mj-lt"/>
              </a:rPr>
              <a:t>вава</a:t>
            </a:r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52" y="1342613"/>
            <a:ext cx="5643352" cy="4742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365" y="5209831"/>
            <a:ext cx="2688299" cy="498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7392" y="5700999"/>
            <a:ext cx="2208245" cy="296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8511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Выпуклые множества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/>
              <a:t>Выпуклой комбинацией </a:t>
            </a:r>
            <a:r>
              <a:rPr lang="ru-RU" sz="1600" dirty="0"/>
              <a:t>точек </a:t>
            </a:r>
            <a:r>
              <a:rPr lang="en-GB" sz="1600" i="1" dirty="0"/>
              <a:t>X</a:t>
            </a:r>
            <a:r>
              <a:rPr lang="en-GB" sz="1600" i="1" baseline="-25000" dirty="0"/>
              <a:t> </a:t>
            </a:r>
            <a:r>
              <a:rPr lang="en-GB" sz="1600" baseline="-25000" dirty="0"/>
              <a:t>1</a:t>
            </a:r>
            <a:r>
              <a:rPr lang="en-GB" sz="1600" i="1" dirty="0"/>
              <a:t>, . . . ,X</a:t>
            </a:r>
            <a:r>
              <a:rPr lang="en-GB" sz="1600" i="1" baseline="-25000" dirty="0"/>
              <a:t> n</a:t>
            </a:r>
            <a:r>
              <a:rPr lang="en-GB" sz="1600" i="1" dirty="0"/>
              <a:t> </a:t>
            </a:r>
            <a:r>
              <a:rPr lang="ru-RU" sz="1600" dirty="0"/>
              <a:t>называется линейная комбинация</a:t>
            </a: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r>
              <a:rPr lang="ru-RU" sz="1600" dirty="0"/>
              <a:t>В частности, когда имеются две точки </a:t>
            </a:r>
            <a:r>
              <a:rPr lang="en-GB" sz="1600" i="1" dirty="0"/>
              <a:t>X</a:t>
            </a:r>
            <a:r>
              <a:rPr lang="en-GB" sz="1600" i="1" baseline="-25000" dirty="0"/>
              <a:t> </a:t>
            </a:r>
            <a:r>
              <a:rPr lang="en-GB" sz="1600" baseline="-25000" dirty="0"/>
              <a:t>1</a:t>
            </a:r>
            <a:r>
              <a:rPr lang="en-GB" sz="1600" dirty="0"/>
              <a:t> </a:t>
            </a:r>
            <a:r>
              <a:rPr lang="ru-RU" sz="1600" dirty="0"/>
              <a:t>и </a:t>
            </a:r>
            <a:r>
              <a:rPr lang="ru-RU" sz="1600" i="1" dirty="0"/>
              <a:t>X</a:t>
            </a:r>
            <a:r>
              <a:rPr lang="ru-RU" sz="1600" i="1" baseline="-25000" dirty="0"/>
              <a:t> </a:t>
            </a:r>
            <a:r>
              <a:rPr lang="ru-RU" sz="1600" baseline="-25000" dirty="0"/>
              <a:t>2</a:t>
            </a:r>
            <a:r>
              <a:rPr lang="ru-RU" sz="1600" dirty="0"/>
              <a:t>, то их выпуклая комбинация</a:t>
            </a:r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представляет собой точку на отрезке, соединяющем эти точки. </a:t>
            </a:r>
          </a:p>
          <a:p>
            <a:r>
              <a:rPr lang="ru-RU" sz="1600" dirty="0"/>
              <a:t>При </a:t>
            </a:r>
            <a:r>
              <a:rPr lang="ru-RU" sz="1600" i="1" dirty="0"/>
              <a:t>λ </a:t>
            </a:r>
            <a:r>
              <a:rPr lang="ru-RU" sz="1600" dirty="0"/>
              <a:t>= 0 эта точка совпадает с </a:t>
            </a:r>
            <a:r>
              <a:rPr lang="ru-RU" sz="1600" i="1" dirty="0"/>
              <a:t>X</a:t>
            </a:r>
            <a:r>
              <a:rPr lang="ru-RU" sz="1600" i="1" baseline="-25000" dirty="0"/>
              <a:t> </a:t>
            </a:r>
            <a:r>
              <a:rPr lang="ru-RU" sz="1600" baseline="-25000" dirty="0"/>
              <a:t>1</a:t>
            </a:r>
            <a:r>
              <a:rPr lang="ru-RU" sz="1600" dirty="0"/>
              <a:t>, а при </a:t>
            </a:r>
            <a:r>
              <a:rPr lang="ru-RU" sz="1600" i="1" dirty="0"/>
              <a:t>λ </a:t>
            </a:r>
            <a:r>
              <a:rPr lang="ru-RU" sz="1600" dirty="0"/>
              <a:t>= 1 — с </a:t>
            </a:r>
            <a:r>
              <a:rPr lang="en-GB" sz="1600" i="1" dirty="0"/>
              <a:t>X</a:t>
            </a:r>
            <a:r>
              <a:rPr lang="en-GB" sz="1600" i="1" baseline="-25000" dirty="0"/>
              <a:t> </a:t>
            </a:r>
            <a:r>
              <a:rPr lang="en-GB" sz="1600" baseline="-25000" dirty="0"/>
              <a:t>2</a:t>
            </a:r>
            <a:r>
              <a:rPr lang="en-GB" sz="1600" i="1" dirty="0"/>
              <a:t>.</a:t>
            </a:r>
            <a:endParaRPr lang="ru-RU" sz="1600" dirty="0"/>
          </a:p>
          <a:p>
            <a:endParaRPr lang="ru-RU" sz="1600" i="1" dirty="0"/>
          </a:p>
          <a:p>
            <a:r>
              <a:rPr lang="ru-RU" sz="1600" i="1" dirty="0"/>
              <a:t>Выпуклой оболочкой </a:t>
            </a:r>
            <a:r>
              <a:rPr lang="ru-RU" sz="1600" dirty="0"/>
              <a:t>точек называется множество всевозможных выпуклых комбинаций этих точек.</a:t>
            </a:r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r>
              <a:rPr lang="ru-RU" sz="1600" dirty="0"/>
              <a:t>Множество </a:t>
            </a:r>
            <a:r>
              <a:rPr lang="ru-RU" sz="1600" i="1" dirty="0"/>
              <a:t>D ⊂ L </a:t>
            </a:r>
            <a:r>
              <a:rPr lang="ru-RU" sz="1600" dirty="0"/>
              <a:t>называется </a:t>
            </a:r>
            <a:r>
              <a:rPr lang="ru-RU" sz="1600" i="1" dirty="0"/>
              <a:t>выпуклым</a:t>
            </a:r>
            <a:r>
              <a:rPr lang="ru-RU" sz="1600" dirty="0"/>
              <a:t>, если оно, наряду с любыми двумя своими точками, содержит их произвольную выпуклую комбинацию:</a:t>
            </a: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r>
              <a:rPr lang="ru-RU" sz="1600" dirty="0"/>
              <a:t>Точка </a:t>
            </a:r>
            <a:r>
              <a:rPr lang="ru-RU" sz="1600" i="1" dirty="0"/>
              <a:t>X </a:t>
            </a:r>
            <a:r>
              <a:rPr lang="ru-RU" sz="1600" dirty="0"/>
              <a:t>выпуклого множества </a:t>
            </a:r>
            <a:r>
              <a:rPr lang="ru-RU" sz="1600" i="1" dirty="0"/>
              <a:t>D </a:t>
            </a:r>
            <a:r>
              <a:rPr lang="ru-RU" sz="1600" dirty="0"/>
              <a:t>называется </a:t>
            </a:r>
            <a:r>
              <a:rPr lang="ru-RU" sz="1600" b="1" i="1" dirty="0">
                <a:solidFill>
                  <a:srgbClr val="FF0000"/>
                </a:solidFill>
              </a:rPr>
              <a:t>крайней точкой</a:t>
            </a:r>
            <a:r>
              <a:rPr lang="ru-RU" sz="1600" i="1" dirty="0"/>
              <a:t>, </a:t>
            </a:r>
            <a:r>
              <a:rPr lang="ru-RU" sz="1600" dirty="0"/>
              <a:t>если она не может быть представлена в виде выпуклой комбинации двух других различных точек этого множества</a:t>
            </a:r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755" y="1796819"/>
            <a:ext cx="3295621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646" y="2848024"/>
            <a:ext cx="3240839" cy="36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781" y="4927884"/>
            <a:ext cx="5094971" cy="384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301" y="1604798"/>
            <a:ext cx="3305663" cy="217229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22747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Гиперплоскости и гиперпространства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Теорема (о представлении)</a:t>
            </a:r>
            <a:r>
              <a:rPr lang="ru-RU" sz="1600" dirty="0"/>
              <a:t>. </a:t>
            </a:r>
            <a:r>
              <a:rPr lang="ru-RU" sz="1600" i="1" dirty="0"/>
              <a:t>Всякое выпуклое замкнутое ограниченное множество есть выпуклая оболочка своих крайних точек.</a:t>
            </a:r>
          </a:p>
          <a:p>
            <a:r>
              <a:rPr lang="ru-RU" sz="1600" dirty="0"/>
              <a:t>Другими словами, каждая точка выпуклого замкнутого ограниченного множества может быть представлена в виде выпуклой комбинации его крайних (некоторые авторы предпочитают термин </a:t>
            </a:r>
            <a:r>
              <a:rPr lang="ru-RU" sz="1600" i="1" dirty="0"/>
              <a:t>угловых</a:t>
            </a:r>
            <a:r>
              <a:rPr lang="ru-RU" sz="1600" dirty="0"/>
              <a:t>) точек.</a:t>
            </a:r>
          </a:p>
          <a:p>
            <a:endParaRPr lang="ru-RU" sz="1600" dirty="0">
              <a:latin typeface="+mj-lt"/>
            </a:endParaRPr>
          </a:p>
          <a:p>
            <a:r>
              <a:rPr lang="ru-RU" sz="1600" i="1" dirty="0"/>
              <a:t>Гиперплоскостью </a:t>
            </a:r>
            <a:r>
              <a:rPr lang="ru-RU" sz="1600" dirty="0"/>
              <a:t>называется геометрическое место (множество) точек </a:t>
            </a:r>
            <a:r>
              <a:rPr lang="ru-RU" sz="1600" i="1" dirty="0"/>
              <a:t>X </a:t>
            </a:r>
            <a:r>
              <a:rPr lang="ru-RU" sz="1600" dirty="0"/>
              <a:t>= (</a:t>
            </a:r>
            <a:r>
              <a:rPr lang="ru-RU" sz="1600" i="1" dirty="0"/>
              <a:t>x</a:t>
            </a:r>
            <a:r>
              <a:rPr lang="ru-RU" sz="1600" baseline="-25000" dirty="0"/>
              <a:t>1</a:t>
            </a:r>
            <a:r>
              <a:rPr lang="ru-RU" sz="1600" i="1" dirty="0"/>
              <a:t>, . . . , </a:t>
            </a:r>
            <a:r>
              <a:rPr lang="ru-RU" sz="1600" i="1" dirty="0" err="1"/>
              <a:t>x</a:t>
            </a:r>
            <a:r>
              <a:rPr lang="ru-RU" sz="1600" i="1" baseline="-25000" dirty="0" err="1"/>
              <a:t>n</a:t>
            </a:r>
            <a:r>
              <a:rPr lang="ru-RU" sz="1600" dirty="0"/>
              <a:t>)</a:t>
            </a:r>
            <a:r>
              <a:rPr lang="ru-RU" sz="1600" i="1" baseline="30000" dirty="0"/>
              <a:t>T</a:t>
            </a:r>
            <a:r>
              <a:rPr lang="ru-RU" sz="1600" i="1" dirty="0"/>
              <a:t> , </a:t>
            </a:r>
            <a:r>
              <a:rPr lang="ru-RU" sz="1600" dirty="0"/>
              <a:t>координаты которых удовлетворяют линейному уравнению </a:t>
            </a:r>
            <a:r>
              <a:rPr lang="ru-RU" sz="1600" i="1" dirty="0"/>
              <a:t>a</a:t>
            </a:r>
            <a:r>
              <a:rPr lang="ru-RU" sz="1600" baseline="-25000" dirty="0"/>
              <a:t>1</a:t>
            </a:r>
            <a:r>
              <a:rPr lang="ru-RU" sz="1600" i="1" dirty="0"/>
              <a:t>x</a:t>
            </a:r>
            <a:r>
              <a:rPr lang="ru-RU" sz="1600" baseline="-25000" dirty="0"/>
              <a:t>1</a:t>
            </a:r>
            <a:r>
              <a:rPr lang="ru-RU" sz="1600" dirty="0"/>
              <a:t> + </a:t>
            </a:r>
            <a:r>
              <a:rPr lang="ru-RU" sz="1600" i="1" dirty="0"/>
              <a:t>· · · </a:t>
            </a:r>
            <a:r>
              <a:rPr lang="ru-RU" sz="1600" dirty="0"/>
              <a:t>+ </a:t>
            </a:r>
            <a:r>
              <a:rPr lang="ru-RU" sz="1600" i="1" dirty="0" err="1"/>
              <a:t>a</a:t>
            </a:r>
            <a:r>
              <a:rPr lang="ru-RU" sz="1600" i="1" baseline="-25000" dirty="0" err="1"/>
              <a:t>n</a:t>
            </a:r>
            <a:r>
              <a:rPr lang="ru-RU" sz="1600" i="1" dirty="0" err="1"/>
              <a:t>x</a:t>
            </a:r>
            <a:r>
              <a:rPr lang="ru-RU" sz="1600" i="1" baseline="-25000" dirty="0" err="1"/>
              <a:t>n</a:t>
            </a:r>
            <a:r>
              <a:rPr lang="ru-RU" sz="1600" i="1" dirty="0"/>
              <a:t> </a:t>
            </a:r>
            <a:r>
              <a:rPr lang="ru-RU" sz="1600" dirty="0"/>
              <a:t>= </a:t>
            </a:r>
            <a:r>
              <a:rPr lang="ru-RU" sz="1600" i="1" dirty="0"/>
              <a:t>b </a:t>
            </a:r>
            <a:r>
              <a:rPr lang="ru-RU" sz="1600" dirty="0"/>
              <a:t>или, в векторном виде,  </a:t>
            </a:r>
            <a:r>
              <a:rPr lang="en-GB" sz="1600" i="1" dirty="0" err="1"/>
              <a:t>a</a:t>
            </a:r>
            <a:r>
              <a:rPr lang="en-GB" sz="1600" i="1" baseline="30000" dirty="0" err="1"/>
              <a:t>T</a:t>
            </a:r>
            <a:r>
              <a:rPr lang="en-GB" sz="1600" i="1" dirty="0" err="1"/>
              <a:t>X</a:t>
            </a:r>
            <a:r>
              <a:rPr lang="en-GB" sz="1600" i="1" dirty="0"/>
              <a:t> </a:t>
            </a:r>
            <a:r>
              <a:rPr lang="en-GB" sz="1600" dirty="0"/>
              <a:t>= </a:t>
            </a:r>
            <a:r>
              <a:rPr lang="en-GB" sz="1600" i="1" dirty="0"/>
              <a:t>b.</a:t>
            </a:r>
            <a:endParaRPr lang="ru-RU" sz="1600" i="1" dirty="0"/>
          </a:p>
          <a:p>
            <a:endParaRPr lang="ru-RU" sz="1600" i="1" dirty="0">
              <a:latin typeface="+mj-lt"/>
            </a:endParaRPr>
          </a:p>
          <a:p>
            <a:r>
              <a:rPr lang="ru-RU" sz="1600" dirty="0"/>
              <a:t>Одно линейное неравенство вида </a:t>
            </a:r>
            <a:r>
              <a:rPr lang="ru-RU" sz="1600" i="1" dirty="0"/>
              <a:t>a</a:t>
            </a:r>
            <a:r>
              <a:rPr lang="ru-RU" sz="1600" baseline="-25000" dirty="0"/>
              <a:t>1</a:t>
            </a:r>
            <a:r>
              <a:rPr lang="ru-RU" sz="1600" i="1" dirty="0"/>
              <a:t>x</a:t>
            </a:r>
            <a:r>
              <a:rPr lang="ru-RU" sz="1600" baseline="-25000" dirty="0"/>
              <a:t>1</a:t>
            </a:r>
            <a:r>
              <a:rPr lang="ru-RU" sz="1600" dirty="0"/>
              <a:t> + </a:t>
            </a:r>
            <a:r>
              <a:rPr lang="ru-RU" sz="1600" i="1" dirty="0"/>
              <a:t>· · · </a:t>
            </a:r>
            <a:r>
              <a:rPr lang="ru-RU" sz="1600" dirty="0"/>
              <a:t>+ </a:t>
            </a:r>
            <a:r>
              <a:rPr lang="ru-RU" sz="1600" i="1" dirty="0" err="1"/>
              <a:t>a</a:t>
            </a:r>
            <a:r>
              <a:rPr lang="ru-RU" sz="1600" i="1" baseline="-25000" dirty="0" err="1"/>
              <a:t>n</a:t>
            </a:r>
            <a:r>
              <a:rPr lang="ru-RU" sz="1600" i="1" dirty="0" err="1"/>
              <a:t>x</a:t>
            </a:r>
            <a:r>
              <a:rPr lang="ru-RU" sz="1600" i="1" baseline="-25000" dirty="0" err="1"/>
              <a:t>n</a:t>
            </a:r>
            <a:r>
              <a:rPr lang="ru-RU" sz="1600" i="1" baseline="-25000" dirty="0"/>
              <a:t> </a:t>
            </a:r>
            <a:r>
              <a:rPr lang="en-US" sz="1600" i="1" dirty="0"/>
              <a:t>&gt;=</a:t>
            </a:r>
            <a:r>
              <a:rPr lang="ru-RU" sz="1600" i="1" dirty="0"/>
              <a:t> </a:t>
            </a:r>
            <a:r>
              <a:rPr lang="ru-RU" sz="1600" dirty="0"/>
              <a:t> </a:t>
            </a:r>
            <a:r>
              <a:rPr lang="ru-RU" sz="1600" i="1" dirty="0"/>
              <a:t>b </a:t>
            </a:r>
            <a:r>
              <a:rPr lang="ru-RU" sz="1600" dirty="0"/>
              <a:t>или</a:t>
            </a:r>
            <a:r>
              <a:rPr lang="en-US" sz="1600" dirty="0"/>
              <a:t>  </a:t>
            </a:r>
            <a:r>
              <a:rPr lang="ru-RU" sz="1600" i="1" dirty="0"/>
              <a:t>a</a:t>
            </a:r>
            <a:r>
              <a:rPr lang="ru-RU" sz="1600" baseline="-25000" dirty="0"/>
              <a:t>1</a:t>
            </a:r>
            <a:r>
              <a:rPr lang="ru-RU" sz="1600" i="1" dirty="0"/>
              <a:t>x</a:t>
            </a:r>
            <a:r>
              <a:rPr lang="ru-RU" sz="1600" baseline="-25000" dirty="0"/>
              <a:t>1</a:t>
            </a:r>
            <a:r>
              <a:rPr lang="ru-RU" sz="1600" dirty="0"/>
              <a:t>+</a:t>
            </a:r>
            <a:r>
              <a:rPr lang="ru-RU" sz="1600" i="1" dirty="0"/>
              <a:t>· · ·</a:t>
            </a:r>
            <a:r>
              <a:rPr lang="ru-RU" sz="1600" dirty="0"/>
              <a:t>+</a:t>
            </a:r>
            <a:r>
              <a:rPr lang="ru-RU" sz="1600" i="1" dirty="0" err="1"/>
              <a:t>a</a:t>
            </a:r>
            <a:r>
              <a:rPr lang="ru-RU" sz="1600" i="1" baseline="-25000" dirty="0" err="1"/>
              <a:t>n</a:t>
            </a:r>
            <a:r>
              <a:rPr lang="ru-RU" sz="1600" i="1" dirty="0" err="1"/>
              <a:t>x</a:t>
            </a:r>
            <a:r>
              <a:rPr lang="ru-RU" sz="1600" i="1" baseline="-25000" dirty="0" err="1"/>
              <a:t>n</a:t>
            </a:r>
            <a:r>
              <a:rPr lang="ru-RU" sz="1600" i="1" dirty="0"/>
              <a:t> </a:t>
            </a:r>
            <a:r>
              <a:rPr lang="en-US" sz="1600" i="1" dirty="0"/>
              <a:t>&lt;=</a:t>
            </a:r>
            <a:r>
              <a:rPr lang="ru-RU" sz="1600" dirty="0"/>
              <a:t> </a:t>
            </a:r>
            <a:r>
              <a:rPr lang="ru-RU" sz="1600" i="1" dirty="0"/>
              <a:t>b </a:t>
            </a:r>
            <a:r>
              <a:rPr lang="ru-RU" sz="1600" dirty="0"/>
              <a:t>определяет </a:t>
            </a:r>
            <a:r>
              <a:rPr lang="ru-RU" sz="1600" b="1" i="1" dirty="0"/>
              <a:t>полупространство</a:t>
            </a:r>
            <a:r>
              <a:rPr lang="ru-RU" sz="1600" dirty="0"/>
              <a:t>. Заметим, что это</a:t>
            </a:r>
            <a:r>
              <a:rPr lang="en-US" sz="1600" dirty="0"/>
              <a:t> </a:t>
            </a:r>
            <a:r>
              <a:rPr lang="ru-RU" sz="1600" b="1" dirty="0"/>
              <a:t>неравенство обязательно нестрогое</a:t>
            </a:r>
            <a:r>
              <a:rPr lang="ru-RU" sz="1600" dirty="0"/>
              <a:t>, то есть ограничивающая гиперплоскость принадлежит полупространству.</a:t>
            </a:r>
            <a:endParaRPr lang="en-US" sz="1600" dirty="0"/>
          </a:p>
          <a:p>
            <a:endParaRPr lang="en-US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518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Многогранные множества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Совокупность ограничивающих неравенств</a:t>
            </a:r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определит либо пустое множество, если неравенства противоречивы, либо замкнутый (содержащий границу) многогранный объект.</a:t>
            </a:r>
          </a:p>
          <a:p>
            <a:r>
              <a:rPr lang="ru-RU" sz="1600" dirty="0"/>
              <a:t>В случае ограниченности, то есть тогда, когда расстояние между любыми его двумя точками конечно, этот объект представляет собой выпуклый многогранник. В противном случае — это выпуклая неограниченная многогранная область. Крайними точками выпуклого многогранника являются его вершины.</a:t>
            </a:r>
          </a:p>
          <a:p>
            <a:endParaRPr lang="ru-RU" sz="1600" dirty="0"/>
          </a:p>
          <a:p>
            <a:r>
              <a:rPr lang="ru-RU" sz="1600" dirty="0"/>
              <a:t>Многогранное множество </a:t>
            </a:r>
            <a:r>
              <a:rPr lang="ru-RU" sz="1600" b="1" dirty="0"/>
              <a:t>можно задать и альтернативным способом</a:t>
            </a:r>
            <a:r>
              <a:rPr lang="ru-RU" sz="1600" dirty="0"/>
              <a:t>, с помощью системы линейных уравнений в пространстве большей размерности с дополнительными ограничениями на </a:t>
            </a:r>
            <a:r>
              <a:rPr lang="ru-RU" sz="1600" dirty="0" err="1"/>
              <a:t>неотрицательность</a:t>
            </a:r>
            <a:r>
              <a:rPr lang="ru-RU" sz="1600" dirty="0"/>
              <a:t> некоторых переменных.</a:t>
            </a:r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b="1" dirty="0"/>
              <a:t>Иногда бывает полезна и обратная процедура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191" y="1818060"/>
            <a:ext cx="3070151" cy="1003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958" y="5061182"/>
            <a:ext cx="3532617" cy="733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08964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Решение системы уравнений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3659" y="1436293"/>
            <a:ext cx="5039533" cy="1416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04447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Решение системы уравнений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3659" y="1436293"/>
            <a:ext cx="5039533" cy="1416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" y="3909054"/>
            <a:ext cx="3151456" cy="10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815" y="3943156"/>
            <a:ext cx="1962549" cy="10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969" y="3950245"/>
            <a:ext cx="1279684" cy="1153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139" y="3368731"/>
            <a:ext cx="2880320" cy="267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5516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Теорема о разделяющей гиперплоскости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Теорема (о разделяющей гиперплоскости). </a:t>
            </a:r>
            <a:r>
              <a:rPr lang="ru-RU" sz="1600" i="1" dirty="0"/>
              <a:t>Если в линейном пространстве заданы два непересекающихся выпуклых множества K</a:t>
            </a:r>
            <a:r>
              <a:rPr lang="ru-RU" sz="1600" dirty="0"/>
              <a:t>1 </a:t>
            </a:r>
            <a:r>
              <a:rPr lang="ru-RU" sz="1600" i="1" dirty="0"/>
              <a:t>и K</a:t>
            </a:r>
            <a:r>
              <a:rPr lang="ru-RU" sz="1600" dirty="0"/>
              <a:t>2</a:t>
            </a:r>
            <a:r>
              <a:rPr lang="ru-RU" sz="1600" i="1" dirty="0"/>
              <a:t>, то существует разделяющая их гиперплоскость, т. е.</a:t>
            </a:r>
          </a:p>
          <a:p>
            <a:endParaRPr lang="ru-RU" sz="1600" i="1" dirty="0">
              <a:latin typeface="+mj-lt"/>
            </a:endParaRPr>
          </a:p>
          <a:p>
            <a:endParaRPr lang="ru-RU" sz="1600" i="1" dirty="0">
              <a:latin typeface="+mj-lt"/>
            </a:endParaRPr>
          </a:p>
          <a:p>
            <a:endParaRPr lang="ru-RU" sz="1600" i="1" dirty="0">
              <a:latin typeface="+mj-lt"/>
            </a:endParaRPr>
          </a:p>
          <a:p>
            <a:endParaRPr lang="ru-RU" sz="1600" i="1" dirty="0">
              <a:latin typeface="+mj-lt"/>
            </a:endParaRPr>
          </a:p>
          <a:p>
            <a:endParaRPr lang="ru-RU" sz="1600" i="1" dirty="0">
              <a:latin typeface="+mj-lt"/>
            </a:endParaRPr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Для случая, когда множества </a:t>
            </a:r>
            <a:r>
              <a:rPr lang="ru-RU" sz="1600" i="1" dirty="0"/>
              <a:t>K</a:t>
            </a:r>
            <a:r>
              <a:rPr lang="ru-RU" sz="1600" dirty="0"/>
              <a:t>1 и </a:t>
            </a:r>
            <a:r>
              <a:rPr lang="ru-RU" sz="1600" i="1" dirty="0"/>
              <a:t>K</a:t>
            </a:r>
            <a:r>
              <a:rPr lang="ru-RU" sz="1600" dirty="0"/>
              <a:t>2 касаются друг друга, имеется вариант этой теоремы, называемый </a:t>
            </a:r>
            <a:r>
              <a:rPr lang="ru-RU" sz="1600" i="1" dirty="0"/>
              <a:t>теоремой об опорной гиперплоскости.</a:t>
            </a:r>
          </a:p>
          <a:p>
            <a:endParaRPr lang="ru-RU" sz="1600" i="1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723" y="2237342"/>
            <a:ext cx="2496277" cy="819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189" y="2152815"/>
            <a:ext cx="2266659" cy="166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14257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Симплекс (графическая интерпретация)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9"/>
            <a:ext cx="1045405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Симплекс — это выпуклая оболочка </a:t>
            </a:r>
            <a:r>
              <a:rPr lang="ru-RU" sz="1600" i="1" dirty="0"/>
              <a:t>n </a:t>
            </a:r>
            <a:r>
              <a:rPr lang="ru-RU" sz="1600" dirty="0"/>
              <a:t>+ 1 точек, не лежащих в </a:t>
            </a:r>
            <a:r>
              <a:rPr lang="ru-RU" sz="1600" i="1" dirty="0"/>
              <a:t>n</a:t>
            </a:r>
            <a:r>
              <a:rPr lang="ru-RU" sz="1600" dirty="0"/>
              <a:t>-мерной гиперплоскости. Таким образом, одномерный симплекс представляет собой отрезок, двумерный — треугольник, трехмерный — тетраэдр и т. д.</a:t>
            </a:r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Определим </a:t>
            </a:r>
            <a:r>
              <a:rPr lang="ru-RU" sz="1600" b="1" dirty="0"/>
              <a:t>область допустимых решений (планов)</a:t>
            </a:r>
          </a:p>
          <a:p>
            <a:endParaRPr lang="ru-RU" sz="1600" dirty="0"/>
          </a:p>
          <a:p>
            <a:r>
              <a:rPr lang="ru-RU" sz="1600" dirty="0"/>
              <a:t>Функцию, заданную на точках плоскости, обычно отображают набором изолиний </a:t>
            </a:r>
          </a:p>
          <a:p>
            <a:pPr marL="228594" indent="-228594">
              <a:buFontTx/>
              <a:buChar char="-"/>
            </a:pPr>
            <a:r>
              <a:rPr lang="ru-RU" sz="1600" dirty="0" err="1"/>
              <a:t>изоцелевые</a:t>
            </a:r>
            <a:r>
              <a:rPr lang="ru-RU" sz="1600" dirty="0"/>
              <a:t> линии. Так как целевая функция линейна, то </a:t>
            </a:r>
            <a:r>
              <a:rPr lang="ru-RU" sz="1600" dirty="0" err="1"/>
              <a:t>изоцелевые</a:t>
            </a:r>
            <a:r>
              <a:rPr lang="ru-RU" sz="1600" dirty="0"/>
              <a:t> линии, </a:t>
            </a:r>
          </a:p>
          <a:p>
            <a:r>
              <a:rPr lang="ru-RU" sz="1600" dirty="0"/>
              <a:t>определяемые уравнением  </a:t>
            </a:r>
            <a:r>
              <a:rPr lang="fr-FR" sz="1600" i="1" dirty="0"/>
              <a:t>L</a:t>
            </a:r>
            <a:r>
              <a:rPr lang="fr-FR" sz="1600" dirty="0"/>
              <a:t>(</a:t>
            </a:r>
            <a:r>
              <a:rPr lang="fr-FR" sz="1600" i="1" dirty="0"/>
              <a:t>x</a:t>
            </a:r>
            <a:r>
              <a:rPr lang="fr-FR" sz="1600" baseline="-25000" dirty="0"/>
              <a:t>1</a:t>
            </a:r>
            <a:r>
              <a:rPr lang="fr-FR" sz="1600" i="1" dirty="0"/>
              <a:t>, x</a:t>
            </a:r>
            <a:r>
              <a:rPr lang="fr-FR" sz="1600" baseline="-25000" dirty="0"/>
              <a:t>2</a:t>
            </a:r>
            <a:r>
              <a:rPr lang="fr-FR" sz="1600" dirty="0"/>
              <a:t>) = </a:t>
            </a:r>
            <a:r>
              <a:rPr lang="fr-FR" sz="1600" i="1" dirty="0"/>
              <a:t>c</a:t>
            </a:r>
            <a:r>
              <a:rPr lang="fr-FR" sz="1600" baseline="-25000" dirty="0"/>
              <a:t>1</a:t>
            </a:r>
            <a:r>
              <a:rPr lang="fr-FR" sz="1600" i="1" dirty="0"/>
              <a:t>x</a:t>
            </a:r>
            <a:r>
              <a:rPr lang="fr-FR" sz="1600" baseline="-25000" dirty="0"/>
              <a:t>1</a:t>
            </a:r>
            <a:r>
              <a:rPr lang="fr-FR" sz="1600" dirty="0"/>
              <a:t> + </a:t>
            </a:r>
            <a:r>
              <a:rPr lang="fr-FR" sz="1600" i="1" dirty="0"/>
              <a:t>c</a:t>
            </a:r>
            <a:r>
              <a:rPr lang="fr-FR" sz="1600" baseline="-25000" dirty="0"/>
              <a:t>2</a:t>
            </a:r>
            <a:r>
              <a:rPr lang="fr-FR" sz="1600" i="1" dirty="0"/>
              <a:t>x</a:t>
            </a:r>
            <a:r>
              <a:rPr lang="fr-FR" sz="1600" baseline="-25000" dirty="0"/>
              <a:t>2</a:t>
            </a:r>
            <a:r>
              <a:rPr lang="fr-FR" sz="1600" dirty="0"/>
              <a:t> = const</a:t>
            </a:r>
            <a:r>
              <a:rPr lang="fr-FR" sz="1600" i="1" dirty="0"/>
              <a:t>,</a:t>
            </a:r>
          </a:p>
          <a:p>
            <a:r>
              <a:rPr lang="ru-RU" sz="1600" dirty="0"/>
              <a:t>представляют собой семейство параллельных прямых, угол наклона которых </a:t>
            </a:r>
          </a:p>
          <a:p>
            <a:r>
              <a:rPr lang="ru-RU" sz="1600" dirty="0"/>
              <a:t>определяется отношением коэффициентов </a:t>
            </a:r>
            <a:r>
              <a:rPr lang="ru-RU" sz="1600" i="1" dirty="0"/>
              <a:t>c</a:t>
            </a:r>
            <a:r>
              <a:rPr lang="ru-RU" sz="1600" baseline="-25000" dirty="0"/>
              <a:t>1</a:t>
            </a:r>
            <a:r>
              <a:rPr lang="ru-RU" sz="1600" dirty="0"/>
              <a:t> и </a:t>
            </a:r>
            <a:r>
              <a:rPr lang="ru-RU" sz="1600" i="1" dirty="0"/>
              <a:t>c</a:t>
            </a:r>
            <a:r>
              <a:rPr lang="ru-RU" sz="1600" baseline="-25000" dirty="0"/>
              <a:t>2</a:t>
            </a:r>
            <a:r>
              <a:rPr lang="ru-RU" sz="1600" dirty="0"/>
              <a:t>.</a:t>
            </a:r>
          </a:p>
          <a:p>
            <a:r>
              <a:rPr lang="ru-RU" sz="1600" dirty="0"/>
              <a:t>С увеличением </a:t>
            </a:r>
            <a:r>
              <a:rPr lang="ru-RU" sz="1600" dirty="0" err="1"/>
              <a:t>const</a:t>
            </a:r>
            <a:r>
              <a:rPr lang="ru-RU" sz="1600" dirty="0"/>
              <a:t> прямая смещается вправо, что показано стрелкой.</a:t>
            </a:r>
          </a:p>
          <a:p>
            <a:endParaRPr lang="ru-RU" sz="1600" dirty="0"/>
          </a:p>
          <a:p>
            <a:r>
              <a:rPr lang="ru-RU" sz="1600" dirty="0"/>
              <a:t>Решая эту систему уравнений, находим </a:t>
            </a:r>
            <a:r>
              <a:rPr lang="ru-RU" sz="1600" i="1" dirty="0"/>
              <a:t>x</a:t>
            </a:r>
            <a:r>
              <a:rPr lang="ru-RU" sz="1600" i="1" baseline="-25000" dirty="0"/>
              <a:t>1</a:t>
            </a:r>
            <a:r>
              <a:rPr lang="en-GB" sz="1600" dirty="0"/>
              <a:t> = 3</a:t>
            </a:r>
            <a:r>
              <a:rPr lang="en-GB" sz="1600" i="1" dirty="0"/>
              <a:t>, x</a:t>
            </a:r>
            <a:r>
              <a:rPr lang="ru-RU" sz="1600" baseline="-25000" dirty="0"/>
              <a:t>2</a:t>
            </a:r>
            <a:r>
              <a:rPr lang="ru-RU" sz="1600" dirty="0"/>
              <a:t> = 4</a:t>
            </a:r>
          </a:p>
          <a:p>
            <a:endParaRPr lang="ru-RU" sz="1600" dirty="0"/>
          </a:p>
          <a:p>
            <a:endParaRPr lang="ru-RU" sz="16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32" y="2104390"/>
            <a:ext cx="2760464" cy="1348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277" y="3330258"/>
            <a:ext cx="2880320" cy="272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78130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Симплекс (графическая интерпретация)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9"/>
            <a:ext cx="104540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1. Множество планов задачи линейного программирования является выпуклым многогранником с конечным числом крайних точек, либо выпуклой неограниченной многогранной областью.</a:t>
            </a:r>
          </a:p>
          <a:p>
            <a:endParaRPr lang="ru-RU" sz="1600" dirty="0"/>
          </a:p>
          <a:p>
            <a:r>
              <a:rPr lang="ru-RU" sz="1600" dirty="0"/>
              <a:t>2. Оптимальный план, если он существует, находится в крайней точке множества планов. Если </a:t>
            </a:r>
            <a:r>
              <a:rPr lang="ru-RU" sz="1600" dirty="0" err="1"/>
              <a:t>изоцелевая</a:t>
            </a:r>
            <a:r>
              <a:rPr lang="ru-RU" sz="1600" dirty="0"/>
              <a:t> гиперплоскость совпадает с одной из граней многогранника, то все крайние точки, лежащие на этой грани, имеют равное значение целевой функции.</a:t>
            </a:r>
          </a:p>
          <a:p>
            <a:endParaRPr lang="ru-RU" sz="1600" dirty="0"/>
          </a:p>
          <a:p>
            <a:r>
              <a:rPr lang="ru-RU" sz="1600" dirty="0">
                <a:solidFill>
                  <a:srgbClr val="FF0000"/>
                </a:solidFill>
              </a:rPr>
              <a:t>Может ли задача не иметь решения?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917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Симплекс (графическая интерпретация)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9"/>
            <a:ext cx="1045405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1. Множество планов задачи линейного программирования является выпуклым многогранником с конечным числом крайних точек, либо выпуклой неограниченной многогранной областью.</a:t>
            </a:r>
          </a:p>
          <a:p>
            <a:endParaRPr lang="ru-RU" sz="1600" dirty="0"/>
          </a:p>
          <a:p>
            <a:r>
              <a:rPr lang="ru-RU" sz="1600" dirty="0"/>
              <a:t>2. Оптимальный план, если он существует, находится в крайней точке множества планов. Если </a:t>
            </a:r>
            <a:r>
              <a:rPr lang="ru-RU" sz="1600" dirty="0" err="1"/>
              <a:t>изоцелевая</a:t>
            </a:r>
            <a:r>
              <a:rPr lang="ru-RU" sz="1600" dirty="0"/>
              <a:t> гиперплоскость совпадает с одной из граней многогранника, то все крайние точки, лежащие на этой грани, имеют равное значение целевой функции.</a:t>
            </a:r>
          </a:p>
          <a:p>
            <a:endParaRPr lang="ru-RU" sz="1600" dirty="0"/>
          </a:p>
          <a:p>
            <a:r>
              <a:rPr lang="ru-RU" sz="1600" dirty="0"/>
              <a:t>Задача может не иметь решения только в двух случаях:</a:t>
            </a:r>
          </a:p>
          <a:p>
            <a:r>
              <a:rPr lang="en-GB" sz="1600" dirty="0"/>
              <a:t>a) </a:t>
            </a:r>
            <a:r>
              <a:rPr lang="ru-RU" sz="1600" dirty="0"/>
              <a:t>когда множество планов пусто, т. е. условия задачи противоречивы;</a:t>
            </a:r>
          </a:p>
          <a:p>
            <a:r>
              <a:rPr lang="ru-RU" sz="1600" dirty="0"/>
              <a:t>б) когда множество планов </a:t>
            </a:r>
            <a:r>
              <a:rPr lang="ru-RU" sz="1600" dirty="0" err="1"/>
              <a:t>неограничено</a:t>
            </a:r>
            <a:r>
              <a:rPr lang="ru-RU" sz="1600" dirty="0"/>
              <a:t> в сторону оптимизации, поэтому целевая функция также </a:t>
            </a:r>
            <a:r>
              <a:rPr lang="ru-RU" sz="1600" dirty="0" err="1"/>
              <a:t>неограничена</a:t>
            </a:r>
            <a:r>
              <a:rPr lang="ru-RU" sz="1600" dirty="0"/>
              <a:t> сверху или снизу.</a:t>
            </a:r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4245" y="4005064"/>
            <a:ext cx="1746251" cy="1619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01914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Симплекс метод в общем виде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67" y="1316765"/>
            <a:ext cx="6450012" cy="3256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70" y="4573176"/>
            <a:ext cx="6174951" cy="48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131" y="1703557"/>
            <a:ext cx="4268331" cy="3113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96411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Симплекс метод в общем виде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9"/>
            <a:ext cx="1045405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Определение. </a:t>
            </a:r>
            <a:r>
              <a:rPr lang="ru-RU" sz="1600" i="1" dirty="0"/>
              <a:t>План X </a:t>
            </a:r>
            <a:r>
              <a:rPr lang="ru-RU" sz="1600" dirty="0"/>
              <a:t>= (</a:t>
            </a:r>
            <a:r>
              <a:rPr lang="ru-RU" sz="1600" i="1" dirty="0"/>
              <a:t>x</a:t>
            </a:r>
            <a:r>
              <a:rPr lang="ru-RU" sz="1600" baseline="-25000" dirty="0"/>
              <a:t>1</a:t>
            </a:r>
            <a:r>
              <a:rPr lang="ru-RU" sz="1600" i="1" dirty="0"/>
              <a:t>, . . . , </a:t>
            </a:r>
            <a:r>
              <a:rPr lang="ru-RU" sz="1600" i="1" dirty="0" err="1"/>
              <a:t>x</a:t>
            </a:r>
            <a:r>
              <a:rPr lang="ru-RU" sz="1600" i="1" baseline="-25000" dirty="0" err="1"/>
              <a:t>n</a:t>
            </a:r>
            <a:r>
              <a:rPr lang="ru-RU" sz="1600" dirty="0"/>
              <a:t>)</a:t>
            </a:r>
            <a:r>
              <a:rPr lang="ru-RU" sz="1600" i="1" baseline="30000" dirty="0"/>
              <a:t>T</a:t>
            </a:r>
            <a:r>
              <a:rPr lang="ru-RU" sz="1600" i="1" dirty="0"/>
              <a:t> задачи линейного программирования называется </a:t>
            </a:r>
            <a:r>
              <a:rPr lang="ru-RU" sz="1600" b="1" i="1" dirty="0"/>
              <a:t>опорным</a:t>
            </a:r>
            <a:r>
              <a:rPr lang="ru-RU" sz="1600" i="1" dirty="0"/>
              <a:t>, если векторы-</a:t>
            </a:r>
          </a:p>
          <a:p>
            <a:r>
              <a:rPr lang="ru-RU" sz="1600" i="1" dirty="0"/>
              <a:t>столбцы матрицы A, соответствующие ненулевым компонентам вектора </a:t>
            </a:r>
            <a:r>
              <a:rPr lang="en-GB" sz="1600" i="1" dirty="0"/>
              <a:t>X , </a:t>
            </a:r>
            <a:r>
              <a:rPr lang="ru-RU" sz="1600" i="1" dirty="0"/>
              <a:t>являются линейно независимыми.</a:t>
            </a:r>
          </a:p>
          <a:p>
            <a:endParaRPr lang="ru-RU" sz="1600" i="1" dirty="0">
              <a:latin typeface="+mj-lt"/>
            </a:endParaRPr>
          </a:p>
          <a:p>
            <a:r>
              <a:rPr lang="ru-RU" sz="1600" dirty="0"/>
              <a:t>Из определения следует, что в опорном плане имеется не более </a:t>
            </a:r>
            <a:r>
              <a:rPr lang="ru-RU" sz="1600" i="1" dirty="0"/>
              <a:t>r </a:t>
            </a:r>
            <a:r>
              <a:rPr lang="ru-RU" sz="1600" dirty="0"/>
              <a:t>ненулевых компонент, где </a:t>
            </a:r>
            <a:r>
              <a:rPr lang="ru-RU" sz="1600" i="1" dirty="0"/>
              <a:t>r =</a:t>
            </a:r>
            <a:r>
              <a:rPr lang="ru-RU" sz="1600" dirty="0"/>
              <a:t> рангу матрицы </a:t>
            </a:r>
            <a:r>
              <a:rPr lang="ru-RU" sz="1600" i="1" dirty="0"/>
              <a:t>A</a:t>
            </a:r>
            <a:r>
              <a:rPr lang="ru-RU" sz="1600" dirty="0"/>
              <a:t>. Если считать, что в условиях задачи нет линейно зависимых уравнений, то ранг равен числу уравнений </a:t>
            </a:r>
            <a:r>
              <a:rPr lang="ru-RU" sz="1600" i="1" dirty="0"/>
              <a:t>m.</a:t>
            </a:r>
            <a:r>
              <a:rPr lang="ru-RU" sz="1600" dirty="0"/>
              <a:t> </a:t>
            </a:r>
          </a:p>
          <a:p>
            <a:r>
              <a:rPr lang="ru-RU" sz="1600" dirty="0"/>
              <a:t>Тогда если в опорном плане имеется ровно </a:t>
            </a:r>
            <a:r>
              <a:rPr lang="ru-RU" sz="1600" i="1" dirty="0"/>
              <a:t>m </a:t>
            </a:r>
            <a:r>
              <a:rPr lang="ru-RU" sz="1600" dirty="0"/>
              <a:t>ненулевых компонент, то он является невырожденным, в противном</a:t>
            </a:r>
          </a:p>
          <a:p>
            <a:r>
              <a:rPr lang="ru-RU" sz="1600" dirty="0"/>
              <a:t>случае — вырожденным.</a:t>
            </a:r>
          </a:p>
          <a:p>
            <a:endParaRPr lang="ru-RU" sz="1600" dirty="0"/>
          </a:p>
          <a:p>
            <a:r>
              <a:rPr lang="ru-RU" sz="1600" b="1" dirty="0"/>
              <a:t>Свойство 3.</a:t>
            </a:r>
            <a:r>
              <a:rPr lang="ru-RU" sz="1600" dirty="0"/>
              <a:t> </a:t>
            </a:r>
            <a:r>
              <a:rPr lang="ru-RU" sz="1600" i="1" dirty="0"/>
              <a:t>План X является крайней точкой множества планов тогда и только тогда, когда он опорный.</a:t>
            </a:r>
          </a:p>
          <a:p>
            <a:endParaRPr lang="ru-RU" sz="1600" i="1" dirty="0"/>
          </a:p>
          <a:p>
            <a:endParaRPr lang="ru-RU" sz="1600" dirty="0"/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011" y="4005064"/>
            <a:ext cx="4224469" cy="1685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35360" y="3926039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dirty="0"/>
              <a:t>Этот фундаментальный вывод открывает следующий путь решения задачи линейного программирования. Следуя ему, для нахождения оптимального плана нужно:</a:t>
            </a:r>
          </a:p>
          <a:p>
            <a:r>
              <a:rPr lang="ru-RU" sz="1600" i="1" dirty="0"/>
              <a:t>• </a:t>
            </a:r>
            <a:r>
              <a:rPr lang="ru-RU" sz="1600" dirty="0"/>
              <a:t>найти все базисные решения соответствующей системы линейных уравнений;</a:t>
            </a:r>
          </a:p>
          <a:p>
            <a:r>
              <a:rPr lang="ru-RU" sz="1600" i="1" dirty="0"/>
              <a:t>• </a:t>
            </a:r>
            <a:r>
              <a:rPr lang="ru-RU" sz="1600" dirty="0"/>
              <a:t>выбрать из них неотрицательные;</a:t>
            </a:r>
          </a:p>
          <a:p>
            <a:r>
              <a:rPr lang="ru-RU" sz="1600" i="1" dirty="0"/>
              <a:t>• </a:t>
            </a:r>
            <a:r>
              <a:rPr lang="ru-RU" sz="1600" dirty="0"/>
              <a:t>подставляя выбранные решения в целевую функцию, найти</a:t>
            </a:r>
          </a:p>
          <a:p>
            <a:r>
              <a:rPr lang="ru-RU" sz="1600" dirty="0"/>
              <a:t>наилучшее.</a:t>
            </a:r>
          </a:p>
        </p:txBody>
      </p:sp>
    </p:spTree>
    <p:extLst>
      <p:ext uri="{BB962C8B-B14F-4D97-AF65-F5344CB8AC3E}">
        <p14:creationId xmlns:p14="http://schemas.microsoft.com/office/powerpoint/2010/main" val="924293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871" y="0"/>
            <a:ext cx="10896533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371" y="1700809"/>
            <a:ext cx="104540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792" indent="-304792">
              <a:buAutoNum type="arabicPeriod"/>
            </a:pPr>
            <a:r>
              <a:rPr lang="ru-RU" sz="1600" dirty="0"/>
              <a:t>Что такое базисное решение СЛУ? </a:t>
            </a:r>
          </a:p>
          <a:p>
            <a:pPr marL="304792" indent="-304792">
              <a:buAutoNum type="arabicPeriod"/>
            </a:pPr>
            <a:r>
              <a:rPr lang="ru-RU" sz="1600" dirty="0"/>
              <a:t>Дайте определение выпуклого множества</a:t>
            </a:r>
          </a:p>
          <a:p>
            <a:pPr marL="304792" indent="-304792">
              <a:buAutoNum type="arabicPeriod"/>
            </a:pPr>
            <a:r>
              <a:rPr lang="ru-RU" sz="1600" dirty="0"/>
              <a:t>Дайте определение гиперплоскости</a:t>
            </a:r>
          </a:p>
          <a:p>
            <a:pPr marL="304792" indent="-304792">
              <a:buAutoNum type="arabicPeriod"/>
            </a:pPr>
            <a:r>
              <a:rPr lang="ru-RU" sz="1600" dirty="0"/>
              <a:t>Дайте формулировку теоремы о разделяющей гиперплоскости</a:t>
            </a:r>
          </a:p>
          <a:p>
            <a:r>
              <a:rPr lang="ru-RU" sz="1600" dirty="0"/>
              <a:t>5.   Как построить на графике область допустимых решений системы линейных уравнений?</a:t>
            </a:r>
          </a:p>
          <a:p>
            <a:r>
              <a:rPr lang="ru-RU" sz="1600" dirty="0"/>
              <a:t>6.   В чем состоит суть графического метода решения задач линейного программирования</a:t>
            </a:r>
          </a:p>
          <a:p>
            <a:r>
              <a:rPr lang="ru-RU" sz="1600" dirty="0"/>
              <a:t>7.   Где расположено оптимальное решение на допустимой области?</a:t>
            </a:r>
          </a:p>
          <a:p>
            <a:r>
              <a:rPr lang="ru-RU" sz="1600" dirty="0"/>
              <a:t>8.   Как связаны между собой опорные решения и угловые точки множества планов?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59" y="37514"/>
            <a:ext cx="3074980" cy="252354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397" y="6094468"/>
            <a:ext cx="1498599" cy="711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32579" y="344785"/>
            <a:ext cx="644728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867" dirty="0">
                <a:solidFill>
                  <a:schemeClr val="bg1"/>
                </a:solidFill>
                <a:latin typeface="Arial Black" pitchFamily="34" charset="0"/>
              </a:rPr>
              <a:t>?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378" y="510265"/>
            <a:ext cx="2950676" cy="126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5385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" y="1402080"/>
            <a:ext cx="469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5671" y="406299"/>
            <a:ext cx="9131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1">
                    <a:lumMod val="75000"/>
                  </a:schemeClr>
                </a:solidFill>
                <a:latin typeface="PT Sans" panose="020B0503020203020204" pitchFamily="34" charset="-52"/>
              </a:rPr>
              <a:t>Практическое задание №2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6358071"/>
            <a:ext cx="12192000" cy="499929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15265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84B3BB0-AC19-6A43-BDB3-255501AEF4FA}"/>
              </a:ext>
            </a:extLst>
          </p:cNvPr>
          <p:cNvSpPr txBox="1"/>
          <p:nvPr/>
        </p:nvSpPr>
        <p:spPr>
          <a:xfrm>
            <a:off x="1695672" y="1032748"/>
            <a:ext cx="101440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Распределить задания по командам (одна команда – одно задание)</a:t>
            </a:r>
          </a:p>
          <a:p>
            <a:endParaRPr lang="ru-RU" dirty="0"/>
          </a:p>
          <a:p>
            <a:pPr marL="342900" indent="-342900">
              <a:buAutoNum type="arabicPeriod" startAt="2"/>
            </a:pPr>
            <a:r>
              <a:rPr lang="ru-RU" dirty="0"/>
              <a:t>Решить каждой команде свое задание и рассказать преподавателю ход решения. Заданий 6 штук, значит  группы с номерами больше 6, вычитают из номера своей группы 6 и получают номер задания. </a:t>
            </a:r>
          </a:p>
          <a:p>
            <a:pPr marL="342900" indent="-342900">
              <a:buAutoNum type="arabicPeriod" startAt="2"/>
            </a:pPr>
            <a:endParaRPr lang="ru-RU" dirty="0"/>
          </a:p>
          <a:p>
            <a:pPr marL="342900" indent="-342900">
              <a:buAutoNum type="arabicPeriod" startAt="2"/>
            </a:pPr>
            <a:r>
              <a:rPr lang="ru-RU" dirty="0"/>
              <a:t>Ответить на дополнительные вопросы по теме решаемой задачи</a:t>
            </a:r>
            <a:endParaRPr lang="es-RU" dirty="0"/>
          </a:p>
        </p:txBody>
      </p:sp>
    </p:spTree>
    <p:extLst>
      <p:ext uri="{BB962C8B-B14F-4D97-AF65-F5344CB8AC3E}">
        <p14:creationId xmlns:p14="http://schemas.microsoft.com/office/powerpoint/2010/main" val="4680613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1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1. Стандартный вид графическим методом</a:t>
            </a:r>
            <a:endParaRPr lang="ru-RU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+mj-lt"/>
              </a:rPr>
              <a:t>Решить задачу оптимизации в стандартной форме графическим методом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24" y="2273300"/>
            <a:ext cx="8763000" cy="231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10362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1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2. Стандартный вид графическим методом</a:t>
            </a:r>
            <a:endParaRPr lang="ru-RU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+mj-lt"/>
              </a:rPr>
              <a:t>Решить задачу оптимизации в стандартной форме графическим методом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69" y="3753323"/>
            <a:ext cx="6177040" cy="1632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68" y="1892830"/>
            <a:ext cx="6144683" cy="19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79921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1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3. Стандартный вид графическим методом</a:t>
            </a:r>
            <a:endParaRPr lang="ru-RU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+mj-lt"/>
              </a:rPr>
              <a:t>Решить задачу оптимизации в стандартной форме графическим методом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138" y="1886391"/>
            <a:ext cx="7524452" cy="366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71568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2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4. Канонический вид графическим методом</a:t>
            </a:r>
            <a:endParaRPr lang="ru-RU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+mj-lt"/>
              </a:rPr>
              <a:t>Решить задачу оптимизации с ограничениями в канонической форме графическим методом</a:t>
            </a:r>
            <a:endParaRPr lang="en-US" sz="1600" dirty="0">
              <a:latin typeface="+mj-lt"/>
            </a:endParaRPr>
          </a:p>
          <a:p>
            <a:endParaRPr lang="en-US" sz="1600" dirty="0">
              <a:latin typeface="+mj-lt"/>
            </a:endParaRPr>
          </a:p>
          <a:p>
            <a:r>
              <a:rPr lang="en-US" sz="1600" dirty="0"/>
              <a:t>                                                                                       f(x) = x</a:t>
            </a:r>
            <a:r>
              <a:rPr lang="en-US" sz="1600" baseline="-25000" dirty="0"/>
              <a:t>1</a:t>
            </a:r>
            <a:r>
              <a:rPr lang="en-US" sz="1600" dirty="0"/>
              <a:t>+0,5x</a:t>
            </a:r>
            <a:r>
              <a:rPr lang="en-US" sz="1600" baseline="-25000" dirty="0"/>
              <a:t>2  </a:t>
            </a:r>
            <a:r>
              <a:rPr lang="en-US" sz="1600" dirty="0"/>
              <a:t>-&gt; min</a:t>
            </a:r>
          </a:p>
          <a:p>
            <a:endParaRPr lang="en-US" sz="1600" baseline="-25000" dirty="0"/>
          </a:p>
          <a:p>
            <a:endParaRPr lang="en-US" sz="1600" baseline="-25000" dirty="0"/>
          </a:p>
          <a:p>
            <a:endParaRPr lang="en-US" sz="1600" baseline="-25000" dirty="0"/>
          </a:p>
          <a:p>
            <a:endParaRPr lang="en-US" sz="1600" baseline="-25000" dirty="0"/>
          </a:p>
          <a:p>
            <a:endParaRPr lang="en-US" sz="1600" baseline="-25000" dirty="0"/>
          </a:p>
          <a:p>
            <a:endParaRPr lang="en-US" sz="1600" baseline="-25000" dirty="0"/>
          </a:p>
          <a:p>
            <a:endParaRPr lang="en-US" sz="1600" baseline="-25000" dirty="0"/>
          </a:p>
          <a:p>
            <a:endParaRPr lang="en-US" sz="1600" baseline="-25000" dirty="0"/>
          </a:p>
          <a:p>
            <a:endParaRPr lang="en-US" sz="1600" baseline="-25000" dirty="0"/>
          </a:p>
          <a:p>
            <a:endParaRPr lang="en-US" sz="1600" baseline="-25000" dirty="0"/>
          </a:p>
          <a:p>
            <a:endParaRPr lang="en-US" sz="1600" baseline="-25000" dirty="0"/>
          </a:p>
          <a:p>
            <a:endParaRPr lang="en-US" sz="1600" baseline="-25000" dirty="0"/>
          </a:p>
          <a:p>
            <a:r>
              <a:rPr lang="en-US" sz="1600" baseline="-25000" dirty="0"/>
              <a:t>			</a:t>
            </a:r>
            <a:r>
              <a:rPr lang="en-US" sz="1600" dirty="0"/>
              <a:t>                     </a:t>
            </a:r>
          </a:p>
          <a:p>
            <a:r>
              <a:rPr lang="en-US" sz="1600" baseline="-25000" dirty="0"/>
              <a:t>				 </a:t>
            </a:r>
            <a:r>
              <a:rPr lang="en-US" sz="1600" dirty="0"/>
              <a:t>x</a:t>
            </a:r>
            <a:r>
              <a:rPr lang="en-US" sz="1600" baseline="-25000" dirty="0"/>
              <a:t>i</a:t>
            </a:r>
            <a:r>
              <a:rPr lang="en-US" sz="1600" dirty="0"/>
              <a:t>&gt;=0</a:t>
            </a:r>
            <a:endParaRPr lang="ru-RU" sz="1600" baseline="-25000" dirty="0"/>
          </a:p>
          <a:p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3704" y="2852937"/>
            <a:ext cx="2429125" cy="1367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38420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1"/>
            <a:ext cx="940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5. Стандартный вид графическим методом </a:t>
            </a:r>
            <a:r>
              <a:rPr lang="en-US" sz="2400" dirty="0"/>
              <a:t>3D</a:t>
            </a:r>
            <a:endParaRPr lang="ru-RU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8"/>
            <a:ext cx="104540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+mj-lt"/>
              </a:rPr>
              <a:t>Решить задачу оптимизации с ограничениями в канонической форме графическим методом</a:t>
            </a:r>
            <a:r>
              <a:rPr lang="en-US" sz="1600" dirty="0">
                <a:latin typeface="+mj-lt"/>
              </a:rPr>
              <a:t> </a:t>
            </a:r>
            <a:r>
              <a:rPr lang="ru-RU" sz="1600" dirty="0">
                <a:latin typeface="+mj-lt"/>
              </a:rPr>
              <a:t>в </a:t>
            </a:r>
            <a:r>
              <a:rPr lang="en-US" sz="1600" dirty="0">
                <a:latin typeface="+mj-lt"/>
              </a:rPr>
              <a:t>3D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			F(x) = 5x</a:t>
            </a:r>
            <a:r>
              <a:rPr lang="en-US" sz="1600" baseline="-25000" dirty="0">
                <a:latin typeface="+mj-lt"/>
              </a:rPr>
              <a:t>1</a:t>
            </a:r>
            <a:r>
              <a:rPr lang="en-US" sz="1600" dirty="0">
                <a:latin typeface="+mj-lt"/>
              </a:rPr>
              <a:t>+2x</a:t>
            </a:r>
            <a:r>
              <a:rPr lang="en-US" sz="1600" baseline="-25000" dirty="0">
                <a:latin typeface="+mj-lt"/>
              </a:rPr>
              <a:t>2</a:t>
            </a:r>
            <a:r>
              <a:rPr lang="en-US" sz="1600" dirty="0">
                <a:latin typeface="+mj-lt"/>
              </a:rPr>
              <a:t>+x</a:t>
            </a:r>
            <a:r>
              <a:rPr lang="en-US" sz="1600" baseline="-25000" dirty="0">
                <a:latin typeface="+mj-lt"/>
              </a:rPr>
              <a:t>3</a:t>
            </a:r>
            <a:r>
              <a:rPr lang="en-US" sz="1600" dirty="0">
                <a:latin typeface="+mj-lt"/>
              </a:rPr>
              <a:t> -&gt; max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                                                   		      x</a:t>
            </a:r>
            <a:r>
              <a:rPr lang="en-US" sz="1600" baseline="-25000" dirty="0">
                <a:latin typeface="+mj-lt"/>
              </a:rPr>
              <a:t>1</a:t>
            </a:r>
            <a:r>
              <a:rPr lang="en-US" sz="1600" dirty="0">
                <a:latin typeface="+mj-lt"/>
              </a:rPr>
              <a:t> + x</a:t>
            </a:r>
            <a:r>
              <a:rPr lang="en-US" sz="1600" baseline="-25000" dirty="0">
                <a:latin typeface="+mj-lt"/>
              </a:rPr>
              <a:t>2</a:t>
            </a:r>
            <a:r>
              <a:rPr lang="en-US" sz="1600" dirty="0">
                <a:latin typeface="+mj-lt"/>
              </a:rPr>
              <a:t> + x</a:t>
            </a:r>
            <a:r>
              <a:rPr lang="en-US" sz="1600" baseline="-25000" dirty="0">
                <a:latin typeface="+mj-lt"/>
              </a:rPr>
              <a:t>3</a:t>
            </a:r>
            <a:r>
              <a:rPr lang="en-US" sz="1600" dirty="0">
                <a:latin typeface="+mj-lt"/>
              </a:rPr>
              <a:t> &lt;= 10</a:t>
            </a:r>
          </a:p>
          <a:p>
            <a:r>
              <a:rPr lang="en-US" sz="1600" dirty="0">
                <a:latin typeface="+mj-lt"/>
              </a:rPr>
              <a:t>                                                                                             x</a:t>
            </a:r>
            <a:r>
              <a:rPr lang="en-US" sz="1600" baseline="-25000" dirty="0">
                <a:latin typeface="+mj-lt"/>
              </a:rPr>
              <a:t>i</a:t>
            </a:r>
            <a:r>
              <a:rPr lang="en-US" sz="1600" dirty="0">
                <a:latin typeface="+mj-lt"/>
              </a:rPr>
              <a:t>&gt;=0</a:t>
            </a:r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7592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164723"/>
            <a:ext cx="10896533" cy="693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220755"/>
            <a:ext cx="9456373" cy="96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TextBox 11"/>
          <p:cNvSpPr txBox="1"/>
          <p:nvPr/>
        </p:nvSpPr>
        <p:spPr>
          <a:xfrm>
            <a:off x="143339" y="644691"/>
            <a:ext cx="10657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6. Стандартный вид методом перебора базисных решений СЛУ</a:t>
            </a:r>
            <a:endParaRPr lang="ru-RU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1241" y="1448729"/>
            <a:ext cx="10454051" cy="3129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+mj-lt"/>
              </a:rPr>
              <a:t>Решить задачу оптимизации с ограничениями в стандартной форме методом перебора базисных решений СЛУ</a:t>
            </a:r>
          </a:p>
          <a:p>
            <a:endParaRPr lang="ru-RU" sz="1600" dirty="0">
              <a:latin typeface="+mj-lt"/>
            </a:endParaRPr>
          </a:p>
          <a:p>
            <a:endParaRPr lang="ru-RU" sz="1600" dirty="0">
              <a:latin typeface="+mj-lt"/>
            </a:endParaRPr>
          </a:p>
          <a:p>
            <a:r>
              <a:rPr lang="ru-RU" sz="1600" dirty="0">
                <a:latin typeface="+mj-lt"/>
              </a:rPr>
              <a:t>                                                                        </a:t>
            </a:r>
            <a:r>
              <a:rPr lang="en-US" sz="1600" dirty="0">
                <a:latin typeface="+mj-lt"/>
              </a:rPr>
              <a:t>               f(x) = 2x</a:t>
            </a:r>
            <a:r>
              <a:rPr lang="en-US" sz="1600" baseline="-25000" dirty="0">
                <a:latin typeface="+mj-lt"/>
              </a:rPr>
              <a:t>1</a:t>
            </a:r>
            <a:r>
              <a:rPr lang="en-US" sz="1600" dirty="0">
                <a:latin typeface="+mj-lt"/>
              </a:rPr>
              <a:t>+x</a:t>
            </a:r>
            <a:r>
              <a:rPr lang="en-US" sz="1600" baseline="-25000" dirty="0">
                <a:latin typeface="+mj-lt"/>
              </a:rPr>
              <a:t>2  </a:t>
            </a:r>
            <a:r>
              <a:rPr lang="en-US" sz="1600" dirty="0">
                <a:latin typeface="+mj-lt"/>
              </a:rPr>
              <a:t>-&gt; min</a:t>
            </a:r>
          </a:p>
          <a:p>
            <a:endParaRPr lang="en-US" sz="1600" baseline="-25000" dirty="0">
              <a:latin typeface="+mj-lt"/>
            </a:endParaRPr>
          </a:p>
          <a:p>
            <a:endParaRPr lang="en-US" sz="1600" baseline="-25000" dirty="0">
              <a:latin typeface="+mj-lt"/>
            </a:endParaRPr>
          </a:p>
          <a:p>
            <a:endParaRPr lang="en-US" sz="1600" baseline="-25000" dirty="0">
              <a:latin typeface="+mj-lt"/>
            </a:endParaRPr>
          </a:p>
          <a:p>
            <a:endParaRPr lang="en-US" sz="1600" baseline="-25000" dirty="0">
              <a:latin typeface="+mj-lt"/>
            </a:endParaRPr>
          </a:p>
          <a:p>
            <a:endParaRPr lang="en-US" sz="1600" baseline="-25000" dirty="0">
              <a:latin typeface="+mj-lt"/>
            </a:endParaRPr>
          </a:p>
          <a:p>
            <a:endParaRPr lang="en-US" sz="1600" baseline="-25000" dirty="0">
              <a:latin typeface="+mj-lt"/>
            </a:endParaRPr>
          </a:p>
          <a:p>
            <a:endParaRPr lang="en-US" sz="1600" baseline="-25000" dirty="0">
              <a:latin typeface="+mj-lt"/>
            </a:endParaRPr>
          </a:p>
          <a:p>
            <a:endParaRPr lang="en-US" sz="1600" baseline="-25000" dirty="0">
              <a:latin typeface="+mj-lt"/>
            </a:endParaRPr>
          </a:p>
          <a:p>
            <a:endParaRPr lang="en-US" sz="1600" baseline="-25000" dirty="0">
              <a:latin typeface="+mj-lt"/>
            </a:endParaRPr>
          </a:p>
          <a:p>
            <a:endParaRPr lang="en-US" sz="1600" baseline="-25000" dirty="0">
              <a:latin typeface="+mj-lt"/>
            </a:endParaRPr>
          </a:p>
          <a:p>
            <a:endParaRPr lang="en-US" sz="1600" baseline="-25000" dirty="0">
              <a:latin typeface="+mj-lt"/>
            </a:endParaRPr>
          </a:p>
          <a:p>
            <a:r>
              <a:rPr lang="en-US" sz="1600" baseline="-25000" dirty="0">
                <a:latin typeface="+mj-lt"/>
              </a:rPr>
              <a:t>                                                                                                                                                                  </a:t>
            </a:r>
            <a:r>
              <a:rPr lang="en-US" sz="1600" dirty="0">
                <a:latin typeface="+mj-lt"/>
              </a:rPr>
              <a:t>x</a:t>
            </a:r>
            <a:r>
              <a:rPr lang="en-US" sz="1600" baseline="-25000" dirty="0">
                <a:latin typeface="+mj-lt"/>
              </a:rPr>
              <a:t>i</a:t>
            </a:r>
            <a:r>
              <a:rPr lang="en-US" sz="1600" dirty="0">
                <a:latin typeface="+mj-lt"/>
              </a:rPr>
              <a:t>&gt;=0</a:t>
            </a:r>
            <a:endParaRPr lang="ru-RU" sz="16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331" y="0"/>
            <a:ext cx="1291920" cy="685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400" y="6046383"/>
            <a:ext cx="1498600" cy="711200"/>
          </a:xfrm>
          <a:prstGeom prst="rect">
            <a:avLst/>
          </a:prstGeom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463" y="2745125"/>
            <a:ext cx="2429125" cy="1367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2168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18560</TotalTime>
  <Words>4319</Words>
  <Application>Microsoft Macintosh PowerPoint</Application>
  <PresentationFormat>Panorámica</PresentationFormat>
  <Paragraphs>512</Paragraphs>
  <Slides>57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57</vt:i4>
      </vt:variant>
    </vt:vector>
  </HeadingPairs>
  <TitlesOfParts>
    <vt:vector size="63" baseType="lpstr">
      <vt:lpstr>Arial</vt:lpstr>
      <vt:lpstr>Arial Black</vt:lpstr>
      <vt:lpstr>Calibri</vt:lpstr>
      <vt:lpstr>Calibri Light</vt:lpstr>
      <vt:lpstr>PT Sans</vt:lpstr>
      <vt:lpstr>Тема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Dudarin Pavel</cp:lastModifiedBy>
  <cp:revision>289</cp:revision>
  <dcterms:created xsi:type="dcterms:W3CDTF">2021-04-19T13:24:04Z</dcterms:created>
  <dcterms:modified xsi:type="dcterms:W3CDTF">2024-09-24T04:15:11Z</dcterms:modified>
</cp:coreProperties>
</file>