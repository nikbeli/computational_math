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87" r:id="rId2"/>
    <p:sldId id="410" r:id="rId3"/>
    <p:sldId id="411" r:id="rId4"/>
    <p:sldId id="412" r:id="rId5"/>
    <p:sldId id="413" r:id="rId6"/>
    <p:sldId id="414" r:id="rId7"/>
    <p:sldId id="405" r:id="rId8"/>
    <p:sldId id="429" r:id="rId9"/>
    <p:sldId id="415" r:id="rId10"/>
    <p:sldId id="416" r:id="rId11"/>
    <p:sldId id="417" r:id="rId12"/>
    <p:sldId id="418" r:id="rId13"/>
    <p:sldId id="419" r:id="rId14"/>
    <p:sldId id="420" r:id="rId15"/>
    <p:sldId id="421" r:id="rId16"/>
    <p:sldId id="422" r:id="rId17"/>
    <p:sldId id="423" r:id="rId18"/>
    <p:sldId id="424" r:id="rId19"/>
    <p:sldId id="425" r:id="rId20"/>
    <p:sldId id="426" r:id="rId21"/>
    <p:sldId id="427" r:id="rId22"/>
    <p:sldId id="431" r:id="rId23"/>
    <p:sldId id="432" r:id="rId24"/>
    <p:sldId id="433" r:id="rId25"/>
    <p:sldId id="434" r:id="rId26"/>
    <p:sldId id="435" r:id="rId27"/>
    <p:sldId id="436" r:id="rId28"/>
    <p:sldId id="437" r:id="rId2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4A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12"/>
    <p:restoredTop sz="94715"/>
  </p:normalViewPr>
  <p:slideViewPr>
    <p:cSldViewPr snapToGrid="0">
      <p:cViewPr varScale="1">
        <p:scale>
          <a:sx n="118" d="100"/>
          <a:sy n="118" d="100"/>
        </p:scale>
        <p:origin x="408" y="2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08E29F-B136-4320-B718-99224E7E1AF5}" type="datetimeFigureOut">
              <a:rPr lang="ru-RU" smtClean="0"/>
              <a:pPr/>
              <a:t>16.09.2024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5FBA70-BD6B-4DB4-92D4-9CFF0251AC11}" type="slidenum">
              <a:rPr lang="ru-RU" smtClean="0"/>
              <a:pPr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7111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FBA70-BD6B-4DB4-92D4-9CFF0251AC11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32298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FBA70-BD6B-4DB4-92D4-9CFF0251AC11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2445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FBA70-BD6B-4DB4-92D4-9CFF0251AC11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75297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FBA70-BD6B-4DB4-92D4-9CFF0251AC11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6270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FBA70-BD6B-4DB4-92D4-9CFF0251AC11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93870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FBA70-BD6B-4DB4-92D4-9CFF0251AC11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15695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FBA70-BD6B-4DB4-92D4-9CFF0251AC11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43561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FBA70-BD6B-4DB4-92D4-9CFF0251AC11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33290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FBA70-BD6B-4DB4-92D4-9CFF0251AC11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26426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FBA70-BD6B-4DB4-92D4-9CFF0251AC11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99585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FBA70-BD6B-4DB4-92D4-9CFF0251AC11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80060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FBA70-BD6B-4DB4-92D4-9CFF0251AC11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58846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FBA70-BD6B-4DB4-92D4-9CFF0251AC11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15346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FBA70-BD6B-4DB4-92D4-9CFF0251AC11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55508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FBA70-BD6B-4DB4-92D4-9CFF0251AC11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27141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FBA70-BD6B-4DB4-92D4-9CFF0251AC11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91007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FBA70-BD6B-4DB4-92D4-9CFF0251AC11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57277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FBA70-BD6B-4DB4-92D4-9CFF0251AC11}" type="slidenum">
              <a:rPr lang="ru-RU" smtClean="0"/>
              <a:pPr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32248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FBA70-BD6B-4DB4-92D4-9CFF0251AC11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04497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FBA70-BD6B-4DB4-92D4-9CFF0251AC11}" type="slidenum">
              <a:rPr lang="ru-RU" smtClean="0"/>
              <a:pPr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9457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FBA70-BD6B-4DB4-92D4-9CFF0251AC11}" type="slidenum">
              <a:rPr lang="ru-RU" smtClean="0"/>
              <a:pPr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06865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FBA70-BD6B-4DB4-92D4-9CFF0251AC11}" type="slidenum">
              <a:rPr lang="ru-RU" smtClean="0"/>
              <a:pPr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78795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FBA70-BD6B-4DB4-92D4-9CFF0251AC11}" type="slidenum">
              <a:rPr lang="ru-RU" smtClean="0"/>
              <a:pPr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14734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FBA70-BD6B-4DB4-92D4-9CFF0251AC11}" type="slidenum">
              <a:rPr lang="ru-RU" smtClean="0"/>
              <a:pPr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67653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FBA70-BD6B-4DB4-92D4-9CFF0251AC11}" type="slidenum">
              <a:rPr lang="ru-RU" smtClean="0"/>
              <a:pPr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201951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FBA70-BD6B-4DB4-92D4-9CFF0251AC11}" type="slidenum">
              <a:rPr lang="ru-RU" smtClean="0"/>
              <a:pPr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617853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FBA70-BD6B-4DB4-92D4-9CFF0251AC11}" type="slidenum">
              <a:rPr lang="ru-RU" smtClean="0"/>
              <a:pPr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761387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FBA70-BD6B-4DB4-92D4-9CFF0251AC11}" type="slidenum">
              <a:rPr lang="ru-RU" smtClean="0"/>
              <a:pPr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31035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E2A4E2-329E-4A4B-B44A-A616ECC569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4B5C5CD-7B78-4053-B74D-725447E6D6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C155FE-C85A-44DA-80A5-BFE260925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B12E-09F9-4A42-8633-91B79DAE53B2}" type="datetimeFigureOut">
              <a:rPr lang="ru-RU" smtClean="0"/>
              <a:pPr/>
              <a:t>16.09.2024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DDC4F2-4524-42C3-B630-FCA2A5043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FEF37A-025D-4335-B37C-EF2AECB78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22FF-6F83-4E26-93DF-E6DE79D7B39D}" type="slidenum">
              <a:rPr lang="ru-RU" smtClean="0"/>
              <a:pPr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4173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ABB643-B587-404A-8344-DB97C3FCD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8CBBD5-C95A-4304-99E1-5DA1102E2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16445E9-0EAD-4814-8A1B-BAE2A5E7C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B12E-09F9-4A42-8633-91B79DAE53B2}" type="datetimeFigureOut">
              <a:rPr lang="ru-RU" smtClean="0"/>
              <a:pPr/>
              <a:t>16.09.2024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D1EB48-4C60-4D6C-B25B-B8645124E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4E27CBD-4D2C-42B3-8D8A-7101AB53E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22FF-6F83-4E26-93DF-E6DE79D7B39D}" type="slidenum">
              <a:rPr lang="ru-RU" smtClean="0"/>
              <a:pPr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1191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049D51-8218-44DC-AE29-39D78A28B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F01B9B5-4F62-4600-921E-332F9AB68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C75EB1D-5432-4EFF-9A1C-84857CDCE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B12E-09F9-4A42-8633-91B79DAE53B2}" type="datetimeFigureOut">
              <a:rPr lang="ru-RU" smtClean="0"/>
              <a:pPr/>
              <a:t>16.09.2024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F7DEA1-A965-4EE3-A9C3-B1D3C52F8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E3D38D-ACA6-4EC0-BB4C-6C1B2299A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22FF-6F83-4E26-93DF-E6DE79D7B39D}" type="slidenum">
              <a:rPr lang="ru-RU" smtClean="0"/>
              <a:pPr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1894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8C1C70-BDD6-48E6-B53C-8C8A55793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0471C2-9346-43DB-B120-950AFF60C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D1F305B-0EBE-4823-BB63-12943915AA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2F16978-D488-4CA0-89EF-FA63FFA02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B12E-09F9-4A42-8633-91B79DAE53B2}" type="datetimeFigureOut">
              <a:rPr lang="ru-RU" smtClean="0"/>
              <a:pPr/>
              <a:t>16.09.2024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91DD534-B533-4E8C-BAC7-52F334568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BAED044-067F-4A73-9AAD-C90E08001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22FF-6F83-4E26-93DF-E6DE79D7B39D}" type="slidenum">
              <a:rPr lang="ru-RU" smtClean="0"/>
              <a:pPr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9969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2F35E6-A339-4F44-9622-9DEA622B0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F3D7D9C-8515-4B94-9508-FA159DE22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4981837-4D60-4858-B952-E2FB3BBE9E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3A152B1-D8BD-4614-958B-113F9346A6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165B602-C8B7-42EE-B631-B4BF7081A6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4C770B9-701F-40B6-AAA9-B270219EA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B12E-09F9-4A42-8633-91B79DAE53B2}" type="datetimeFigureOut">
              <a:rPr lang="ru-RU" smtClean="0"/>
              <a:pPr/>
              <a:t>16.09.2024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22310EE-E8FE-46A5-8007-18A9F0B24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A1A46E3-7D1D-4A54-BD9E-C7FFD1850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22FF-6F83-4E26-93DF-E6DE79D7B39D}" type="slidenum">
              <a:rPr lang="ru-RU" smtClean="0"/>
              <a:pPr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1148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CF4DD2-BD88-4707-BCEA-9D2718C41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4128B03-DC37-40BF-97ED-43D62DA5B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B12E-09F9-4A42-8633-91B79DAE53B2}" type="datetimeFigureOut">
              <a:rPr lang="ru-RU" smtClean="0"/>
              <a:pPr/>
              <a:t>16.09.2024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212B847-E6C7-4FCC-B443-BDE74773B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40E268B-FCFC-41A0-B78D-AD7F5F810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22FF-6F83-4E26-93DF-E6DE79D7B39D}" type="slidenum">
              <a:rPr lang="ru-RU" smtClean="0"/>
              <a:pPr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0726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73A9EF4-5365-4FB8-BD85-AFB464ECD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B12E-09F9-4A42-8633-91B79DAE53B2}" type="datetimeFigureOut">
              <a:rPr lang="ru-RU" smtClean="0"/>
              <a:pPr/>
              <a:t>16.09.2024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0856D66-952D-4A5C-A1AB-0EDB032BE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3256873-4C73-4E06-95C0-7018655F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22FF-6F83-4E26-93DF-E6DE79D7B39D}" type="slidenum">
              <a:rPr lang="ru-RU" smtClean="0"/>
              <a:pPr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8078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C4616C-7112-4C21-B9AB-C464E8D47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FA6F4E-AC6B-49E6-99CE-9200606B2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B24C889-F1A0-4E7C-A873-E707EBFA2A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DD51719-5077-46EC-A991-42128E5E7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B12E-09F9-4A42-8633-91B79DAE53B2}" type="datetimeFigureOut">
              <a:rPr lang="ru-RU" smtClean="0"/>
              <a:pPr/>
              <a:t>16.09.2024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8B16B4A-67C3-4FD0-A96A-22C0AFD24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70173C5-717B-4F3D-9BFE-E9D6B6A16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22FF-6F83-4E26-93DF-E6DE79D7B39D}" type="slidenum">
              <a:rPr lang="ru-RU" smtClean="0"/>
              <a:pPr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3297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05CB46-3021-4537-BA28-7170509A4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065A7DA-316D-4E94-81F5-EEBC5846E4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FDD228-7D09-4FA9-8E69-C96699C462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93F4B59-E515-4088-BADC-600D6B82F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B12E-09F9-4A42-8633-91B79DAE53B2}" type="datetimeFigureOut">
              <a:rPr lang="ru-RU" smtClean="0"/>
              <a:pPr/>
              <a:t>16.09.2024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DDB93C9-4273-4886-A7CC-C35C5B100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CC78BA5-2C60-45E5-BC1C-0E5DB648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22FF-6F83-4E26-93DF-E6DE79D7B39D}" type="slidenum">
              <a:rPr lang="ru-RU" smtClean="0"/>
              <a:pPr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3385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9EFC0D-7CE7-4054-944C-2B5771849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3D96205-B7DC-4FB1-B8CD-EECF46371F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2C0994-9E76-4334-B397-1B129850C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B12E-09F9-4A42-8633-91B79DAE53B2}" type="datetimeFigureOut">
              <a:rPr lang="ru-RU" smtClean="0"/>
              <a:pPr/>
              <a:t>16.09.2024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758DAD9-D444-4E21-81C2-A75C98AD2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E29954-11B3-41F0-A9A7-2AF9960A1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22FF-6F83-4E26-93DF-E6DE79D7B39D}" type="slidenum">
              <a:rPr lang="ru-RU" smtClean="0"/>
              <a:pPr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1393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5EDE96E-F4AC-4361-A59D-5284F89F2D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5FED631-8316-4373-9D4B-68D4747DCE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F2DD9D-12CD-4B84-9276-9A60DE6AA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B12E-09F9-4A42-8633-91B79DAE53B2}" type="datetimeFigureOut">
              <a:rPr lang="ru-RU" smtClean="0"/>
              <a:pPr/>
              <a:t>16.09.2024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75BBD5-7646-46E9-B3A1-57DE994F0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F23C25-D330-45E8-AD86-DB7A08B7B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22FF-6F83-4E26-93DF-E6DE79D7B39D}" type="slidenum">
              <a:rPr lang="ru-RU" smtClean="0"/>
              <a:pPr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5729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0841F3-1442-45DA-992E-A959969C3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61045B3-FF43-4CFF-81F8-6A1632002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8D6405-8B8B-496D-940B-777F4CCC4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2B12E-09F9-4A42-8633-91B79DAE53B2}" type="datetimeFigureOut">
              <a:rPr lang="ru-RU" smtClean="0"/>
              <a:pPr/>
              <a:t>16.09.2024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E8012C-E990-44BB-8052-A055E16420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EEDB793-D120-4A2A-AB46-88D5FB97C9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1822FF-6F83-4E26-93DF-E6DE79D7B39D}" type="slidenum">
              <a:rPr lang="ru-RU" smtClean="0"/>
              <a:pPr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8078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5.png"/><Relationship Id="rId4" Type="http://schemas.openxmlformats.org/officeDocument/2006/relationships/image" Target="../media/image5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5.png"/><Relationship Id="rId4" Type="http://schemas.openxmlformats.org/officeDocument/2006/relationships/image" Target="../media/image5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55.png"/><Relationship Id="rId4" Type="http://schemas.openxmlformats.org/officeDocument/2006/relationships/image" Target="../media/image5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5.png"/><Relationship Id="rId4" Type="http://schemas.openxmlformats.org/officeDocument/2006/relationships/image" Target="../media/image5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5.png"/><Relationship Id="rId4" Type="http://schemas.openxmlformats.org/officeDocument/2006/relationships/image" Target="../media/image5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55.png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284A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90751"/>
            <a:ext cx="8248650" cy="4667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7648" y="2334140"/>
            <a:ext cx="1149409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Вычислительная математика</a:t>
            </a:r>
          </a:p>
          <a:p>
            <a:pPr algn="ctr"/>
            <a:endParaRPr lang="ru-RU" sz="3200" b="1" dirty="0">
              <a:solidFill>
                <a:srgbClr val="FFFFFF"/>
              </a:solidFill>
              <a:latin typeface="PT Sans"/>
              <a:ea typeface="PT Sans"/>
              <a:sym typeface="PT Sans"/>
            </a:endParaRPr>
          </a:p>
          <a:p>
            <a:pPr algn="ctr"/>
            <a:r>
              <a:rPr lang="ru-RU" sz="3200" b="1" dirty="0">
                <a:solidFill>
                  <a:srgbClr val="FFFFFF"/>
                </a:solidFill>
                <a:latin typeface="PT Sans"/>
                <a:sym typeface="PT Sans"/>
              </a:rPr>
              <a:t>Лекция 2</a:t>
            </a:r>
          </a:p>
          <a:p>
            <a:pPr algn="ctr"/>
            <a:r>
              <a:rPr lang="ru-RU" sz="3200" b="1" dirty="0">
                <a:solidFill>
                  <a:srgbClr val="FFFFFF"/>
                </a:solidFill>
                <a:latin typeface="PT Sans"/>
                <a:sym typeface="PT Sans"/>
              </a:rPr>
              <a:t>Системы линейных уравнений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5325" y="0"/>
            <a:ext cx="3876675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629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1" y="1402080"/>
            <a:ext cx="469392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ru-R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95671" y="406299"/>
            <a:ext cx="9131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</a:rPr>
              <a:t>Системы линейных уравнений (СЛУ)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6358071"/>
            <a:ext cx="12192000" cy="499929"/>
          </a:xfrm>
          <a:prstGeom prst="rect">
            <a:avLst/>
          </a:prstGeom>
          <a:solidFill>
            <a:srgbClr val="284A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152650" cy="685800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C30DE328-1C97-B247-A53B-F599AAF311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1730" y="887723"/>
            <a:ext cx="5600595" cy="5470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427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1" y="1402080"/>
            <a:ext cx="469392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ru-R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95671" y="406299"/>
            <a:ext cx="9131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</a:rPr>
              <a:t>Метод </a:t>
            </a:r>
            <a:r>
              <a:rPr lang="ru-RU" sz="2800" b="1" dirty="0" err="1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</a:rPr>
              <a:t>Крамера</a:t>
            </a:r>
            <a:endParaRPr lang="ru-RU" sz="2800" b="1" dirty="0">
              <a:solidFill>
                <a:schemeClr val="accent1">
                  <a:lumMod val="75000"/>
                </a:schemeClr>
              </a:solidFill>
              <a:latin typeface="PT Sans" panose="020B0503020203020204" pitchFamily="34" charset="-52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0" y="6358071"/>
            <a:ext cx="12192000" cy="499929"/>
          </a:xfrm>
          <a:prstGeom prst="rect">
            <a:avLst/>
          </a:prstGeom>
          <a:solidFill>
            <a:srgbClr val="284A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152650" cy="685800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8AE0330A-A05C-2245-A44E-D9E3A41EDA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2985" y="1070836"/>
            <a:ext cx="6308272" cy="187665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153060D-7A20-0542-A225-FFA5778699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2985" y="2976509"/>
            <a:ext cx="6395358" cy="76790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341CC80-5A7E-E74E-B61B-390C55E9DA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2985" y="3887765"/>
            <a:ext cx="6308272" cy="221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95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1" y="1402080"/>
            <a:ext cx="469392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ru-R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95671" y="406299"/>
            <a:ext cx="9131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</a:rPr>
              <a:t>Решение СЛУ через обратную матрицу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6358071"/>
            <a:ext cx="12192000" cy="499929"/>
          </a:xfrm>
          <a:prstGeom prst="rect">
            <a:avLst/>
          </a:prstGeom>
          <a:solidFill>
            <a:srgbClr val="284A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152650" cy="6858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7DF7FC9-D94A-7641-B352-25D5876616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7125" y="4474843"/>
            <a:ext cx="4633732" cy="1883228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7691373C-03DB-0940-8655-01144EF035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3220" y="912424"/>
            <a:ext cx="6003905" cy="5445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717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1" y="1402080"/>
            <a:ext cx="469392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ru-R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95671" y="406299"/>
            <a:ext cx="9131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</a:rPr>
              <a:t>Метод Гаусса решения СЛУ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6358071"/>
            <a:ext cx="12192000" cy="499929"/>
          </a:xfrm>
          <a:prstGeom prst="rect">
            <a:avLst/>
          </a:prstGeom>
          <a:solidFill>
            <a:srgbClr val="284A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152650" cy="685800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59C415E7-AD2E-384A-AE8B-7AFD60A51E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2919" y="885706"/>
            <a:ext cx="5027525" cy="536269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96ECBCC-9C9C-614F-AB4F-A7D773240F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0444" y="885706"/>
            <a:ext cx="5360487" cy="1937299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502AEAA-5F9E-2645-9EA7-C9417AB856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0444" y="2823005"/>
            <a:ext cx="5197006" cy="2151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181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1" y="1402080"/>
            <a:ext cx="469392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ru-R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95671" y="406299"/>
            <a:ext cx="9131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</a:rPr>
              <a:t>Рекомендации к использованию метода Гаусса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6358071"/>
            <a:ext cx="12192000" cy="499929"/>
          </a:xfrm>
          <a:prstGeom prst="rect">
            <a:avLst/>
          </a:prstGeom>
          <a:solidFill>
            <a:srgbClr val="284A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152650" cy="685800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6403915B-7824-E748-8A0C-398CC65A34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5671" y="929519"/>
            <a:ext cx="6045668" cy="4719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791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1" y="1402080"/>
            <a:ext cx="469392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ru-R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95671" y="406299"/>
            <a:ext cx="9131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</a:rPr>
              <a:t>Плохая обусловленность (1)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6358071"/>
            <a:ext cx="12192000" cy="499929"/>
          </a:xfrm>
          <a:prstGeom prst="rect">
            <a:avLst/>
          </a:prstGeom>
          <a:solidFill>
            <a:srgbClr val="284A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152650" cy="685800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34B979EA-708B-3845-BA01-0744EC35DF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2155" y="929518"/>
            <a:ext cx="5447169" cy="332679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AFC602D-9E91-B44D-83E3-31D50B429E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8555" y="929517"/>
            <a:ext cx="5243443" cy="402935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852497A-85E2-7A49-AA0B-2B198CF4CA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8045" y="5095501"/>
            <a:ext cx="5283953" cy="1125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31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1" y="1402080"/>
            <a:ext cx="469392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ru-R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95671" y="406299"/>
            <a:ext cx="9131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</a:rPr>
              <a:t>Плохая обусловленность (2)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152650" cy="6858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F11AC61-EE8E-814B-BAEB-339BE754AE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2400" y="3429000"/>
            <a:ext cx="5532724" cy="334191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96F87DA-E6AA-3844-A74D-623F9896B0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8514" y="929519"/>
            <a:ext cx="5536610" cy="2368852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4714C8F0-281B-7143-99AD-B3E444A954D4}"/>
              </a:ext>
            </a:extLst>
          </p:cNvPr>
          <p:cNvSpPr txBox="1"/>
          <p:nvPr/>
        </p:nvSpPr>
        <p:spPr>
          <a:xfrm>
            <a:off x="4985068" y="6173405"/>
            <a:ext cx="209005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dirty="0"/>
              <a:t>    </a:t>
            </a:r>
            <a:endParaRPr lang="es-RU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B5AF248-7612-904A-980D-C8F4927B467E}"/>
              </a:ext>
            </a:extLst>
          </p:cNvPr>
          <p:cNvSpPr txBox="1"/>
          <p:nvPr/>
        </p:nvSpPr>
        <p:spPr>
          <a:xfrm>
            <a:off x="1535975" y="6369317"/>
            <a:ext cx="344909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dirty="0"/>
              <a:t>  </a:t>
            </a:r>
            <a:endParaRPr lang="es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0" y="6358071"/>
            <a:ext cx="12192000" cy="499929"/>
          </a:xfrm>
          <a:prstGeom prst="rect">
            <a:avLst/>
          </a:prstGeom>
          <a:solidFill>
            <a:srgbClr val="284A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0775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1" y="1402080"/>
            <a:ext cx="469392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ru-R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95671" y="406299"/>
            <a:ext cx="9131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</a:rPr>
              <a:t>LU-</a:t>
            </a:r>
            <a:r>
              <a:rPr lang="ru-RU" sz="2800" b="1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</a:rPr>
              <a:t>разложение и метод </a:t>
            </a:r>
            <a:r>
              <a:rPr lang="ru-RU" sz="2800" b="1" dirty="0" err="1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</a:rPr>
              <a:t>Краута-Дулитла</a:t>
            </a:r>
            <a:r>
              <a:rPr lang="ru-RU" sz="2800" b="1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</a:rPr>
              <a:t> (1)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6358071"/>
            <a:ext cx="12192000" cy="499929"/>
          </a:xfrm>
          <a:prstGeom prst="rect">
            <a:avLst/>
          </a:prstGeom>
          <a:solidFill>
            <a:srgbClr val="284A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152650" cy="685800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BC8663DD-FC51-6748-B202-2B1226F2D7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0329" y="929519"/>
            <a:ext cx="5763986" cy="76853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FA422E0-075B-9845-8776-BF79F8D992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5165" y="1698051"/>
            <a:ext cx="5554313" cy="387827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E35EBAD-A2EF-7F4D-BFE5-DCF1BB05B6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9478" y="942732"/>
            <a:ext cx="4917753" cy="3468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947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1" y="1402080"/>
            <a:ext cx="469392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ru-R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95671" y="406299"/>
            <a:ext cx="9131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</a:rPr>
              <a:t>LU-</a:t>
            </a:r>
            <a:r>
              <a:rPr lang="ru-RU" sz="2800" b="1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</a:rPr>
              <a:t>разложение и метод </a:t>
            </a:r>
            <a:r>
              <a:rPr lang="ru-RU" sz="2800" b="1" dirty="0" err="1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</a:rPr>
              <a:t>Краута-Дулитла</a:t>
            </a:r>
            <a:r>
              <a:rPr lang="ru-RU" sz="2800" b="1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</a:rPr>
              <a:t> (2)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6358071"/>
            <a:ext cx="12192000" cy="499929"/>
          </a:xfrm>
          <a:prstGeom prst="rect">
            <a:avLst/>
          </a:prstGeom>
          <a:solidFill>
            <a:srgbClr val="284A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152650" cy="685800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A41B0261-26A4-8B46-A03D-899755892C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424" y="961293"/>
            <a:ext cx="6169205" cy="248933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3D1A431-1808-D141-AFFE-3C435E84BB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0424" y="1269890"/>
            <a:ext cx="5289661" cy="5493823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A89692E3-0269-B243-864A-D49B6A2451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6607" y="942534"/>
            <a:ext cx="4997700" cy="199908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4A84987-F6E9-A44B-A4C8-AFEE11D195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8514" y="2951134"/>
            <a:ext cx="4995793" cy="381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640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1" y="1402080"/>
            <a:ext cx="469392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ru-R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95671" y="406299"/>
            <a:ext cx="9131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</a:rPr>
              <a:t>LU-</a:t>
            </a:r>
            <a:r>
              <a:rPr lang="ru-RU" sz="2800" b="1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</a:rPr>
              <a:t>разложение и метод </a:t>
            </a:r>
            <a:r>
              <a:rPr lang="ru-RU" sz="2800" b="1" dirty="0" err="1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</a:rPr>
              <a:t>Краута-Дулитла</a:t>
            </a:r>
            <a:r>
              <a:rPr lang="ru-RU" sz="2800" b="1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</a:rPr>
              <a:t> (пример)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6358071"/>
            <a:ext cx="12192000" cy="499929"/>
          </a:xfrm>
          <a:prstGeom prst="rect">
            <a:avLst/>
          </a:prstGeom>
          <a:solidFill>
            <a:srgbClr val="284A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152650" cy="685800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ECBF823F-4CD8-9340-94D4-ED5B53C895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5671" y="929519"/>
            <a:ext cx="5591788" cy="2746843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92700E2-5648-4745-A44C-8CD6B1A4BA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5671" y="3657599"/>
            <a:ext cx="5591788" cy="2700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538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1" y="1402080"/>
            <a:ext cx="469392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ru-R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95671" y="406299"/>
            <a:ext cx="10496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</a:rPr>
              <a:t>Метод прогонки для СЛУ с </a:t>
            </a:r>
            <a:r>
              <a:rPr lang="ru-RU" sz="2800" b="1" dirty="0" err="1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</a:rPr>
              <a:t>трехдиагональной</a:t>
            </a:r>
            <a:r>
              <a:rPr lang="ru-RU" sz="2800" b="1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</a:rPr>
              <a:t> матрицей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6358071"/>
            <a:ext cx="12192000" cy="499929"/>
          </a:xfrm>
          <a:prstGeom prst="rect">
            <a:avLst/>
          </a:prstGeom>
          <a:solidFill>
            <a:srgbClr val="284A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152650" cy="685800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54FB874F-0507-A149-BC0E-5129818348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6658" y="874712"/>
            <a:ext cx="5410868" cy="369342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AE046D1-06BD-CC40-84CD-9EA262E166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6658" y="4633291"/>
            <a:ext cx="5246061" cy="626663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EC26D64-BFF5-CF4B-AF14-739FD5D07E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2719" y="915729"/>
            <a:ext cx="5246061" cy="5022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6251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1" y="1402080"/>
            <a:ext cx="469392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ru-R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95671" y="406299"/>
            <a:ext cx="9131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</a:rPr>
              <a:t>Итерационные методы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6358071"/>
            <a:ext cx="12192000" cy="499929"/>
          </a:xfrm>
          <a:prstGeom prst="rect">
            <a:avLst/>
          </a:prstGeom>
          <a:solidFill>
            <a:srgbClr val="284A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152650" cy="685800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62960466-EDA8-CC44-80F8-500C56CE6F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9156" y="869712"/>
            <a:ext cx="6204065" cy="150337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FE96E1A-3B0D-C04E-8B9F-D793EBCDDE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2070" y="2373086"/>
            <a:ext cx="6107044" cy="3397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600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1" y="1402080"/>
            <a:ext cx="469392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ru-R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95671" y="406299"/>
            <a:ext cx="9131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</a:rPr>
              <a:t>Метод простой итерации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6358071"/>
            <a:ext cx="12192000" cy="499929"/>
          </a:xfrm>
          <a:prstGeom prst="rect">
            <a:avLst/>
          </a:prstGeom>
          <a:solidFill>
            <a:srgbClr val="284A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152650" cy="685800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0966DD8E-53BA-6A42-B08B-3FD4D50441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9212" y="888062"/>
            <a:ext cx="5522922" cy="413747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65C6A85-ADD7-0348-9B55-51CAB13A09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9212" y="5025541"/>
            <a:ext cx="5522922" cy="424115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04C484D8-059B-E140-ACC2-A87629334A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5705" y="888062"/>
            <a:ext cx="5366294" cy="280219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2E95D09-D035-454F-BDBD-54DD34A508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5705" y="3740344"/>
            <a:ext cx="5366295" cy="2802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4822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1" y="1402080"/>
            <a:ext cx="469392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ru-R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95671" y="406299"/>
            <a:ext cx="9131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</a:rPr>
              <a:t>Метод простой итерации (пример 1)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6358071"/>
            <a:ext cx="12192000" cy="499929"/>
          </a:xfrm>
          <a:prstGeom prst="rect">
            <a:avLst/>
          </a:prstGeom>
          <a:solidFill>
            <a:srgbClr val="284A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152650" cy="685800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6430F29E-265B-FE41-8C14-64EDB96541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5423" y="846911"/>
            <a:ext cx="5466609" cy="1306016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9D14CEE-6D53-944C-97AA-09B90F55AA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1949" y="2242456"/>
            <a:ext cx="5214872" cy="2892207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5002E28E-BBAA-3C49-BBE9-399D5E9E3F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821" y="929519"/>
            <a:ext cx="5370447" cy="362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903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1" y="1402080"/>
            <a:ext cx="469392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ru-R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95671" y="406299"/>
            <a:ext cx="9131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</a:rPr>
              <a:t>Метод простой итерации (пример 2)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6358071"/>
            <a:ext cx="12192000" cy="499929"/>
          </a:xfrm>
          <a:prstGeom prst="rect">
            <a:avLst/>
          </a:prstGeom>
          <a:solidFill>
            <a:srgbClr val="284A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152650" cy="685800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54793F9C-0502-D845-82F2-0901375DC3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3158" y="929519"/>
            <a:ext cx="6072413" cy="984436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8390C1D-0423-D147-9878-43E8776440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505" y="929519"/>
            <a:ext cx="5844266" cy="536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8731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1" y="1402080"/>
            <a:ext cx="469392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ru-R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95671" y="406299"/>
            <a:ext cx="9131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</a:rPr>
              <a:t>Метод Зейделя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6358071"/>
            <a:ext cx="12192000" cy="499929"/>
          </a:xfrm>
          <a:prstGeom prst="rect">
            <a:avLst/>
          </a:prstGeom>
          <a:solidFill>
            <a:srgbClr val="284A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152650" cy="685800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6516FD05-9CE1-414B-8CBF-C77701A14A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3841" y="820591"/>
            <a:ext cx="6161473" cy="155614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96F083F-B91C-1A49-9B3B-3D5EF21D34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3841" y="2331598"/>
            <a:ext cx="6255828" cy="452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019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1" y="1402080"/>
            <a:ext cx="469392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ru-R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95671" y="406299"/>
            <a:ext cx="9131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</a:rPr>
              <a:t>Метод релаксации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6358071"/>
            <a:ext cx="12192000" cy="499929"/>
          </a:xfrm>
          <a:prstGeom prst="rect">
            <a:avLst/>
          </a:prstGeom>
          <a:solidFill>
            <a:srgbClr val="284A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152650" cy="685800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546898E0-A5A4-074E-A933-3320D62971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9156" y="845457"/>
            <a:ext cx="5562758" cy="322753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CDA7699-C0A2-DB4F-B88A-172C81C02C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9155" y="4186700"/>
            <a:ext cx="5562757" cy="2610509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8E7C6324-27B2-0848-A59D-65AC31CB4D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9259" y="616403"/>
            <a:ext cx="5294512" cy="47253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13AA1BF-B699-634D-AA7D-4995B2D2A6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4643" y="5383889"/>
            <a:ext cx="5209128" cy="85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8059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1" y="1402080"/>
            <a:ext cx="469392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ru-R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95671" y="406299"/>
            <a:ext cx="9131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</a:rPr>
              <a:t>Прочие методы решения СЛУ 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6358071"/>
            <a:ext cx="12192000" cy="499929"/>
          </a:xfrm>
          <a:prstGeom prst="rect">
            <a:avLst/>
          </a:prstGeom>
          <a:solidFill>
            <a:srgbClr val="284A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152650" cy="685800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71C796D2-B210-D847-9987-07F0D31A89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3157" y="872131"/>
            <a:ext cx="5557624" cy="35565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3A26CB7C-4B39-CF4D-97C0-ACDA4713A9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3157" y="4428631"/>
            <a:ext cx="5577844" cy="866184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275B964-7636-2043-A839-D1B1C072BA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9186" y="4005193"/>
            <a:ext cx="5312813" cy="2293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5825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1" y="1402080"/>
            <a:ext cx="469392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ru-R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95671" y="406299"/>
            <a:ext cx="9131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</a:rPr>
              <a:t>Вопросы для самоконтроля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6358071"/>
            <a:ext cx="12192000" cy="499929"/>
          </a:xfrm>
          <a:prstGeom prst="rect">
            <a:avLst/>
          </a:prstGeom>
          <a:solidFill>
            <a:srgbClr val="284A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152650" cy="6858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6A80C7B-6B2B-D04A-A141-A8932F0FEE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2271" y="867350"/>
            <a:ext cx="7442200" cy="5969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789CC9D-3AE1-8D40-80DB-C1590613AF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2271" y="1464249"/>
            <a:ext cx="7442200" cy="433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3208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1695671" y="966486"/>
            <a:ext cx="469392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ru-R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95671" y="406299"/>
            <a:ext cx="9131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</a:rPr>
              <a:t>Практика для группы 1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6358071"/>
            <a:ext cx="12192000" cy="499929"/>
          </a:xfrm>
          <a:prstGeom prst="rect">
            <a:avLst/>
          </a:prstGeom>
          <a:solidFill>
            <a:srgbClr val="284A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15265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F2B68318-7411-5347-8262-AF58C7EE9AF2}"/>
              </a:ext>
            </a:extLst>
          </p:cNvPr>
          <p:cNvSpPr txBox="1"/>
          <p:nvPr/>
        </p:nvSpPr>
        <p:spPr>
          <a:xfrm>
            <a:off x="1600201" y="992100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1.</a:t>
            </a:r>
            <a:endParaRPr lang="es-RU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28C5964-E576-914E-BB09-0A9A902105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9595" y="2586684"/>
            <a:ext cx="7493000" cy="1016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E040600A-F61E-7045-8EDC-79CD3B0796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3595" y="3732230"/>
            <a:ext cx="1435100" cy="62230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29C13E27-77A8-F34C-97E5-03E3378EDB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9595" y="1080167"/>
            <a:ext cx="7023100" cy="25400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8643873B-1B81-FF4C-8BC1-54840F2A36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7273" y="1445571"/>
            <a:ext cx="1320800" cy="87630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E6D2C135-20B9-D044-B26B-6F03136E826F}"/>
              </a:ext>
            </a:extLst>
          </p:cNvPr>
          <p:cNvSpPr txBox="1"/>
          <p:nvPr/>
        </p:nvSpPr>
        <p:spPr>
          <a:xfrm>
            <a:off x="1665682" y="2522234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2.</a:t>
            </a:r>
            <a:endParaRPr lang="es-RU" dirty="0"/>
          </a:p>
        </p:txBody>
      </p:sp>
    </p:spTree>
    <p:extLst>
      <p:ext uri="{BB962C8B-B14F-4D97-AF65-F5344CB8AC3E}">
        <p14:creationId xmlns:p14="http://schemas.microsoft.com/office/powerpoint/2010/main" val="15519209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1695671" y="966486"/>
            <a:ext cx="469392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ru-R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95671" y="406299"/>
            <a:ext cx="9131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</a:rPr>
              <a:t>Практика для группы 2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6358071"/>
            <a:ext cx="12192000" cy="499929"/>
          </a:xfrm>
          <a:prstGeom prst="rect">
            <a:avLst/>
          </a:prstGeom>
          <a:solidFill>
            <a:srgbClr val="284A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15265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F2B68318-7411-5347-8262-AF58C7EE9AF2}"/>
              </a:ext>
            </a:extLst>
          </p:cNvPr>
          <p:cNvSpPr txBox="1"/>
          <p:nvPr/>
        </p:nvSpPr>
        <p:spPr>
          <a:xfrm>
            <a:off x="1600201" y="992100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1.</a:t>
            </a:r>
            <a:endParaRPr lang="es-RU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28C5964-E576-914E-BB09-0A9A902105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9595" y="2586684"/>
            <a:ext cx="7493000" cy="101600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29C13E27-77A8-F34C-97E5-03E3378EDB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9595" y="1080167"/>
            <a:ext cx="7023100" cy="25400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E6D2C135-20B9-D044-B26B-6F03136E826F}"/>
              </a:ext>
            </a:extLst>
          </p:cNvPr>
          <p:cNvSpPr txBox="1"/>
          <p:nvPr/>
        </p:nvSpPr>
        <p:spPr>
          <a:xfrm>
            <a:off x="1665682" y="2522234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2.</a:t>
            </a:r>
            <a:endParaRPr lang="es-RU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856643E0-DAE6-7748-A88F-BA5253F6BA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6123" y="3685019"/>
            <a:ext cx="1943100" cy="9398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09B237A-9DA9-1841-B54C-15B1D50995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0745" y="1484815"/>
            <a:ext cx="132080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8953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1695671" y="966486"/>
            <a:ext cx="469392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ru-R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95671" y="406299"/>
            <a:ext cx="9131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</a:rPr>
              <a:t>Практика для группы 3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6358071"/>
            <a:ext cx="12192000" cy="499929"/>
          </a:xfrm>
          <a:prstGeom prst="rect">
            <a:avLst/>
          </a:prstGeom>
          <a:solidFill>
            <a:srgbClr val="284A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15265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F2B68318-7411-5347-8262-AF58C7EE9AF2}"/>
              </a:ext>
            </a:extLst>
          </p:cNvPr>
          <p:cNvSpPr txBox="1"/>
          <p:nvPr/>
        </p:nvSpPr>
        <p:spPr>
          <a:xfrm>
            <a:off x="1600201" y="992100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1.</a:t>
            </a:r>
            <a:endParaRPr lang="es-RU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28C5964-E576-914E-BB09-0A9A902105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9595" y="2586684"/>
            <a:ext cx="7493000" cy="101600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29C13E27-77A8-F34C-97E5-03E3378EDB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9595" y="1080167"/>
            <a:ext cx="7023100" cy="25400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E6D2C135-20B9-D044-B26B-6F03136E826F}"/>
              </a:ext>
            </a:extLst>
          </p:cNvPr>
          <p:cNvSpPr txBox="1"/>
          <p:nvPr/>
        </p:nvSpPr>
        <p:spPr>
          <a:xfrm>
            <a:off x="1665682" y="2522234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2.</a:t>
            </a:r>
            <a:endParaRPr lang="es-RU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4F609F0-3DCF-E049-A763-98F33167DC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7387" y="3828253"/>
            <a:ext cx="1435100" cy="6223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947B8514-C110-0047-A6D5-987B7D6446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7387" y="1522275"/>
            <a:ext cx="132080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6286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1695671" y="966486"/>
            <a:ext cx="469392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ru-R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95671" y="406299"/>
            <a:ext cx="9131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</a:rPr>
              <a:t>Практика для группы 4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6358071"/>
            <a:ext cx="12192000" cy="499929"/>
          </a:xfrm>
          <a:prstGeom prst="rect">
            <a:avLst/>
          </a:prstGeom>
          <a:solidFill>
            <a:srgbClr val="284A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15265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F2B68318-7411-5347-8262-AF58C7EE9AF2}"/>
              </a:ext>
            </a:extLst>
          </p:cNvPr>
          <p:cNvSpPr txBox="1"/>
          <p:nvPr/>
        </p:nvSpPr>
        <p:spPr>
          <a:xfrm>
            <a:off x="1600201" y="992100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1.</a:t>
            </a:r>
            <a:endParaRPr lang="es-RU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28C5964-E576-914E-BB09-0A9A902105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9595" y="2586684"/>
            <a:ext cx="7493000" cy="101600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29C13E27-77A8-F34C-97E5-03E3378EDB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9595" y="1080167"/>
            <a:ext cx="7023100" cy="25400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E6D2C135-20B9-D044-B26B-6F03136E826F}"/>
              </a:ext>
            </a:extLst>
          </p:cNvPr>
          <p:cNvSpPr txBox="1"/>
          <p:nvPr/>
        </p:nvSpPr>
        <p:spPr>
          <a:xfrm>
            <a:off x="1665682" y="2522234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2.</a:t>
            </a:r>
            <a:endParaRPr lang="es-RU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2DC9A79-6BD9-834A-BBC8-949825E33A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7273" y="1516985"/>
            <a:ext cx="1320800" cy="87630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D702C094-35F3-8B4B-9F5A-D397CE4599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6123" y="3694292"/>
            <a:ext cx="1943100" cy="93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256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1695671" y="966486"/>
            <a:ext cx="469392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ru-R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95671" y="406299"/>
            <a:ext cx="9131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</a:rPr>
              <a:t>Практика для группы 5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6358071"/>
            <a:ext cx="12192000" cy="499929"/>
          </a:xfrm>
          <a:prstGeom prst="rect">
            <a:avLst/>
          </a:prstGeom>
          <a:solidFill>
            <a:srgbClr val="284A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15265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F2B68318-7411-5347-8262-AF58C7EE9AF2}"/>
              </a:ext>
            </a:extLst>
          </p:cNvPr>
          <p:cNvSpPr txBox="1"/>
          <p:nvPr/>
        </p:nvSpPr>
        <p:spPr>
          <a:xfrm>
            <a:off x="1600201" y="992100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1.</a:t>
            </a:r>
            <a:endParaRPr lang="es-RU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28C5964-E576-914E-BB09-0A9A902105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9595" y="2586684"/>
            <a:ext cx="7493000" cy="101600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29C13E27-77A8-F34C-97E5-03E3378EDB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9595" y="1080167"/>
            <a:ext cx="7023100" cy="25400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8643873B-1B81-FF4C-8BC1-54840F2A36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7273" y="1445571"/>
            <a:ext cx="1320800" cy="87630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E6D2C135-20B9-D044-B26B-6F03136E826F}"/>
              </a:ext>
            </a:extLst>
          </p:cNvPr>
          <p:cNvSpPr txBox="1"/>
          <p:nvPr/>
        </p:nvSpPr>
        <p:spPr>
          <a:xfrm>
            <a:off x="1665682" y="2522234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2.</a:t>
            </a:r>
            <a:endParaRPr lang="es-RU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21BC04A8-9E57-7E44-B2E2-87B5D5A216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2023" y="3811824"/>
            <a:ext cx="15113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8455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1695671" y="966486"/>
            <a:ext cx="469392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ru-R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95671" y="406299"/>
            <a:ext cx="9131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</a:rPr>
              <a:t>Практика для группы 6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6358071"/>
            <a:ext cx="12192000" cy="499929"/>
          </a:xfrm>
          <a:prstGeom prst="rect">
            <a:avLst/>
          </a:prstGeom>
          <a:solidFill>
            <a:srgbClr val="284A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15265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F2B68318-7411-5347-8262-AF58C7EE9AF2}"/>
              </a:ext>
            </a:extLst>
          </p:cNvPr>
          <p:cNvSpPr txBox="1"/>
          <p:nvPr/>
        </p:nvSpPr>
        <p:spPr>
          <a:xfrm>
            <a:off x="1600201" y="992100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1.</a:t>
            </a:r>
            <a:endParaRPr lang="es-RU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28C5964-E576-914E-BB09-0A9A902105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9595" y="2586684"/>
            <a:ext cx="7493000" cy="101600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29C13E27-77A8-F34C-97E5-03E3378EDB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9595" y="1080167"/>
            <a:ext cx="7023100" cy="25400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E6D2C135-20B9-D044-B26B-6F03136E826F}"/>
              </a:ext>
            </a:extLst>
          </p:cNvPr>
          <p:cNvSpPr txBox="1"/>
          <p:nvPr/>
        </p:nvSpPr>
        <p:spPr>
          <a:xfrm>
            <a:off x="1665682" y="2522234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2.</a:t>
            </a:r>
            <a:endParaRPr lang="es-RU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09B237A-9DA9-1841-B54C-15B1D50995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0745" y="1484815"/>
            <a:ext cx="1320800" cy="87630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C013132B-2B3E-1340-A8C1-BBAF75B2F3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0545" y="3828253"/>
            <a:ext cx="1981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9304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1695671" y="966486"/>
            <a:ext cx="469392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ru-R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95671" y="406299"/>
            <a:ext cx="9131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</a:rPr>
              <a:t>Практика для группы 7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6358071"/>
            <a:ext cx="12192000" cy="499929"/>
          </a:xfrm>
          <a:prstGeom prst="rect">
            <a:avLst/>
          </a:prstGeom>
          <a:solidFill>
            <a:srgbClr val="284A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15265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F2B68318-7411-5347-8262-AF58C7EE9AF2}"/>
              </a:ext>
            </a:extLst>
          </p:cNvPr>
          <p:cNvSpPr txBox="1"/>
          <p:nvPr/>
        </p:nvSpPr>
        <p:spPr>
          <a:xfrm>
            <a:off x="1600201" y="992100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1.</a:t>
            </a:r>
            <a:endParaRPr lang="es-RU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28C5964-E576-914E-BB09-0A9A902105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9595" y="2586684"/>
            <a:ext cx="7493000" cy="101600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29C13E27-77A8-F34C-97E5-03E3378EDB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9595" y="1080167"/>
            <a:ext cx="7023100" cy="25400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E6D2C135-20B9-D044-B26B-6F03136E826F}"/>
              </a:ext>
            </a:extLst>
          </p:cNvPr>
          <p:cNvSpPr txBox="1"/>
          <p:nvPr/>
        </p:nvSpPr>
        <p:spPr>
          <a:xfrm>
            <a:off x="1665682" y="2522234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2.</a:t>
            </a:r>
            <a:endParaRPr lang="es-RU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47B8514-C110-0047-A6D5-987B7D6446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7387" y="1522275"/>
            <a:ext cx="1320800" cy="8763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D57A92B-595E-2943-AA05-194964AE6C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2137" y="3790793"/>
            <a:ext cx="15113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5273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1695671" y="966486"/>
            <a:ext cx="469392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ru-R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95671" y="406299"/>
            <a:ext cx="9131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</a:rPr>
              <a:t>Практика для группы 8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6358071"/>
            <a:ext cx="12192000" cy="499929"/>
          </a:xfrm>
          <a:prstGeom prst="rect">
            <a:avLst/>
          </a:prstGeom>
          <a:solidFill>
            <a:srgbClr val="284A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15265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F2B68318-7411-5347-8262-AF58C7EE9AF2}"/>
              </a:ext>
            </a:extLst>
          </p:cNvPr>
          <p:cNvSpPr txBox="1"/>
          <p:nvPr/>
        </p:nvSpPr>
        <p:spPr>
          <a:xfrm>
            <a:off x="1600201" y="992100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1.</a:t>
            </a:r>
            <a:endParaRPr lang="es-RU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28C5964-E576-914E-BB09-0A9A902105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9595" y="2586684"/>
            <a:ext cx="7493000" cy="101600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29C13E27-77A8-F34C-97E5-03E3378EDB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9595" y="1080167"/>
            <a:ext cx="7023100" cy="25400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E6D2C135-20B9-D044-B26B-6F03136E826F}"/>
              </a:ext>
            </a:extLst>
          </p:cNvPr>
          <p:cNvSpPr txBox="1"/>
          <p:nvPr/>
        </p:nvSpPr>
        <p:spPr>
          <a:xfrm>
            <a:off x="1665682" y="2522234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2.</a:t>
            </a:r>
            <a:endParaRPr lang="es-RU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2DC9A79-6BD9-834A-BBC8-949825E33A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7273" y="1516985"/>
            <a:ext cx="1320800" cy="8763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63CFC4F3-E21E-DD44-A655-62F61D5AB9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7073" y="3758146"/>
            <a:ext cx="1981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20877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12366</TotalTime>
  <Words>194</Words>
  <Application>Microsoft Macintosh PowerPoint</Application>
  <PresentationFormat>Panorámica</PresentationFormat>
  <Paragraphs>77</Paragraphs>
  <Slides>28</Slides>
  <Notes>28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PT Sans</vt:lpstr>
      <vt:lpstr>Тема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Dudarin Pavel</cp:lastModifiedBy>
  <cp:revision>266</cp:revision>
  <dcterms:created xsi:type="dcterms:W3CDTF">2021-04-19T13:24:04Z</dcterms:created>
  <dcterms:modified xsi:type="dcterms:W3CDTF">2024-09-16T19:53:22Z</dcterms:modified>
</cp:coreProperties>
</file>