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7" r:id="rId2"/>
    <p:sldId id="453" r:id="rId3"/>
    <p:sldId id="454" r:id="rId4"/>
    <p:sldId id="455" r:id="rId5"/>
    <p:sldId id="456" r:id="rId6"/>
    <p:sldId id="457" r:id="rId7"/>
    <p:sldId id="458" r:id="rId8"/>
    <p:sldId id="450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1" r:id="rId22"/>
    <p:sldId id="354" r:id="rId23"/>
    <p:sldId id="472" r:id="rId24"/>
    <p:sldId id="473" r:id="rId25"/>
    <p:sldId id="474" r:id="rId26"/>
    <p:sldId id="475" r:id="rId27"/>
    <p:sldId id="476" r:id="rId28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0" autoAdjust="0"/>
    <p:restoredTop sz="95878" autoAdjust="0"/>
  </p:normalViewPr>
  <p:slideViewPr>
    <p:cSldViewPr>
      <p:cViewPr varScale="1">
        <p:scale>
          <a:sx n="181" d="100"/>
          <a:sy n="181" d="100"/>
        </p:scale>
        <p:origin x="320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B7474-73D3-4763-9101-60B4C5294CC5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A5ED2-282E-461B-A939-F0BB6074ADC9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23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22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Ответы</a:t>
            </a:r>
            <a:r>
              <a:rPr lang="ru-RU" baseline="0" dirty="0"/>
              <a:t> :  1 (1,3)  2 (3) 3 (3, 4)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40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baseline="0" dirty="0"/>
              <a:t>Как получить базис?</a:t>
            </a:r>
          </a:p>
          <a:p>
            <a:pPr marL="228600" indent="-228600">
              <a:buAutoNum type="arabicPeriod"/>
            </a:pPr>
            <a:r>
              <a:rPr lang="ru-RU" baseline="0" dirty="0"/>
              <a:t>Всегда ли можно получить базисное решение преобразованиями Гаусса-</a:t>
            </a:r>
            <a:r>
              <a:rPr lang="ru-RU" baseline="0" dirty="0" err="1"/>
              <a:t>Жордана</a:t>
            </a:r>
            <a:r>
              <a:rPr lang="ru-RU" baseline="0" dirty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baseline="0" dirty="0"/>
              <a:t>Как получить базис?</a:t>
            </a:r>
          </a:p>
          <a:p>
            <a:pPr marL="228600" indent="-228600">
              <a:buAutoNum type="arabicPeriod"/>
            </a:pPr>
            <a:r>
              <a:rPr lang="ru-RU" baseline="0" dirty="0"/>
              <a:t>Всегда ли можно получить базисное решение преобразованиями Гаусса-</a:t>
            </a:r>
            <a:r>
              <a:rPr lang="ru-RU" baseline="0" dirty="0" err="1"/>
              <a:t>Жордана</a:t>
            </a:r>
            <a:r>
              <a:rPr lang="ru-RU" baseline="0" dirty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00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baseline="0" dirty="0"/>
              <a:t>Как получить базис?</a:t>
            </a:r>
          </a:p>
          <a:p>
            <a:pPr marL="228600" indent="-228600">
              <a:buAutoNum type="arabicPeriod"/>
            </a:pPr>
            <a:r>
              <a:rPr lang="ru-RU" baseline="0" dirty="0"/>
              <a:t>Всегда ли можно получить базисное решение преобразованиями Гаусса-</a:t>
            </a:r>
            <a:r>
              <a:rPr lang="ru-RU" baseline="0" dirty="0" err="1"/>
              <a:t>Жордана</a:t>
            </a:r>
            <a:r>
              <a:rPr lang="ru-RU" baseline="0" dirty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306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baseline="0" dirty="0"/>
              <a:t>Как получить базис?</a:t>
            </a:r>
          </a:p>
          <a:p>
            <a:pPr marL="228600" indent="-228600">
              <a:buAutoNum type="arabicPeriod"/>
            </a:pPr>
            <a:r>
              <a:rPr lang="ru-RU" baseline="0" dirty="0"/>
              <a:t>Всегда ли можно получить базисное решение преобразованиями Гаусса-</a:t>
            </a:r>
            <a:r>
              <a:rPr lang="ru-RU" baseline="0" dirty="0" err="1"/>
              <a:t>Жордана</a:t>
            </a:r>
            <a:r>
              <a:rPr lang="ru-RU" baseline="0" dirty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839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baseline="0" dirty="0"/>
              <a:t>Как получить базис?</a:t>
            </a:r>
          </a:p>
          <a:p>
            <a:pPr marL="228600" indent="-228600">
              <a:buAutoNum type="arabicPeriod"/>
            </a:pPr>
            <a:r>
              <a:rPr lang="ru-RU" baseline="0" dirty="0"/>
              <a:t>Всегда ли можно получить базисное решение преобразованиями Гаусса-</a:t>
            </a:r>
            <a:r>
              <a:rPr lang="ru-RU" baseline="0" dirty="0" err="1"/>
              <a:t>Жордана</a:t>
            </a:r>
            <a:r>
              <a:rPr lang="ru-RU" baseline="0" dirty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022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baseline="0" dirty="0"/>
              <a:t>Как получить базис?</a:t>
            </a:r>
          </a:p>
          <a:p>
            <a:pPr marL="228600" indent="-228600">
              <a:buAutoNum type="arabicPeriod"/>
            </a:pPr>
            <a:r>
              <a:rPr lang="ru-RU" baseline="0" dirty="0"/>
              <a:t>Всегда ли можно получить базисное решение преобразованиями Гаусса-</a:t>
            </a:r>
            <a:r>
              <a:rPr lang="ru-RU" baseline="0" dirty="0" err="1"/>
              <a:t>Жордана</a:t>
            </a:r>
            <a:r>
              <a:rPr lang="ru-RU" baseline="0" dirty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84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9395"/>
            <a:ext cx="9144000" cy="5143500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3063"/>
            <a:ext cx="6186488" cy="3500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1714" y="1419622"/>
            <a:ext cx="86205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Исследование операций и методы оптимизации</a:t>
            </a:r>
          </a:p>
          <a:p>
            <a:pPr algn="ctr"/>
            <a:endParaRPr lang="ru-RU" sz="2400" b="1" dirty="0">
              <a:solidFill>
                <a:srgbClr val="FFFFFF"/>
              </a:solidFill>
              <a:latin typeface="PT Sans"/>
              <a:ea typeface="PT Sans"/>
              <a:sym typeface="PT Sans"/>
            </a:endParaRPr>
          </a:p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sym typeface="PT Sans"/>
              </a:rPr>
              <a:t>Лекция </a:t>
            </a:r>
            <a:r>
              <a:rPr lang="en-US" sz="2400" b="1" dirty="0">
                <a:solidFill>
                  <a:srgbClr val="FFFFFF"/>
                </a:solidFill>
                <a:latin typeface="PT Sans"/>
                <a:sym typeface="PT Sans"/>
              </a:rPr>
              <a:t>4</a:t>
            </a:r>
            <a:endParaRPr lang="ru-RU" sz="2400" b="1" dirty="0">
              <a:solidFill>
                <a:srgbClr val="FFFFFF"/>
              </a:solidFill>
              <a:latin typeface="PT Sans"/>
              <a:sym typeface="PT Sans"/>
            </a:endParaRPr>
          </a:p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sym typeface="PT Sans"/>
              </a:rPr>
              <a:t>Метод искусственного базиса и </a:t>
            </a:r>
          </a:p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sym typeface="PT Sans"/>
              </a:rPr>
              <a:t>двойственная задача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94" y="0"/>
            <a:ext cx="2907506" cy="20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2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Если матрица условий не содержит естественного единичного базиса, то начальный опорный план можно построить методом искусственного базиса.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$ - некие большие числа (бесконечность).</a:t>
            </a:r>
          </a:p>
          <a:p>
            <a:endParaRPr lang="ru-RU" sz="1200" dirty="0">
              <a:latin typeface="+mj-lt"/>
            </a:endParaRPr>
          </a:p>
          <a:p>
            <a:r>
              <a:rPr lang="ru-RU" sz="1200" dirty="0">
                <a:latin typeface="+mj-lt"/>
              </a:rPr>
              <a:t>Легко видеть, что если X = (x</a:t>
            </a:r>
            <a:r>
              <a:rPr lang="ru-RU" sz="1200" baseline="-25000" dirty="0">
                <a:latin typeface="+mj-lt"/>
              </a:rPr>
              <a:t>1</a:t>
            </a:r>
            <a:r>
              <a:rPr lang="ru-RU" sz="1200" dirty="0">
                <a:latin typeface="+mj-lt"/>
              </a:rPr>
              <a:t>, . . . , </a:t>
            </a:r>
            <a:r>
              <a:rPr lang="ru-RU" sz="1200" dirty="0" err="1">
                <a:latin typeface="+mj-lt"/>
              </a:rPr>
              <a:t>x</a:t>
            </a:r>
            <a:r>
              <a:rPr lang="ru-RU" sz="1200" baseline="-25000" dirty="0" err="1">
                <a:latin typeface="+mj-lt"/>
              </a:rPr>
              <a:t>n</a:t>
            </a:r>
            <a:r>
              <a:rPr lang="ru-RU" sz="1200" dirty="0">
                <a:latin typeface="+mj-lt"/>
              </a:rPr>
              <a:t>)</a:t>
            </a:r>
            <a:r>
              <a:rPr lang="ru-RU" sz="1200" baseline="30000" dirty="0">
                <a:latin typeface="+mj-lt"/>
              </a:rPr>
              <a:t>T</a:t>
            </a:r>
            <a:r>
              <a:rPr lang="ru-RU" sz="1200" dirty="0">
                <a:latin typeface="+mj-lt"/>
              </a:rPr>
              <a:t> — план исходной задачи, то X</a:t>
            </a:r>
            <a:r>
              <a:rPr lang="en-US" sz="1200" dirty="0">
                <a:latin typeface="+mj-lt"/>
              </a:rPr>
              <a:t>~</a:t>
            </a:r>
            <a:r>
              <a:rPr lang="ru-RU" sz="1200" dirty="0">
                <a:latin typeface="+mj-lt"/>
              </a:rPr>
              <a:t> = (x</a:t>
            </a:r>
            <a:r>
              <a:rPr lang="ru-RU" sz="1200" baseline="-25000" dirty="0">
                <a:latin typeface="+mj-lt"/>
              </a:rPr>
              <a:t>1</a:t>
            </a:r>
            <a:r>
              <a:rPr lang="ru-RU" sz="1200" dirty="0">
                <a:latin typeface="+mj-lt"/>
              </a:rPr>
              <a:t>, . . . , </a:t>
            </a:r>
            <a:r>
              <a:rPr lang="ru-RU" sz="1200" dirty="0" err="1">
                <a:latin typeface="+mj-lt"/>
              </a:rPr>
              <a:t>x</a:t>
            </a:r>
            <a:r>
              <a:rPr lang="ru-RU" sz="1200" baseline="-25000" dirty="0" err="1">
                <a:latin typeface="+mj-lt"/>
              </a:rPr>
              <a:t>n</a:t>
            </a:r>
            <a:r>
              <a:rPr lang="ru-RU" sz="1200" dirty="0">
                <a:latin typeface="+mj-lt"/>
              </a:rPr>
              <a:t>, 0, . . . , 0)</a:t>
            </a:r>
            <a:r>
              <a:rPr lang="ru-RU" sz="1200" baseline="30000" dirty="0">
                <a:latin typeface="+mj-lt"/>
              </a:rPr>
              <a:t>T</a:t>
            </a:r>
            <a:r>
              <a:rPr lang="ru-RU" sz="1200" dirty="0">
                <a:latin typeface="+mj-lt"/>
              </a:rPr>
              <a:t> , в котором все искусственные</a:t>
            </a:r>
            <a:r>
              <a:rPr lang="en-US" sz="1200" dirty="0">
                <a:latin typeface="+mj-lt"/>
              </a:rPr>
              <a:t> </a:t>
            </a:r>
            <a:r>
              <a:rPr lang="ru-RU" sz="1200" dirty="0">
                <a:latin typeface="+mj-lt"/>
              </a:rPr>
              <a:t>переменные равны нулю, является планом расширенной задачи. </a:t>
            </a:r>
            <a:r>
              <a:rPr lang="ru-RU" sz="1200" dirty="0">
                <a:solidFill>
                  <a:srgbClr val="FF0000"/>
                </a:solidFill>
                <a:latin typeface="+mj-lt"/>
              </a:rPr>
              <a:t>Почему?</a:t>
            </a:r>
          </a:p>
          <a:p>
            <a:r>
              <a:rPr lang="ru-RU" sz="1200" dirty="0">
                <a:latin typeface="+mj-lt"/>
              </a:rPr>
              <a:t>Если же исходная задача не имеет планов, то любой план расширенной задачи будет содержать хотя бы одну ненулевую искусственную переменную.</a:t>
            </a:r>
            <a:r>
              <a:rPr lang="en-US" sz="1200" dirty="0">
                <a:latin typeface="+mj-lt"/>
              </a:rPr>
              <a:t> </a:t>
            </a:r>
            <a:r>
              <a:rPr lang="ru-RU" sz="1200" dirty="0">
                <a:solidFill>
                  <a:srgbClr val="FF0000"/>
                </a:solidFill>
                <a:latin typeface="+mj-lt"/>
              </a:rPr>
              <a:t>Почему?</a:t>
            </a:r>
          </a:p>
          <a:p>
            <a:r>
              <a:rPr lang="ru-RU" sz="1200" dirty="0">
                <a:latin typeface="+mj-lt"/>
              </a:rPr>
              <a:t>Расширенная задача имеет искусственный единичный базис B</a:t>
            </a:r>
            <a:r>
              <a:rPr lang="ru-RU" sz="1200" baseline="-25000" dirty="0">
                <a:latin typeface="+mj-lt"/>
              </a:rPr>
              <a:t>0</a:t>
            </a:r>
            <a:r>
              <a:rPr lang="ru-RU" sz="1200" dirty="0">
                <a:latin typeface="+mj-lt"/>
              </a:rPr>
              <a:t> = {P</a:t>
            </a:r>
            <a:r>
              <a:rPr lang="ru-RU" sz="1200" baseline="-25000" dirty="0">
                <a:latin typeface="+mj-lt"/>
              </a:rPr>
              <a:t> n+1</a:t>
            </a:r>
            <a:r>
              <a:rPr lang="ru-RU" sz="1200" dirty="0">
                <a:latin typeface="+mj-lt"/>
              </a:rPr>
              <a:t>, . . . ,P</a:t>
            </a:r>
            <a:r>
              <a:rPr lang="ru-RU" sz="1200" baseline="-25000" dirty="0">
                <a:latin typeface="+mj-lt"/>
              </a:rPr>
              <a:t> </a:t>
            </a:r>
            <a:r>
              <a:rPr lang="ru-RU" sz="1200" baseline="-25000" dirty="0" err="1">
                <a:latin typeface="+mj-lt"/>
              </a:rPr>
              <a:t>n+m</a:t>
            </a:r>
            <a:r>
              <a:rPr lang="ru-RU" sz="1200" dirty="0">
                <a:latin typeface="+mj-lt"/>
              </a:rPr>
              <a:t>}, которому соответствует начальный</a:t>
            </a:r>
          </a:p>
          <a:p>
            <a:r>
              <a:rPr lang="ru-RU" sz="1200" dirty="0">
                <a:latin typeface="+mj-lt"/>
              </a:rPr>
              <a:t>опорный план (0, . . . , 0, b</a:t>
            </a:r>
            <a:r>
              <a:rPr lang="ru-RU" sz="1200" baseline="-25000" dirty="0">
                <a:latin typeface="+mj-lt"/>
              </a:rPr>
              <a:t>1</a:t>
            </a:r>
            <a:r>
              <a:rPr lang="ru-RU" sz="1200" dirty="0">
                <a:latin typeface="+mj-lt"/>
              </a:rPr>
              <a:t>, . . . , </a:t>
            </a:r>
            <a:r>
              <a:rPr lang="ru-RU" sz="1200" dirty="0" err="1">
                <a:latin typeface="+mj-lt"/>
              </a:rPr>
              <a:t>b</a:t>
            </a:r>
            <a:r>
              <a:rPr lang="ru-RU" sz="1200" baseline="-25000" dirty="0" err="1">
                <a:latin typeface="+mj-lt"/>
              </a:rPr>
              <a:t>m</a:t>
            </a:r>
            <a:r>
              <a:rPr lang="ru-RU" sz="1200" dirty="0">
                <a:latin typeface="+mj-lt"/>
              </a:rPr>
              <a:t>)</a:t>
            </a:r>
            <a:r>
              <a:rPr lang="ru-RU" sz="1200" baseline="30000" dirty="0">
                <a:latin typeface="+mj-lt"/>
              </a:rPr>
              <a:t>T</a:t>
            </a:r>
            <a:r>
              <a:rPr lang="ru-RU" sz="1200" dirty="0">
                <a:latin typeface="+mj-lt"/>
              </a:rPr>
              <a:t> .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45" y="1715680"/>
            <a:ext cx="2608801" cy="125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590" y="1721424"/>
            <a:ext cx="3794121" cy="1246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rrow12"/>
          <p:cNvSpPr>
            <a:spLocks noChangeAspect="1" noChangeArrowheads="1"/>
          </p:cNvSpPr>
          <p:nvPr/>
        </p:nvSpPr>
        <p:spPr bwMode="auto">
          <a:xfrm>
            <a:off x="3198295" y="2165451"/>
            <a:ext cx="347845" cy="237059"/>
          </a:xfrm>
          <a:prstGeom prst="notchedRightArrow">
            <a:avLst>
              <a:gd name="adj1" fmla="val 54954"/>
              <a:gd name="adj2" fmla="val 31826"/>
            </a:avLst>
          </a:prstGeom>
          <a:gradFill flip="none" rotWithShape="1">
            <a:gsLst>
              <a:gs pos="0">
                <a:srgbClr val="98D2FF"/>
              </a:gs>
              <a:gs pos="100000">
                <a:srgbClr val="4AAED8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" h="6350"/>
          </a:sp3d>
        </p:spPr>
        <p:txBody>
          <a:bodyPr vert="horz" lIns="72000" tIns="0" rIns="0" bIns="0" rtlCol="0" anchor="ctr">
            <a:normAutofit fontScale="77500" lnSpcReduction="20000"/>
          </a:bodyPr>
          <a:lstStyle/>
          <a:p>
            <a:pPr indent="-266700">
              <a:lnSpc>
                <a:spcPct val="80000"/>
              </a:lnSpc>
              <a:spcBef>
                <a:spcPct val="50000"/>
              </a:spcBef>
              <a:spcAft>
                <a:spcPts val="600"/>
              </a:spcAft>
              <a:buClr>
                <a:schemeClr val="tx2"/>
              </a:buClr>
            </a:pPr>
            <a:endParaRPr lang="ru-RU" sz="1600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96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923320"/>
            <a:ext cx="3978696" cy="2101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952495"/>
            <a:ext cx="3894622" cy="174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719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11" y="987574"/>
            <a:ext cx="4829137" cy="106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31" y="2056073"/>
            <a:ext cx="4572000" cy="130709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29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9512" y="1019373"/>
            <a:ext cx="446449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На первом этапе в качестве управляющей используем 4-ю –</a:t>
            </a:r>
          </a:p>
          <a:p>
            <a:r>
              <a:rPr lang="ru-RU" sz="1200" dirty="0"/>
              <a:t>≪долларовую≫ – строку. Она содержит положительные элементы, следовательно, текущий план не оптимальный. Находим наибольший элемент, он выделен</a:t>
            </a:r>
          </a:p>
          <a:p>
            <a:r>
              <a:rPr lang="ru-RU" sz="1200" dirty="0"/>
              <a:t>Соответствующий ему вектор </a:t>
            </a:r>
            <a:r>
              <a:rPr lang="ru-RU" sz="1200" i="1" dirty="0"/>
              <a:t>P </a:t>
            </a:r>
            <a:r>
              <a:rPr lang="ru-RU" sz="1200" dirty="0"/>
              <a:t>1 вводим в базис. </a:t>
            </a:r>
          </a:p>
          <a:p>
            <a:r>
              <a:rPr lang="ru-RU" sz="1200" dirty="0"/>
              <a:t>Определяем вектор,  исключаемый из базиса: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(0 не должен нас смущать, так как он не в знаменателе, а в числителе). Выводим из базиса </a:t>
            </a:r>
            <a:r>
              <a:rPr lang="ru-RU" sz="1200" i="1" dirty="0"/>
              <a:t>P </a:t>
            </a:r>
            <a:r>
              <a:rPr lang="ru-RU" sz="1200" dirty="0"/>
              <a:t>5. </a:t>
            </a:r>
            <a:r>
              <a:rPr lang="ru-RU" sz="1200" dirty="0">
                <a:solidFill>
                  <a:srgbClr val="FF0000"/>
                </a:solidFill>
              </a:rPr>
              <a:t>Совершаем преобразование </a:t>
            </a:r>
            <a:r>
              <a:rPr lang="ru-RU" sz="1200" dirty="0" err="1">
                <a:solidFill>
                  <a:srgbClr val="FF0000"/>
                </a:solidFill>
              </a:rPr>
              <a:t>Жордана</a:t>
            </a:r>
            <a:r>
              <a:rPr lang="ru-RU" sz="1200" dirty="0">
                <a:solidFill>
                  <a:srgbClr val="FF0000"/>
                </a:solidFill>
              </a:rPr>
              <a:t> относительно отмеченного ведущего элемента.</a:t>
            </a:r>
            <a:endParaRPr lang="ru-RU" sz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253" y="1086547"/>
            <a:ext cx="3308215" cy="148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219702"/>
            <a:ext cx="1152128" cy="45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1245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4817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План опять не оптимальный. В водим в базис вектор </a:t>
            </a:r>
            <a:r>
              <a:rPr lang="en-GB" sz="1200" i="1" dirty="0"/>
              <a:t>P </a:t>
            </a:r>
            <a:r>
              <a:rPr lang="en-GB" sz="1200" dirty="0"/>
              <a:t>2</a:t>
            </a:r>
            <a:r>
              <a:rPr lang="ru-RU" sz="1200" dirty="0"/>
              <a:t> (а можно и</a:t>
            </a:r>
          </a:p>
          <a:p>
            <a:r>
              <a:rPr lang="ru-RU" sz="1200" i="1" dirty="0"/>
              <a:t>P </a:t>
            </a:r>
            <a:r>
              <a:rPr lang="ru-RU" sz="1200" dirty="0"/>
              <a:t>3, так как максимумов два). Поскольку в ведущем столбце, не считая управляющих строк, имеется единственный положительный элемент, то вариантов нет — выводим </a:t>
            </a:r>
            <a:r>
              <a:rPr lang="en-GB" sz="1200" i="1" dirty="0"/>
              <a:t>P </a:t>
            </a:r>
            <a:r>
              <a:rPr lang="en-GB" sz="1200" dirty="0"/>
              <a:t>4. </a:t>
            </a:r>
            <a:r>
              <a:rPr lang="ru-RU" sz="1200" dirty="0">
                <a:solidFill>
                  <a:srgbClr val="FF0000"/>
                </a:solidFill>
              </a:rPr>
              <a:t>Делаем преобразование </a:t>
            </a:r>
            <a:r>
              <a:rPr lang="ru-RU" sz="1200" dirty="0" err="1">
                <a:solidFill>
                  <a:srgbClr val="FF0000"/>
                </a:solidFill>
              </a:rPr>
              <a:t>Жордана</a:t>
            </a:r>
            <a:endParaRPr lang="ru-RU" sz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754" y="1106536"/>
            <a:ext cx="3052564" cy="1250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8743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48178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 управляющей ≪долларовой≫ строке не осталось положительных элементов, следовательно, первый этап завершен. Анализируем долларовую составляющую целевой функции. </a:t>
            </a:r>
          </a:p>
          <a:p>
            <a:r>
              <a:rPr lang="ru-RU" sz="1200" dirty="0"/>
              <a:t>Она равна нулю, следовательно, можно переходить ко второму этапу.</a:t>
            </a:r>
          </a:p>
          <a:p>
            <a:endParaRPr lang="ru-RU" sz="1200" dirty="0"/>
          </a:p>
          <a:p>
            <a:r>
              <a:rPr lang="ru-RU" sz="1200" dirty="0"/>
              <a:t>Отбрасываем долларовую управляющую строку и два последних искусственных столбца.</a:t>
            </a:r>
          </a:p>
          <a:p>
            <a:endParaRPr lang="ru-RU" sz="1200" dirty="0">
              <a:solidFill>
                <a:srgbClr val="FF0000"/>
              </a:solidFill>
              <a:latin typeface="+mj-lt"/>
            </a:endParaRPr>
          </a:p>
          <a:p>
            <a:r>
              <a:rPr lang="ru-RU" sz="1200" dirty="0"/>
              <a:t>Тем самым ко второму этапу мы от расширенной вернулись к исходной задаче линейного программирования с единичным </a:t>
            </a:r>
            <a:r>
              <a:rPr lang="ru-RU" sz="1200" dirty="0" err="1"/>
              <a:t>бази</a:t>
            </a:r>
            <a:r>
              <a:rPr lang="ru-RU" sz="1200" dirty="0"/>
              <a:t>-</a:t>
            </a:r>
          </a:p>
          <a:p>
            <a:r>
              <a:rPr lang="ru-RU" sz="1200" dirty="0"/>
              <a:t>сом и начальным опорным планом  </a:t>
            </a:r>
            <a:r>
              <a:rPr lang="ru-RU" sz="1200" i="1" dirty="0"/>
              <a:t>X </a:t>
            </a:r>
            <a:r>
              <a:rPr lang="ru-RU" sz="1200" dirty="0"/>
              <a:t>= (5</a:t>
            </a:r>
            <a:r>
              <a:rPr lang="ru-RU" sz="1200" i="1" dirty="0"/>
              <a:t>, </a:t>
            </a:r>
            <a:r>
              <a:rPr lang="ru-RU" sz="1200" dirty="0"/>
              <a:t>2</a:t>
            </a:r>
            <a:r>
              <a:rPr lang="ru-RU" sz="1200" i="1" dirty="0"/>
              <a:t>, </a:t>
            </a:r>
            <a:r>
              <a:rPr lang="ru-RU" sz="1200" dirty="0"/>
              <a:t>0)</a:t>
            </a:r>
            <a:r>
              <a:rPr lang="ru-RU" sz="1200" i="1" baseline="30000" dirty="0"/>
              <a:t>T</a:t>
            </a:r>
            <a:r>
              <a:rPr lang="ru-RU" sz="1200" i="1" dirty="0"/>
              <a:t> . </a:t>
            </a:r>
          </a:p>
          <a:p>
            <a:endParaRPr lang="ru-RU" sz="1200" i="1" dirty="0"/>
          </a:p>
          <a:p>
            <a:r>
              <a:rPr lang="ru-RU" sz="1200" dirty="0"/>
              <a:t>Начинаем итерации стандартного симплексного метода, используя в качестве управляющей обычную ≪рублевую≫ (</a:t>
            </a:r>
            <a:r>
              <a:rPr lang="ru-RU" sz="1200" i="1" dirty="0"/>
              <a:t>m </a:t>
            </a:r>
            <a:r>
              <a:rPr lang="ru-RU" sz="1200" dirty="0"/>
              <a:t>+ 1)-ю строку. Анализируя ее, видим, что все элементы этой строки </a:t>
            </a:r>
            <a:r>
              <a:rPr lang="ru-RU" sz="1200" dirty="0" err="1"/>
              <a:t>неположительны</a:t>
            </a:r>
            <a:r>
              <a:rPr lang="ru-RU" sz="1200" dirty="0"/>
              <a:t>, следовательно, итерации не понадобятся, данный опорный план сразу является оптимальным. </a:t>
            </a:r>
          </a:p>
          <a:p>
            <a:r>
              <a:rPr lang="ru-RU" sz="1200" dirty="0"/>
              <a:t>Соответствующее значение целевой функции </a:t>
            </a:r>
            <a:r>
              <a:rPr lang="en-GB" sz="1200" i="1" dirty="0"/>
              <a:t>L∗ </a:t>
            </a:r>
            <a:r>
              <a:rPr lang="en-GB" sz="1200" dirty="0"/>
              <a:t>= </a:t>
            </a:r>
            <a:r>
              <a:rPr lang="en-GB" sz="1200" i="1" dirty="0"/>
              <a:t>−</a:t>
            </a:r>
            <a:r>
              <a:rPr lang="en-GB" sz="1200" dirty="0"/>
              <a:t>13.</a:t>
            </a:r>
            <a:endParaRPr lang="ru-RU" sz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259" y="1086546"/>
            <a:ext cx="3080696" cy="126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925" y="2787774"/>
            <a:ext cx="2063364" cy="102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5712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Двойственная задача (стандартный вид)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 каждой задачей линейного программирования можно связать тесно связанную с ней так называемую </a:t>
            </a:r>
            <a:r>
              <a:rPr lang="ru-RU" sz="1200" i="1" dirty="0"/>
              <a:t>двойственную </a:t>
            </a:r>
            <a:r>
              <a:rPr lang="ru-RU" sz="1200" dirty="0"/>
              <a:t>задачу. Двойственная задача является в некотором смысле зеркальным отражением прямой. Прямая и двойственные задачи образуют </a:t>
            </a:r>
            <a:r>
              <a:rPr lang="ru-RU" sz="1200" i="1" dirty="0"/>
              <a:t>двойственную пару</a:t>
            </a:r>
            <a:r>
              <a:rPr lang="ru-RU" sz="1200" dirty="0"/>
              <a:t>. Какую из задач двойственной пары считать прямой, а какую двойственной, не имеет значения.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51521" y="1971586"/>
            <a:ext cx="35283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Прямая задача имеет </a:t>
            </a:r>
            <a:r>
              <a:rPr lang="ru-RU" sz="1200" i="1" dirty="0"/>
              <a:t>n </a:t>
            </a:r>
            <a:r>
              <a:rPr lang="ru-RU" sz="1200" dirty="0"/>
              <a:t>переменных </a:t>
            </a:r>
          </a:p>
          <a:p>
            <a:r>
              <a:rPr lang="ru-RU" sz="1200" dirty="0"/>
              <a:t>и </a:t>
            </a:r>
            <a:r>
              <a:rPr lang="ru-RU" sz="1200" i="1" dirty="0"/>
              <a:t>m </a:t>
            </a:r>
            <a:r>
              <a:rPr lang="ru-RU" sz="1200" dirty="0"/>
              <a:t>ограничений: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002134"/>
            <a:ext cx="2667540" cy="12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05" y="2621285"/>
            <a:ext cx="1387599" cy="389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Прямоугольник 15"/>
          <p:cNvSpPr/>
          <p:nvPr/>
        </p:nvSpPr>
        <p:spPr>
          <a:xfrm>
            <a:off x="4283968" y="1971585"/>
            <a:ext cx="3528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Двойственную задачу, содержащую, наоборот, </a:t>
            </a:r>
            <a:r>
              <a:rPr lang="ru-RU" sz="1200" i="1" dirty="0"/>
              <a:t>m </a:t>
            </a:r>
            <a:r>
              <a:rPr lang="ru-RU" sz="1200" dirty="0"/>
              <a:t>переменных и </a:t>
            </a:r>
            <a:r>
              <a:rPr lang="ru-RU" sz="1200" i="1" dirty="0"/>
              <a:t>n </a:t>
            </a:r>
            <a:r>
              <a:rPr lang="ru-RU" sz="1200" dirty="0"/>
              <a:t>ограничений, определим следующим образом: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844" y="2715766"/>
            <a:ext cx="2874640" cy="1633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3127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Двойственная задача (стандартный вид)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Сравнивая задачи, можно заметить четыре зеркальных соотношения между ними:</a:t>
            </a:r>
          </a:p>
          <a:p>
            <a:endParaRPr lang="ru-RU" sz="1200" dirty="0"/>
          </a:p>
          <a:p>
            <a:r>
              <a:rPr lang="ru-RU" sz="1200" dirty="0"/>
              <a:t>1) число переменных прямой задачи равно числу ограничений</a:t>
            </a:r>
          </a:p>
          <a:p>
            <a:r>
              <a:rPr lang="ru-RU" sz="1200" dirty="0"/>
              <a:t>двойственной и наоборот, матрица условий транспонирована;</a:t>
            </a:r>
          </a:p>
          <a:p>
            <a:endParaRPr lang="ru-RU" sz="1200" dirty="0"/>
          </a:p>
          <a:p>
            <a:r>
              <a:rPr lang="ru-RU" sz="1200" dirty="0"/>
              <a:t>2) вектор стоимостей прямой задачи равен вектору ограничений</a:t>
            </a:r>
          </a:p>
          <a:p>
            <a:r>
              <a:rPr lang="ru-RU" sz="1200" dirty="0"/>
              <a:t>двойственной и наоборот;</a:t>
            </a:r>
          </a:p>
          <a:p>
            <a:endParaRPr lang="ru-RU" sz="1200" dirty="0"/>
          </a:p>
          <a:p>
            <a:r>
              <a:rPr lang="ru-RU" sz="1200" dirty="0"/>
              <a:t>3) направления оптимизации противоположны;</a:t>
            </a:r>
          </a:p>
          <a:p>
            <a:endParaRPr lang="ru-RU" sz="1200" dirty="0"/>
          </a:p>
          <a:p>
            <a:r>
              <a:rPr lang="ru-RU" sz="1200" dirty="0"/>
              <a:t>4) знаки неравенств в ограничениях противоположны.</a:t>
            </a:r>
            <a:endParaRPr lang="ru-RU" sz="1200" dirty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114" y="3291830"/>
            <a:ext cx="3834172" cy="114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79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Двойственная задача (стандартный вид)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Если собрать все условия прямой задачи, считая ограничения на </a:t>
            </a:r>
            <a:r>
              <a:rPr lang="ru-RU" sz="1200" dirty="0" err="1"/>
              <a:t>неотрицательность</a:t>
            </a:r>
            <a:r>
              <a:rPr lang="ru-RU" sz="1200" dirty="0"/>
              <a:t>, то их наберется </a:t>
            </a:r>
            <a:r>
              <a:rPr lang="ru-RU" sz="1200" i="1" dirty="0"/>
              <a:t>m </a:t>
            </a:r>
            <a:r>
              <a:rPr lang="ru-RU" sz="1200" dirty="0"/>
              <a:t>+ </a:t>
            </a:r>
            <a:r>
              <a:rPr lang="ru-RU" sz="1200" i="1" dirty="0"/>
              <a:t>n</a:t>
            </a:r>
            <a:r>
              <a:rPr lang="ru-RU" sz="1200" dirty="0"/>
              <a:t>. Аналогично, в двойственной задаче также будет </a:t>
            </a:r>
            <a:r>
              <a:rPr lang="ru-RU" sz="1200" i="1" dirty="0"/>
              <a:t>n </a:t>
            </a:r>
            <a:r>
              <a:rPr lang="ru-RU" sz="1200" dirty="0"/>
              <a:t>+ </a:t>
            </a:r>
            <a:r>
              <a:rPr lang="ru-RU" sz="1200" i="1" dirty="0"/>
              <a:t>m </a:t>
            </a:r>
            <a:r>
              <a:rPr lang="ru-RU" sz="1200" dirty="0"/>
              <a:t>условий. </a:t>
            </a:r>
          </a:p>
          <a:p>
            <a:r>
              <a:rPr lang="ru-RU" sz="1200" dirty="0"/>
              <a:t>Таким образом, весь набор ограничений двойственных задач можно разбить на </a:t>
            </a:r>
            <a:r>
              <a:rPr lang="ru-RU" sz="1200" i="1" dirty="0"/>
              <a:t>m </a:t>
            </a:r>
            <a:r>
              <a:rPr lang="ru-RU" sz="1200" dirty="0"/>
              <a:t>+ </a:t>
            </a:r>
            <a:r>
              <a:rPr lang="ru-RU" sz="1200" i="1" dirty="0"/>
              <a:t>n пар двойственных условий:</a:t>
            </a:r>
            <a:endParaRPr lang="ru-RU" sz="12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732877"/>
            <a:ext cx="4749366" cy="256145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602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Двойственная задача (стандартный вид)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028468"/>
            <a:ext cx="4867014" cy="193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743" y="2859782"/>
            <a:ext cx="4344913" cy="131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2830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Двойственная задача (канонический вид)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9072" y="2248584"/>
            <a:ext cx="784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 паре двойственных задач имеется только </a:t>
            </a:r>
            <a:r>
              <a:rPr lang="ru-RU" sz="1200" i="1" dirty="0"/>
              <a:t>n </a:t>
            </a:r>
            <a:r>
              <a:rPr lang="ru-RU" sz="1200" dirty="0"/>
              <a:t>пар двойственных условий. </a:t>
            </a:r>
          </a:p>
          <a:p>
            <a:r>
              <a:rPr lang="ru-RU" sz="1200" dirty="0"/>
              <a:t>В матричных обозначениях они имеют вид</a:t>
            </a:r>
            <a:endParaRPr lang="ru-RU" sz="1200" dirty="0">
              <a:latin typeface="+mj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75606"/>
            <a:ext cx="1758722" cy="888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275606"/>
            <a:ext cx="2088232" cy="821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362" y="2732060"/>
            <a:ext cx="1741638" cy="329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955" y="3147813"/>
            <a:ext cx="4166116" cy="138697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756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Двойственная задача (канонический вид)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48" y="1086546"/>
            <a:ext cx="4536504" cy="321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89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Первая теорема двойственности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32" y="987574"/>
            <a:ext cx="5544616" cy="1792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7504" y="2931790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Замечание 1. Первая теорема двойственности имеет очевидное обращение: </a:t>
            </a:r>
            <a:r>
              <a:rPr lang="ru-RU" sz="1200" i="1" dirty="0"/>
              <a:t>если </a:t>
            </a:r>
            <a:r>
              <a:rPr lang="en-GB" sz="1200" i="1" dirty="0"/>
              <a:t>L</a:t>
            </a:r>
            <a:r>
              <a:rPr lang="en-GB" sz="1200" dirty="0"/>
              <a:t>(</a:t>
            </a:r>
            <a:r>
              <a:rPr lang="en-GB" sz="1200" i="1" dirty="0"/>
              <a:t>X</a:t>
            </a:r>
            <a:r>
              <a:rPr lang="ru-RU" sz="1200" i="1" dirty="0"/>
              <a:t>*</a:t>
            </a:r>
            <a:r>
              <a:rPr lang="en-GB" sz="1200" dirty="0"/>
              <a:t>) = </a:t>
            </a:r>
            <a:r>
              <a:rPr lang="en-GB" sz="1200" i="1" dirty="0"/>
              <a:t>M</a:t>
            </a:r>
            <a:r>
              <a:rPr lang="en-GB" sz="1200" dirty="0"/>
              <a:t>(</a:t>
            </a:r>
            <a:r>
              <a:rPr lang="en-GB" sz="1200" i="1" dirty="0"/>
              <a:t>Y</a:t>
            </a:r>
            <a:r>
              <a:rPr lang="ru-RU" sz="1200" i="1" dirty="0"/>
              <a:t>*</a:t>
            </a:r>
            <a:r>
              <a:rPr lang="en-GB" sz="1200" dirty="0"/>
              <a:t>)</a:t>
            </a:r>
            <a:r>
              <a:rPr lang="en-GB" sz="1200" i="1" dirty="0"/>
              <a:t>, </a:t>
            </a:r>
            <a:r>
              <a:rPr lang="ru-RU" sz="1200" i="1" dirty="0"/>
              <a:t>то планы </a:t>
            </a:r>
            <a:r>
              <a:rPr lang="en-GB" sz="1200" i="1" dirty="0"/>
              <a:t>X</a:t>
            </a:r>
            <a:r>
              <a:rPr lang="ru-RU" sz="1200" i="1" dirty="0"/>
              <a:t>*</a:t>
            </a:r>
            <a:r>
              <a:rPr lang="en-GB" sz="1200" i="1" dirty="0"/>
              <a:t> </a:t>
            </a:r>
            <a:r>
              <a:rPr lang="ru-RU" sz="1200" i="1" dirty="0"/>
              <a:t>и </a:t>
            </a:r>
            <a:r>
              <a:rPr lang="en-GB" sz="1200" i="1" dirty="0"/>
              <a:t>Y</a:t>
            </a:r>
            <a:r>
              <a:rPr lang="ru-RU" sz="1200" i="1" dirty="0"/>
              <a:t>* оптимальные. </a:t>
            </a:r>
            <a:r>
              <a:rPr lang="ru-RU" sz="1200" dirty="0"/>
              <a:t>Это следует из того, что, для любых планов </a:t>
            </a:r>
            <a:r>
              <a:rPr lang="en-GB" sz="1200" i="1" dirty="0"/>
              <a:t>X </a:t>
            </a:r>
            <a:r>
              <a:rPr lang="ru-RU" sz="1200" dirty="0"/>
              <a:t>и </a:t>
            </a:r>
            <a:r>
              <a:rPr lang="en-GB" sz="1200" i="1" dirty="0"/>
              <a:t>Y </a:t>
            </a:r>
            <a:endParaRPr lang="ru-RU" sz="1200" i="1" dirty="0"/>
          </a:p>
          <a:p>
            <a:r>
              <a:rPr lang="ru-RU" sz="1200" i="1" dirty="0"/>
              <a:t>                                                                                             </a:t>
            </a:r>
            <a:r>
              <a:rPr lang="en-GB" sz="1200" i="1" dirty="0"/>
              <a:t>L</a:t>
            </a:r>
            <a:r>
              <a:rPr lang="en-GB" sz="1200" dirty="0"/>
              <a:t>(</a:t>
            </a:r>
            <a:r>
              <a:rPr lang="en-GB" sz="1200" i="1" dirty="0"/>
              <a:t>X</a:t>
            </a:r>
            <a:r>
              <a:rPr lang="en-GB" sz="1200" dirty="0"/>
              <a:t>) </a:t>
            </a:r>
            <a:r>
              <a:rPr lang="en-US" sz="1200" dirty="0"/>
              <a:t>&gt;=</a:t>
            </a:r>
            <a:r>
              <a:rPr lang="en-GB" sz="1200" dirty="0"/>
              <a:t> </a:t>
            </a:r>
            <a:r>
              <a:rPr lang="en-GB" sz="1200" i="1" dirty="0"/>
              <a:t>M</a:t>
            </a:r>
            <a:r>
              <a:rPr lang="en-GB" sz="1200" dirty="0"/>
              <a:t>(</a:t>
            </a:r>
            <a:r>
              <a:rPr lang="en-GB" sz="1200" i="1" dirty="0"/>
              <a:t>Y</a:t>
            </a:r>
            <a:r>
              <a:rPr lang="en-GB" sz="1200" dirty="0"/>
              <a:t>)</a:t>
            </a:r>
            <a:r>
              <a:rPr lang="en-GB" sz="1200" i="1" dirty="0"/>
              <a:t>.</a:t>
            </a:r>
            <a:endParaRPr lang="ru-RU" sz="1200" i="1" dirty="0"/>
          </a:p>
          <a:p>
            <a:endParaRPr lang="ru-RU" sz="1200" dirty="0"/>
          </a:p>
          <a:p>
            <a:r>
              <a:rPr lang="ru-RU" sz="1200" dirty="0"/>
              <a:t>Замечание</a:t>
            </a:r>
            <a:r>
              <a:rPr lang="en-US" sz="1200" dirty="0"/>
              <a:t> 2.</a:t>
            </a:r>
            <a:r>
              <a:rPr lang="ru-RU" sz="1200" dirty="0"/>
              <a:t> Первая теорема двойственности дает возможность найти оптимальный план двойственной задачи, не решая ее.</a:t>
            </a:r>
          </a:p>
        </p:txBody>
      </p:sp>
    </p:spTree>
    <p:extLst>
      <p:ext uri="{BB962C8B-B14F-4D97-AF65-F5344CB8AC3E}">
        <p14:creationId xmlns:p14="http://schemas.microsoft.com/office/powerpoint/2010/main" val="2618606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Двойственная задача (симплекс метод)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Предположим, что исходная симплексная таблица содержала единичную подматрицу </a:t>
            </a:r>
            <a:r>
              <a:rPr lang="en-GB" sz="1200" i="1" dirty="0"/>
              <a:t>A </a:t>
            </a:r>
            <a:r>
              <a:rPr lang="en-GB" sz="1200" dirty="0"/>
              <a:t>= (</a:t>
            </a:r>
            <a:r>
              <a:rPr lang="en-GB" sz="1200" i="1" dirty="0"/>
              <a:t>. . . |I</a:t>
            </a:r>
            <a:r>
              <a:rPr lang="en-GB" sz="1200" dirty="0"/>
              <a:t>)</a:t>
            </a:r>
            <a:r>
              <a:rPr lang="en-GB" sz="1200" i="1" dirty="0"/>
              <a:t>.</a:t>
            </a:r>
            <a:endParaRPr lang="ru-RU" sz="1200" i="1" dirty="0"/>
          </a:p>
          <a:p>
            <a:endParaRPr lang="ru-RU" sz="1200" i="1" dirty="0"/>
          </a:p>
          <a:p>
            <a:endParaRPr lang="ru-RU" sz="1200" i="1" dirty="0"/>
          </a:p>
          <a:p>
            <a:endParaRPr lang="ru-RU" sz="1200" dirty="0"/>
          </a:p>
          <a:p>
            <a:r>
              <a:rPr lang="ru-RU" sz="1200" dirty="0"/>
              <a:t>Таким образом, часть вектора эквивалентных стоимостей </a:t>
            </a:r>
            <a:r>
              <a:rPr lang="en-GB" sz="1200" i="1" dirty="0"/>
              <a:t>Z </a:t>
            </a:r>
            <a:r>
              <a:rPr lang="en-GB" sz="1200" dirty="0"/>
              <a:t>,</a:t>
            </a:r>
            <a:r>
              <a:rPr lang="ru-RU" sz="1200" dirty="0"/>
              <a:t> соответствующая единичным векторам исходного базиса, равна оптимальным значениям двойственных переменных. Этот вектор (в виде разностей </a:t>
            </a:r>
            <a:r>
              <a:rPr lang="ru-RU" sz="1200" i="1" dirty="0" err="1"/>
              <a:t>zj</a:t>
            </a:r>
            <a:r>
              <a:rPr lang="ru-RU" sz="1200" i="1" dirty="0"/>
              <a:t> − </a:t>
            </a:r>
            <a:r>
              <a:rPr lang="ru-RU" sz="1200" i="1" dirty="0" err="1"/>
              <a:t>cj</a:t>
            </a:r>
            <a:r>
              <a:rPr lang="ru-RU" sz="1200" dirty="0"/>
              <a:t>) содержится в </a:t>
            </a:r>
            <a:r>
              <a:rPr lang="ru-RU" sz="1200" i="1" dirty="0"/>
              <a:t>m </a:t>
            </a:r>
            <a:r>
              <a:rPr lang="ru-RU" sz="1200" dirty="0"/>
              <a:t>+ 1-й (управляющей) строке заключительной симплексной таблицы. Если стоимости </a:t>
            </a:r>
            <a:r>
              <a:rPr lang="ru-RU" sz="1200" i="1" dirty="0" err="1"/>
              <a:t>cj</a:t>
            </a:r>
            <a:r>
              <a:rPr lang="ru-RU" sz="1200" i="1" dirty="0"/>
              <a:t> </a:t>
            </a:r>
            <a:r>
              <a:rPr lang="ru-RU" sz="1200" dirty="0"/>
              <a:t>, относящиеся к единичному исходному базису, равны 0, то соответствующие элементы управляющей строки  </a:t>
            </a:r>
            <a:r>
              <a:rPr lang="ru-RU" sz="1200" i="1" dirty="0" err="1"/>
              <a:t>z</a:t>
            </a:r>
            <a:r>
              <a:rPr lang="ru-RU" sz="1200" i="1" baseline="-25000" dirty="0" err="1"/>
              <a:t>j</a:t>
            </a:r>
            <a:r>
              <a:rPr lang="ru-RU" sz="1200" i="1" dirty="0"/>
              <a:t> −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= </a:t>
            </a:r>
            <a:r>
              <a:rPr lang="ru-RU" sz="1200" i="1" dirty="0" err="1"/>
              <a:t>z</a:t>
            </a:r>
            <a:r>
              <a:rPr lang="ru-RU" sz="1200" i="1" baseline="-25000" dirty="0" err="1"/>
              <a:t>j</a:t>
            </a:r>
            <a:r>
              <a:rPr lang="ru-RU" sz="1200" i="1" dirty="0"/>
              <a:t> − </a:t>
            </a:r>
            <a:r>
              <a:rPr lang="ru-RU" sz="1200" dirty="0"/>
              <a:t>0 = </a:t>
            </a:r>
            <a:r>
              <a:rPr lang="ru-RU" sz="1200" i="1" dirty="0"/>
              <a:t>y</a:t>
            </a:r>
            <a:r>
              <a:rPr lang="en-GB" sz="1200" i="1" baseline="-25000" dirty="0"/>
              <a:t>j</a:t>
            </a:r>
            <a:r>
              <a:rPr lang="en-GB" sz="1200" i="1" dirty="0"/>
              <a:t>*</a:t>
            </a:r>
            <a:r>
              <a:rPr lang="en-GB" sz="1200" dirty="0"/>
              <a:t>.</a:t>
            </a:r>
            <a:endParaRPr lang="ru-RU" sz="1200" i="1" dirty="0"/>
          </a:p>
          <a:p>
            <a:endParaRPr lang="ru-RU" sz="1200" i="1" dirty="0">
              <a:latin typeface="+mj-lt"/>
            </a:endParaRPr>
          </a:p>
          <a:p>
            <a:endParaRPr lang="ru-RU" sz="1200" dirty="0">
              <a:latin typeface="+mj-lt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48" y="1419622"/>
            <a:ext cx="4536504" cy="406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509" y="2859782"/>
            <a:ext cx="4051381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1178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Связь решений основной и двойственной задач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504" y="4298085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  <a:latin typeface="+mj-lt"/>
              </a:rPr>
              <a:t>Почему опять решение отрицательное ?</a:t>
            </a:r>
            <a:r>
              <a:rPr lang="ru-RU" sz="12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</a:t>
            </a:r>
            <a:r>
              <a:rPr lang="ru-RU" sz="1200" dirty="0">
                <a:latin typeface="+mj-lt"/>
                <a:sym typeface="Wingdings" panose="05000000000000000000" pitchFamily="2" charset="2"/>
              </a:rPr>
              <a:t> </a:t>
            </a:r>
            <a:endParaRPr lang="ru-RU" sz="1200" dirty="0">
              <a:latin typeface="+mj-lt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5" y="2115426"/>
            <a:ext cx="2232248" cy="2513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44773"/>
            <a:ext cx="2426629" cy="9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132" y="3418493"/>
            <a:ext cx="2163575" cy="88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056034"/>
            <a:ext cx="2714782" cy="1029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48" y="1014629"/>
            <a:ext cx="4299945" cy="1111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7855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Вторая теорема двойственности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Вторая теорема двойственности иначе называется </a:t>
            </a:r>
            <a:r>
              <a:rPr lang="ru-RU" sz="1200" i="1" dirty="0"/>
              <a:t>принципом дополняющей </a:t>
            </a:r>
            <a:r>
              <a:rPr lang="ru-RU" sz="1200" i="1" dirty="0" err="1"/>
              <a:t>нежесткости</a:t>
            </a:r>
            <a:r>
              <a:rPr lang="ru-RU" sz="1200" dirty="0"/>
              <a:t>.</a:t>
            </a:r>
          </a:p>
          <a:p>
            <a:r>
              <a:rPr lang="ru-RU" sz="1200" dirty="0"/>
              <a:t>Для ее формулировки нам потребуется ввести классификацию ограничений.</a:t>
            </a:r>
          </a:p>
          <a:p>
            <a:r>
              <a:rPr lang="ru-RU" sz="1200" dirty="0"/>
              <a:t>Если взять конкретный план задачи линейного программирования и подставить его в некоторое ограничение, имеющее вид нестрогого неравенства, то оно будет выполняться либо как равенство, либо как строгое неравенство. В случае равенства ограничение для этого плана будет </a:t>
            </a:r>
            <a:r>
              <a:rPr lang="ru-RU" sz="1200" i="1" dirty="0"/>
              <a:t>активным </a:t>
            </a:r>
            <a:r>
              <a:rPr lang="ru-RU" sz="1200" dirty="0"/>
              <a:t>(в другой терминологии — </a:t>
            </a:r>
            <a:r>
              <a:rPr lang="ru-RU" sz="1200" i="1" dirty="0"/>
              <a:t>жестким, связанным</a:t>
            </a:r>
            <a:r>
              <a:rPr lang="ru-RU" sz="1200" dirty="0"/>
              <a:t>), а при неравенстве — </a:t>
            </a:r>
            <a:r>
              <a:rPr lang="ru-RU" sz="1200" i="1" dirty="0"/>
              <a:t>неактивным (нежестким, свободным).</a:t>
            </a:r>
          </a:p>
          <a:p>
            <a:endParaRPr lang="ru-RU" sz="1200" i="1" dirty="0">
              <a:latin typeface="+mj-lt"/>
            </a:endParaRPr>
          </a:p>
          <a:p>
            <a:r>
              <a:rPr lang="ru-RU" sz="1200" dirty="0"/>
              <a:t>П р и м е р . Пусть имеется четыре ограничения (1), (2), (3), (4), показанных на рисунке.</a:t>
            </a:r>
          </a:p>
          <a:p>
            <a:r>
              <a:rPr lang="ru-RU" sz="1200" dirty="0"/>
              <a:t>Их классификация для планов </a:t>
            </a:r>
            <a:r>
              <a:rPr lang="en-GB" sz="1200" i="1" dirty="0"/>
              <a:t>A,B,C,D </a:t>
            </a:r>
            <a:r>
              <a:rPr lang="ru-RU" sz="1200" dirty="0"/>
              <a:t>приведена здесь же.</a:t>
            </a:r>
            <a:endParaRPr lang="ru-RU" sz="1200" dirty="0">
              <a:latin typeface="+mj-lt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44" y="2806135"/>
            <a:ext cx="5245111" cy="1728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387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65931" y="1034064"/>
            <a:ext cx="784053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Теорема (Вторая теорема двойственности). </a:t>
            </a:r>
            <a:r>
              <a:rPr lang="ru-RU" sz="1200" i="1" dirty="0"/>
              <a:t>Для оптимальных планов прямой и двойственной задачи в каждой паре двойственных условий только одно условие может быть неактивным (нежестким, свободным).</a:t>
            </a:r>
          </a:p>
          <a:p>
            <a:endParaRPr lang="ru-RU" sz="1200" i="1" dirty="0">
              <a:latin typeface="+mj-lt"/>
            </a:endParaRPr>
          </a:p>
          <a:p>
            <a:r>
              <a:rPr lang="ru-RU" sz="1200" b="1" dirty="0"/>
              <a:t>Замечание</a:t>
            </a:r>
            <a:r>
              <a:rPr lang="ru-RU" sz="1200" dirty="0"/>
              <a:t>. Если планы прямой и двойственных задач являются невырожденными, то принцип дополняющей </a:t>
            </a:r>
            <a:r>
              <a:rPr lang="ru-RU" sz="1200" dirty="0" err="1"/>
              <a:t>нежесткости</a:t>
            </a:r>
            <a:r>
              <a:rPr lang="ru-RU" sz="1200" dirty="0"/>
              <a:t> звучит более категорично: </a:t>
            </a:r>
            <a:r>
              <a:rPr lang="ru-RU" sz="1200" i="1" dirty="0"/>
              <a:t>для оптимальных планов прямой и двойственной задач в каждой паре двойственных условий одно является активным, другое — неактивным.</a:t>
            </a:r>
          </a:p>
          <a:p>
            <a:endParaRPr lang="ru-RU" sz="1200" i="1" dirty="0">
              <a:latin typeface="+mj-lt"/>
            </a:endParaRPr>
          </a:p>
          <a:p>
            <a:r>
              <a:rPr lang="ru-RU" sz="1200" dirty="0"/>
              <a:t>Ценность второй теоремы двойственности состоит в том, что ее можно обратить и использовать как критерий оптимальности. Пусть имеется опорный план </a:t>
            </a:r>
            <a:r>
              <a:rPr lang="en-GB" sz="1200" i="1" dirty="0"/>
              <a:t>X </a:t>
            </a:r>
            <a:r>
              <a:rPr lang="en-GB" sz="1200" dirty="0"/>
              <a:t>= (</a:t>
            </a:r>
            <a:r>
              <a:rPr lang="en-GB" sz="1200" i="1" dirty="0"/>
              <a:t>x</a:t>
            </a:r>
            <a:r>
              <a:rPr lang="en-GB" sz="1200" baseline="-25000" dirty="0"/>
              <a:t>1</a:t>
            </a:r>
            <a:r>
              <a:rPr lang="en-GB" sz="1200" i="1" dirty="0"/>
              <a:t>, . . . , </a:t>
            </a:r>
            <a:r>
              <a:rPr lang="en-GB" sz="1200" i="1" dirty="0" err="1"/>
              <a:t>x</a:t>
            </a:r>
            <a:r>
              <a:rPr lang="en-GB" sz="1200" i="1" baseline="-25000" dirty="0" err="1"/>
              <a:t>m</a:t>
            </a:r>
            <a:r>
              <a:rPr lang="en-GB" sz="1200" i="1" dirty="0"/>
              <a:t>, </a:t>
            </a:r>
            <a:r>
              <a:rPr lang="en-GB" sz="1200" dirty="0"/>
              <a:t>0 </a:t>
            </a:r>
            <a:r>
              <a:rPr lang="en-GB" sz="1200" i="1" dirty="0"/>
              <a:t>. . . , </a:t>
            </a:r>
            <a:r>
              <a:rPr lang="en-GB" sz="1200" dirty="0"/>
              <a:t>0)</a:t>
            </a:r>
            <a:r>
              <a:rPr lang="en-GB" sz="1200" i="1" baseline="30000" dirty="0"/>
              <a:t>T</a:t>
            </a:r>
            <a:r>
              <a:rPr lang="en-GB" sz="1200" i="1" dirty="0"/>
              <a:t> ,</a:t>
            </a:r>
            <a:r>
              <a:rPr lang="ru-RU" sz="1200" i="1" dirty="0"/>
              <a:t> </a:t>
            </a:r>
            <a:r>
              <a:rPr lang="ru-RU" sz="1200" dirty="0"/>
              <a:t>и мы хотим проверить его на оптимальность.</a:t>
            </a:r>
          </a:p>
          <a:p>
            <a:r>
              <a:rPr lang="ru-RU" sz="1200" dirty="0"/>
              <a:t>Предположим, что он </a:t>
            </a:r>
            <a:r>
              <a:rPr lang="ru-RU" sz="1200" dirty="0" err="1"/>
              <a:t>невырожден</a:t>
            </a:r>
            <a:r>
              <a:rPr lang="ru-RU" sz="1200" dirty="0"/>
              <a:t>, т. е. </a:t>
            </a:r>
            <a:r>
              <a:rPr lang="ru-RU" sz="1200" i="1" dirty="0"/>
              <a:t>x</a:t>
            </a:r>
            <a:r>
              <a:rPr lang="ru-RU" sz="1200" baseline="-25000" dirty="0"/>
              <a:t>1</a:t>
            </a:r>
            <a:r>
              <a:rPr lang="ru-RU" sz="1200" dirty="0"/>
              <a:t> </a:t>
            </a:r>
            <a:r>
              <a:rPr lang="ru-RU" sz="1200" i="1" dirty="0"/>
              <a:t>&gt; </a:t>
            </a:r>
            <a:r>
              <a:rPr lang="ru-RU" sz="1200" dirty="0"/>
              <a:t>0</a:t>
            </a:r>
            <a:r>
              <a:rPr lang="ru-RU" sz="1200" i="1" dirty="0"/>
              <a:t>, . . . , 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m</a:t>
            </a:r>
            <a:r>
              <a:rPr lang="ru-RU" sz="1200" i="1" dirty="0"/>
              <a:t> &gt; </a:t>
            </a:r>
            <a:r>
              <a:rPr lang="ru-RU" sz="1200" dirty="0"/>
              <a:t>0</a:t>
            </a:r>
            <a:r>
              <a:rPr lang="ru-RU" sz="1200" i="1" dirty="0"/>
              <a:t>.</a:t>
            </a:r>
          </a:p>
          <a:p>
            <a:r>
              <a:rPr lang="ru-RU" sz="1200" dirty="0"/>
              <a:t>Тогда для каждой ненулевой базисной переменной 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можно записать двойственное условие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Получилась система </a:t>
            </a:r>
            <a:r>
              <a:rPr lang="ru-RU" sz="1200" i="1" dirty="0"/>
              <a:t>m </a:t>
            </a:r>
            <a:r>
              <a:rPr lang="ru-RU" sz="1200" dirty="0"/>
              <a:t>уравнений с </a:t>
            </a:r>
            <a:r>
              <a:rPr lang="ru-RU" sz="1200" i="1" dirty="0"/>
              <a:t>m </a:t>
            </a:r>
            <a:r>
              <a:rPr lang="ru-RU" sz="1200" dirty="0"/>
              <a:t>неизвестными. Решая ее, находим значения двойственных переменных </a:t>
            </a:r>
            <a:r>
              <a:rPr lang="ru-RU" sz="1200" i="1" dirty="0"/>
              <a:t>y</a:t>
            </a:r>
            <a:r>
              <a:rPr lang="ru-RU" sz="1200" baseline="-25000" dirty="0"/>
              <a:t>1</a:t>
            </a:r>
            <a:r>
              <a:rPr lang="ru-RU" sz="1200" i="1" dirty="0"/>
              <a:t>, . . . , </a:t>
            </a:r>
            <a:r>
              <a:rPr lang="ru-RU" sz="1200" i="1" dirty="0" err="1"/>
              <a:t>y</a:t>
            </a:r>
            <a:r>
              <a:rPr lang="ru-RU" sz="1200" i="1" baseline="-25000" dirty="0" err="1"/>
              <a:t>m</a:t>
            </a:r>
            <a:r>
              <a:rPr lang="ru-RU" sz="1200" dirty="0"/>
              <a:t>. Тогда, если для всех остальных небазисных 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выполняется неравенство </a:t>
            </a:r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200" dirty="0"/>
              <a:t>то данный план является оптимальным.</a:t>
            </a:r>
            <a:endParaRPr lang="ru-RU" sz="1200" dirty="0">
              <a:latin typeface="+mj-lt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674" y="3075806"/>
            <a:ext cx="2299047" cy="59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Вторая теорема двойственности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679" y="4002922"/>
            <a:ext cx="2455237" cy="531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05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Экономическая интерпретация двойственности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318" y="1059582"/>
            <a:ext cx="4174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  <a:latin typeface="+mj-lt"/>
              </a:rPr>
              <a:t>Какова размерность двойственных переменных?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933" y="1102030"/>
            <a:ext cx="3742784" cy="352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1077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63838"/>
            <a:ext cx="2702540" cy="577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363838"/>
            <a:ext cx="2847369" cy="577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Экономическая интерпретация двойственности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994620"/>
            <a:ext cx="78405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Таким образом, двойственная задача ставится как задача нахождения оптимальных цен, </a:t>
            </a:r>
            <a:r>
              <a:rPr lang="ru-RU" sz="1200" dirty="0" err="1"/>
              <a:t>минимизирующих</a:t>
            </a:r>
            <a:r>
              <a:rPr lang="ru-RU" sz="1200" dirty="0"/>
              <a:t> затраты</a:t>
            </a:r>
          </a:p>
          <a:p>
            <a:r>
              <a:rPr lang="ru-RU" sz="1200" dirty="0"/>
              <a:t>на производство при ограничениях на себестоимость.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Основываясь на второй теореме двойственности, выясним содержательный смысл двойственных условий.</a:t>
            </a:r>
          </a:p>
          <a:p>
            <a:endParaRPr lang="ru-RU" sz="1200" dirty="0">
              <a:latin typeface="+mj-lt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272" y="1442510"/>
            <a:ext cx="4599856" cy="178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7504" y="3867857"/>
            <a:ext cx="41044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Принцип дополняющей </a:t>
            </a:r>
            <a:r>
              <a:rPr lang="ru-RU" sz="1200" dirty="0" err="1"/>
              <a:t>нежесткости</a:t>
            </a:r>
            <a:r>
              <a:rPr lang="ru-RU" sz="1200" dirty="0"/>
              <a:t> для этой группы условий будет означать, что </a:t>
            </a:r>
            <a:r>
              <a:rPr lang="ru-RU" sz="1200" i="1" dirty="0"/>
              <a:t>если некоторый ресурс расходуется не полностью, то его учетная цена равна нулю.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027774" y="3867858"/>
            <a:ext cx="4072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Невозможность одновременного выполнения двух строгих неравенств говорит о том, что </a:t>
            </a:r>
            <a:r>
              <a:rPr lang="ru-RU" sz="1200" i="1" dirty="0"/>
              <a:t>если себестоимость некоторого изделия превышает его продажную цену, то такое изделие выпускать не нужно.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89358" y="4623542"/>
            <a:ext cx="79110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200" i="1" dirty="0">
                <a:solidFill>
                  <a:srgbClr val="FF0000"/>
                </a:solidFill>
              </a:rPr>
              <a:t>Плановая экономика </a:t>
            </a:r>
            <a:r>
              <a:rPr lang="en-US" sz="1200" i="1" dirty="0">
                <a:solidFill>
                  <a:srgbClr val="FF0000"/>
                </a:solidFill>
              </a:rPr>
              <a:t>vs </a:t>
            </a:r>
            <a:r>
              <a:rPr lang="ru-RU" sz="1200" i="1" dirty="0">
                <a:solidFill>
                  <a:srgbClr val="FF0000"/>
                </a:solidFill>
              </a:rPr>
              <a:t>рыночная экономика               2. Управление холдингом и проектное управление</a:t>
            </a:r>
            <a:endParaRPr lang="ru-RU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238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403" y="0"/>
            <a:ext cx="8172400" cy="5143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528" y="1275606"/>
            <a:ext cx="7840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1. В чем состоит суть метода искусственного базиса?</a:t>
            </a:r>
          </a:p>
          <a:p>
            <a:r>
              <a:rPr lang="ru-RU" sz="1200" dirty="0"/>
              <a:t>2. Каким образом найти начальное приближение, когда часть ограничений задана в виде</a:t>
            </a:r>
          </a:p>
          <a:p>
            <a:r>
              <a:rPr lang="ru-RU" sz="1200" dirty="0"/>
              <a:t>равенств, а часть – в виде неравенств? </a:t>
            </a:r>
          </a:p>
          <a:p>
            <a:r>
              <a:rPr lang="ru-RU" sz="1200" dirty="0"/>
              <a:t>3. Сформулируйте двойственную задачу ЛП</a:t>
            </a:r>
          </a:p>
          <a:p>
            <a:r>
              <a:rPr lang="ru-RU" sz="1200" dirty="0"/>
              <a:t>4. Свойства взаимно двойственных задач</a:t>
            </a:r>
          </a:p>
          <a:p>
            <a:r>
              <a:rPr lang="ru-RU" sz="1200" dirty="0"/>
              <a:t>5. Основное неравенство теории двойственности</a:t>
            </a:r>
          </a:p>
          <a:p>
            <a:r>
              <a:rPr lang="ru-RU" sz="1200" dirty="0"/>
              <a:t>6. Первая теорема двойственности и ее экономический смысл</a:t>
            </a:r>
          </a:p>
          <a:p>
            <a:r>
              <a:rPr lang="ru-RU" sz="1200" dirty="0"/>
              <a:t>7. Вторая теорема двойственности</a:t>
            </a:r>
            <a:endParaRPr lang="ru-RU" sz="1200" dirty="0">
              <a:solidFill>
                <a:srgbClr val="FF0000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44" y="28135"/>
            <a:ext cx="2306235" cy="189265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47" y="4570851"/>
            <a:ext cx="1123949" cy="5334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4434" y="258588"/>
            <a:ext cx="5293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Arial Black" pitchFamily="34" charset="0"/>
              </a:rPr>
              <a:t>?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33" y="382698"/>
            <a:ext cx="2213007" cy="94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17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 (команда 1)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Задача 1: Минимизировать функцию </a:t>
            </a:r>
            <a:r>
              <a:rPr lang="es-ES" sz="1200" b="0" i="0" u="none" strike="noStrike" dirty="0">
                <a:effectLst/>
                <a:latin typeface="KaTeX_Main"/>
              </a:rPr>
              <a:t>z=3x1+2x2+4x3</a:t>
            </a:r>
            <a:r>
              <a:rPr lang="es-ES" sz="1200" b="0" i="0" u="none" strike="noStrike" dirty="0">
                <a:effectLst/>
                <a:latin typeface="__fkGroteskNeue_598ab8"/>
              </a:rPr>
              <a:t> </a:t>
            </a:r>
            <a:endParaRPr lang="ru-RU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dirty="0">
              <a:latin typeface="__fkGroteskNeue_598ab8"/>
            </a:endParaRPr>
          </a:p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при ограничениях:</a:t>
            </a:r>
          </a:p>
          <a:p>
            <a:pPr algn="l"/>
            <a:endParaRPr lang="ru-RU" sz="1200" dirty="0">
              <a:latin typeface="__fkGroteskNeue_598ab8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x1+2x2+x3 ≥ 5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3x1+x2+2x3 ≥ 8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x1,x2,x3≥0</a:t>
            </a:r>
            <a:endParaRPr lang="ru-RU" sz="1200" b="0" i="0" u="none" strike="noStrike" dirty="0">
              <a:effectLst/>
              <a:latin typeface="KaTeX_Main"/>
            </a:endParaRPr>
          </a:p>
          <a:p>
            <a:endParaRPr lang="ru-RU" sz="12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01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 (команда 1)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Задача 2: Минимизировать функцию </a:t>
            </a:r>
            <a:r>
              <a:rPr lang="es-ES" sz="1200" b="0" i="0" u="none" strike="noStrike" dirty="0">
                <a:effectLst/>
                <a:latin typeface="KaTeX_Main"/>
              </a:rPr>
              <a:t>z=5x1+4x2+x3</a:t>
            </a:r>
            <a:r>
              <a:rPr lang="es-ES" sz="1200" b="0" i="0" u="none" strike="noStrike" dirty="0">
                <a:effectLst/>
                <a:latin typeface="__fkGroteskNeue_598ab8"/>
              </a:rPr>
              <a:t> </a:t>
            </a:r>
            <a:endParaRPr lang="ru-RU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dirty="0">
              <a:latin typeface="__fkGroteskNeue_598ab8"/>
            </a:endParaRPr>
          </a:p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при ограничениях:</a:t>
            </a:r>
          </a:p>
          <a:p>
            <a:pPr algn="l"/>
            <a:endParaRPr lang="ru-RU" sz="1200" dirty="0">
              <a:latin typeface="__fkGroteskNeue_598ab8"/>
            </a:endParaRPr>
          </a:p>
          <a:p>
            <a:pPr algn="l"/>
            <a:r>
              <a:rPr lang="ru-RU" sz="1200" b="0" i="0" u="none" strike="noStrike" dirty="0">
                <a:effectLst/>
                <a:latin typeface="KaTeX_Main"/>
              </a:rPr>
              <a:t>2</a:t>
            </a:r>
            <a:r>
              <a:rPr lang="es-ES" sz="1200" b="0" i="0" u="none" strike="noStrike" dirty="0">
                <a:effectLst/>
                <a:latin typeface="KaTeX_Main"/>
              </a:rPr>
              <a:t>x1+x2+3x3≥7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x1+4x2+x3≥6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x1,x2,x3≥0</a:t>
            </a:r>
            <a:endParaRPr lang="es-ES" sz="1200" b="0" i="0" u="none" strike="noStrike" dirty="0">
              <a:effectLst/>
              <a:latin typeface="__fkGroteskNeue_598ab8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60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 (команда 1)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Задача 3: Минимизировать функцию </a:t>
            </a:r>
            <a:r>
              <a:rPr lang="es-ES" sz="1200" b="0" i="0" u="none" strike="noStrike" dirty="0">
                <a:effectLst/>
                <a:latin typeface="KaTeX_Main"/>
              </a:rPr>
              <a:t>z=x1+6x2+5x3</a:t>
            </a:r>
            <a:r>
              <a:rPr lang="es-ES" sz="1200" b="0" i="0" u="none" strike="noStrike" dirty="0">
                <a:effectLst/>
                <a:latin typeface="__fkGroteskNeue_598ab8"/>
              </a:rPr>
              <a:t> </a:t>
            </a:r>
            <a:endParaRPr lang="ru-RU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dirty="0">
              <a:latin typeface="__fkGroteskNeue_598ab8"/>
            </a:endParaRPr>
          </a:p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при ограничениях:</a:t>
            </a:r>
          </a:p>
          <a:p>
            <a:pPr algn="l"/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ru-RU" sz="1200" b="0" i="0" u="none" strike="noStrike" dirty="0">
                <a:effectLst/>
                <a:latin typeface="KaTeX_Main"/>
              </a:rPr>
              <a:t>4</a:t>
            </a:r>
            <a:r>
              <a:rPr lang="es-ES" sz="1200" b="0" i="0" u="none" strike="noStrike" dirty="0">
                <a:effectLst/>
                <a:latin typeface="KaTeX_Main"/>
              </a:rPr>
              <a:t>x1+x2+x3 ≥ 10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2x1+3x2+x3 ≥ 9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x1,x2,x3≥0</a:t>
            </a:r>
            <a:endParaRPr lang="es-ES" sz="1200" b="0" i="0" u="none" strike="noStrike" dirty="0">
              <a:effectLst/>
              <a:latin typeface="__fkGroteskNeue_598ab8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23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 (команда 1)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Задача 4: Минимизировать функцию </a:t>
            </a:r>
            <a:r>
              <a:rPr lang="es-ES" sz="1200" b="0" i="0" u="none" strike="noStrike" dirty="0">
                <a:effectLst/>
                <a:latin typeface="KaTeX_Main"/>
              </a:rPr>
              <a:t>z=x1+x2+x3</a:t>
            </a:r>
            <a:r>
              <a:rPr lang="es-ES" sz="1200" b="0" i="0" u="none" strike="noStrike" dirty="0">
                <a:effectLst/>
                <a:latin typeface="__fkGroteskNeue_598ab8"/>
              </a:rPr>
              <a:t> </a:t>
            </a:r>
            <a:endParaRPr lang="ru-RU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dirty="0">
              <a:latin typeface="__fkGroteskNeue_598ab8"/>
            </a:endParaRPr>
          </a:p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при ограничениях:</a:t>
            </a:r>
          </a:p>
          <a:p>
            <a:pPr algn="l"/>
            <a:endParaRPr lang="ru-RU" sz="1200" dirty="0">
              <a:latin typeface="__fkGroteskNeue_598ab8"/>
            </a:endParaRPr>
          </a:p>
          <a:p>
            <a:pPr algn="l"/>
            <a:r>
              <a:rPr lang="ru-RU" sz="1200" b="0" i="0" u="none" strike="noStrike" dirty="0">
                <a:effectLst/>
                <a:latin typeface="KaTeX_Main"/>
              </a:rPr>
              <a:t>5</a:t>
            </a:r>
            <a:r>
              <a:rPr lang="es-ES" sz="1200" b="0" i="0" u="none" strike="noStrike" dirty="0">
                <a:effectLst/>
                <a:latin typeface="KaTeX_Main"/>
              </a:rPr>
              <a:t>x1+2x2+x3=10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3x1+x2+4x3≥83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x1,x2,x3≥0</a:t>
            </a:r>
            <a:endParaRPr lang="es-ES" sz="1200" b="0" i="0" u="none" strike="noStrike" dirty="0">
              <a:effectLst/>
              <a:latin typeface="__fkGroteskNeue_598ab8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28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 (команда 1)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Задача 5: Максимизировать функцию </a:t>
            </a:r>
            <a:r>
              <a:rPr lang="es-ES" sz="1200" b="0" i="0" u="none" strike="noStrike" dirty="0">
                <a:effectLst/>
                <a:latin typeface="KaTeX_Main"/>
              </a:rPr>
              <a:t>z=7x1+x2+9x3</a:t>
            </a:r>
            <a:r>
              <a:rPr lang="es-ES" sz="1200" b="0" i="0" u="none" strike="noStrike" dirty="0">
                <a:effectLst/>
                <a:latin typeface="__fkGroteskNeue_598ab8"/>
              </a:rPr>
              <a:t> </a:t>
            </a:r>
            <a:endParaRPr lang="ru-RU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dirty="0">
              <a:latin typeface="__fkGroteskNeue_598ab8"/>
            </a:endParaRPr>
          </a:p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при ограничениях:</a:t>
            </a:r>
          </a:p>
          <a:p>
            <a:pPr algn="l"/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x1+x2+x3≤6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4x1+x2+5x3 ≥ 12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x1,x2,x3≥0</a:t>
            </a:r>
            <a:endParaRPr lang="es-ES" sz="1200" b="0" i="0" u="none" strike="noStrike" dirty="0">
              <a:effectLst/>
              <a:latin typeface="__fkGroteskNeue_598ab8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54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 искусственного базиса (команда 1)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Задача 6: Минимизировать функцию </a:t>
            </a:r>
            <a:r>
              <a:rPr lang="es-ES" sz="1200" b="0" i="0" u="none" strike="noStrike" dirty="0">
                <a:effectLst/>
                <a:latin typeface="KaTeX_Main"/>
              </a:rPr>
              <a:t>z=4x1+x2+7x3</a:t>
            </a:r>
            <a:r>
              <a:rPr lang="es-ES" sz="1200" b="0" i="0" u="none" strike="noStrike" dirty="0">
                <a:effectLst/>
                <a:latin typeface="__fkGroteskNeue_598ab8"/>
              </a:rPr>
              <a:t> </a:t>
            </a:r>
            <a:endParaRPr lang="ru-RU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dirty="0">
              <a:latin typeface="__fkGroteskNeue_598ab8"/>
            </a:endParaRPr>
          </a:p>
          <a:p>
            <a:pPr algn="l"/>
            <a:r>
              <a:rPr lang="ru-RU" sz="1200" b="0" i="0" u="none" strike="noStrike" dirty="0">
                <a:effectLst/>
                <a:latin typeface="__fkGroteskNeue_598ab8"/>
              </a:rPr>
              <a:t>при ограничениях:</a:t>
            </a:r>
          </a:p>
          <a:p>
            <a:pPr algn="l"/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ru-RU" sz="1200" b="0" i="0" u="none" strike="noStrike" dirty="0">
                <a:effectLst/>
                <a:latin typeface="KaTeX_Main"/>
              </a:rPr>
              <a:t>6</a:t>
            </a:r>
            <a:r>
              <a:rPr lang="es-ES" sz="1200" b="0" i="0" u="none" strike="noStrike" dirty="0">
                <a:effectLst/>
                <a:latin typeface="KaTeX_Main"/>
              </a:rPr>
              <a:t>x1+x2+x3=96</a:t>
            </a:r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5x1+x2+x3≥11</a:t>
            </a:r>
            <a:endParaRPr lang="es-ES" sz="1200" b="0" i="0" u="none" strike="noStrike" dirty="0">
              <a:effectLst/>
              <a:latin typeface="__fkGroteskNeue_598ab8"/>
            </a:endParaRPr>
          </a:p>
          <a:p>
            <a:pPr algn="l"/>
            <a:endParaRPr lang="ru-RU" sz="1200" b="0" i="0" u="none" strike="noStrike" dirty="0">
              <a:effectLst/>
              <a:latin typeface="KaTeX_Main"/>
            </a:endParaRPr>
          </a:p>
          <a:p>
            <a:pPr algn="l"/>
            <a:r>
              <a:rPr lang="es-ES" sz="1200" b="0" i="0" u="none" strike="noStrike" dirty="0">
                <a:effectLst/>
                <a:latin typeface="KaTeX_Main"/>
              </a:rPr>
              <a:t>x1,x2,x3≥0</a:t>
            </a:r>
            <a:endParaRPr lang="es-ES" sz="1200" b="0" i="0" u="none" strike="noStrike" dirty="0">
              <a:effectLst/>
              <a:latin typeface="__fkGroteskNeue_598ab8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203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8571</TotalTime>
  <Words>1691</Words>
  <Application>Microsoft Macintosh PowerPoint</Application>
  <PresentationFormat>Presentación en pantalla (16:9)</PresentationFormat>
  <Paragraphs>211</Paragraphs>
  <Slides>27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__fkGroteskNeue_598ab8</vt:lpstr>
      <vt:lpstr>Arial</vt:lpstr>
      <vt:lpstr>Arial Black</vt:lpstr>
      <vt:lpstr>Calibri</vt:lpstr>
      <vt:lpstr>KaTeX_Main</vt:lpstr>
      <vt:lpstr>PT Sans</vt:lpstr>
      <vt:lpstr>Тема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Dudarin Pavel</cp:lastModifiedBy>
  <cp:revision>313</cp:revision>
  <dcterms:created xsi:type="dcterms:W3CDTF">2021-07-29T10:45:19Z</dcterms:created>
  <dcterms:modified xsi:type="dcterms:W3CDTF">2024-10-24T16:18:38Z</dcterms:modified>
</cp:coreProperties>
</file>