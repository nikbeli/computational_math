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87" r:id="rId2"/>
    <p:sldId id="389" r:id="rId3"/>
    <p:sldId id="371" r:id="rId4"/>
    <p:sldId id="390" r:id="rId5"/>
    <p:sldId id="262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4A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90"/>
    <p:restoredTop sz="94730"/>
  </p:normalViewPr>
  <p:slideViewPr>
    <p:cSldViewPr snapToGrid="0">
      <p:cViewPr varScale="1">
        <p:scale>
          <a:sx n="119" d="100"/>
          <a:sy n="119" d="100"/>
        </p:scale>
        <p:origin x="936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08E29F-B136-4320-B718-99224E7E1AF5}" type="datetimeFigureOut">
              <a:rPr lang="ru-RU" smtClean="0"/>
              <a:pPr/>
              <a:t>23.11.2024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5FBA70-BD6B-4DB4-92D4-9CFF0251AC11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111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229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35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355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8893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35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E2A4E2-329E-4A4B-B44A-A616ECC569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4B5C5CD-7B78-4053-B74D-725447E6D6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C155FE-C85A-44DA-80A5-BFE260925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23.11.2024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DDC4F2-4524-42C3-B630-FCA2A5043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FEF37A-025D-4335-B37C-EF2AECB78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4173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ABB643-B587-404A-8344-DB97C3FCD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8CBBD5-C95A-4304-99E1-5DA1102E2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6445E9-0EAD-4814-8A1B-BAE2A5E7C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23.11.2024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D1EB48-4C60-4D6C-B25B-B8645124E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E27CBD-4D2C-42B3-8D8A-7101AB53E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1191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049D51-8218-44DC-AE29-39D78A28B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F01B9B5-4F62-4600-921E-332F9AB68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75EB1D-5432-4EFF-9A1C-84857CDCE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23.11.2024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F7DEA1-A965-4EE3-A9C3-B1D3C52F8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E3D38D-ACA6-4EC0-BB4C-6C1B2299A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1894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8C1C70-BDD6-48E6-B53C-8C8A55793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0471C2-9346-43DB-B120-950AFF60C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D1F305B-0EBE-4823-BB63-12943915AA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2F16978-D488-4CA0-89EF-FA63FFA02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23.11.2024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91DD534-B533-4E8C-BAC7-52F334568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BAED044-067F-4A73-9AAD-C90E08001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9969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2F35E6-A339-4F44-9622-9DEA622B0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3D7D9C-8515-4B94-9508-FA159DE22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4981837-4D60-4858-B952-E2FB3BBE9E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3A152B1-D8BD-4614-958B-113F9346A6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165B602-C8B7-42EE-B631-B4BF7081A6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4C770B9-701F-40B6-AAA9-B270219EA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23.11.2024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22310EE-E8FE-46A5-8007-18A9F0B24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A1A46E3-7D1D-4A54-BD9E-C7FFD1850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1148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CF4DD2-BD88-4707-BCEA-9D2718C4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4128B03-DC37-40BF-97ED-43D62DA5B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23.11.2024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212B847-E6C7-4FCC-B443-BDE74773B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40E268B-FCFC-41A0-B78D-AD7F5F810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0726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73A9EF4-5365-4FB8-BD85-AFB464ECD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23.11.2024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0856D66-952D-4A5C-A1AB-0EDB032BE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256873-4C73-4E06-95C0-7018655F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8078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C4616C-7112-4C21-B9AB-C464E8D47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FA6F4E-AC6B-49E6-99CE-9200606B2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B24C889-F1A0-4E7C-A873-E707EBFA2A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DD51719-5077-46EC-A991-42128E5E7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23.11.2024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8B16B4A-67C3-4FD0-A96A-22C0AFD24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70173C5-717B-4F3D-9BFE-E9D6B6A16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3297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05CB46-3021-4537-BA28-7170509A4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065A7DA-316D-4E94-81F5-EEBC5846E4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FDD228-7D09-4FA9-8E69-C96699C46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93F4B59-E515-4088-BADC-600D6B82F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23.11.2024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DDB93C9-4273-4886-A7CC-C35C5B100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CC78BA5-2C60-45E5-BC1C-0E5DB648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3385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9EFC0D-7CE7-4054-944C-2B5771849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3D96205-B7DC-4FB1-B8CD-EECF46371F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2C0994-9E76-4334-B397-1B129850C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23.11.2024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58DAD9-D444-4E21-81C2-A75C98AD2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E29954-11B3-41F0-A9A7-2AF9960A1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1393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5EDE96E-F4AC-4361-A59D-5284F89F2D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5FED631-8316-4373-9D4B-68D4747DC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F2DD9D-12CD-4B84-9276-9A60DE6AA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23.11.2024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75BBD5-7646-46E9-B3A1-57DE994F0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F23C25-D330-45E8-AD86-DB7A08B7B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5729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0841F3-1442-45DA-992E-A959969C3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1045B3-FF43-4CFF-81F8-6A1632002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8D6405-8B8B-496D-940B-777F4CCC4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2B12E-09F9-4A42-8633-91B79DAE53B2}" type="datetimeFigureOut">
              <a:rPr lang="ru-RU" smtClean="0"/>
              <a:pPr/>
              <a:t>23.11.2024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E8012C-E990-44BB-8052-A055E16420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EDB793-D120-4A2A-AB46-88D5FB97C9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8078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90751"/>
            <a:ext cx="8248650" cy="4667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7648" y="2334140"/>
            <a:ext cx="1149409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Вычислительная математика</a:t>
            </a:r>
          </a:p>
          <a:p>
            <a:pPr algn="ctr"/>
            <a:endParaRPr lang="ru-RU" sz="3200" b="1" dirty="0">
              <a:solidFill>
                <a:srgbClr val="FFFFFF"/>
              </a:solidFill>
              <a:latin typeface="PT Sans"/>
              <a:ea typeface="PT Sans"/>
              <a:sym typeface="PT Sans"/>
            </a:endParaRPr>
          </a:p>
          <a:p>
            <a:pPr algn="ctr"/>
            <a:r>
              <a:rPr lang="ru-RU" sz="3200" b="1" dirty="0">
                <a:solidFill>
                  <a:srgbClr val="FFFFFF"/>
                </a:solidFill>
                <a:latin typeface="PT Sans"/>
                <a:ea typeface="PT Sans"/>
                <a:sym typeface="PT Sans"/>
              </a:rPr>
              <a:t>Индивидуальная лабораторная работа №1</a:t>
            </a:r>
          </a:p>
          <a:p>
            <a:pPr algn="ctr"/>
            <a:r>
              <a:rPr lang="ru-RU" sz="3200" b="1" dirty="0">
                <a:solidFill>
                  <a:srgbClr val="FFFFFF"/>
                </a:solidFill>
                <a:latin typeface="PT Sans"/>
                <a:ea typeface="PT Sans"/>
                <a:sym typeface="PT Sans"/>
              </a:rPr>
              <a:t>Линейное программирование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5325" y="0"/>
            <a:ext cx="3876675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629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1" y="1402080"/>
            <a:ext cx="46939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5671" y="274361"/>
            <a:ext cx="9131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Организация работы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6358071"/>
            <a:ext cx="12192000" cy="499929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152650" cy="68580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9421" y="6374695"/>
            <a:ext cx="1858643" cy="469086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0315" y="6402936"/>
            <a:ext cx="335084" cy="410198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6930" y="6420357"/>
            <a:ext cx="622743" cy="393107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246" y="6457548"/>
            <a:ext cx="717847" cy="31872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95671" y="535971"/>
            <a:ext cx="10147567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  <a:p>
            <a:pPr marL="342900" indent="-342900">
              <a:buAutoNum type="arabicPeriod"/>
            </a:pPr>
            <a:r>
              <a:rPr lang="ru-RU" dirty="0"/>
              <a:t>Лабораторная работа выполняется индивидуально. </a:t>
            </a:r>
          </a:p>
          <a:p>
            <a:pPr marL="342900" indent="-342900">
              <a:buAutoNum type="arabicPeriod"/>
            </a:pPr>
            <a:endParaRPr lang="ru-RU" dirty="0"/>
          </a:p>
          <a:p>
            <a:pPr marL="342900" indent="-342900">
              <a:buAutoNum type="arabicPeriod"/>
            </a:pPr>
            <a:r>
              <a:rPr lang="ru-RU" dirty="0"/>
              <a:t>Лабораторная работа состоит из двух частей, основная часть и дополнительные задания в зависимости от качества выполнения работы.</a:t>
            </a:r>
          </a:p>
          <a:p>
            <a:pPr marL="342900" indent="-342900">
              <a:buAutoNum type="arabicPeriod"/>
            </a:pPr>
            <a:endParaRPr lang="ru-RU" dirty="0"/>
          </a:p>
          <a:p>
            <a:pPr marL="342900" indent="-342900">
              <a:buAutoNum type="arabicPeriod"/>
            </a:pPr>
            <a:r>
              <a:rPr lang="ru-RU" dirty="0"/>
              <a:t>Выбрать можно </a:t>
            </a:r>
            <a:r>
              <a:rPr lang="ru-RU" b="1" dirty="0"/>
              <a:t>любой</a:t>
            </a:r>
            <a:r>
              <a:rPr lang="ru-RU" dirty="0"/>
              <a:t> из предложенных вариантов, которые отличаются уровнем сложности и, как следствием, максимальным числом баллов, которое можно получить за выполнение. </a:t>
            </a:r>
          </a:p>
          <a:p>
            <a:pPr marL="342900" indent="-342900">
              <a:buAutoNum type="arabicPeriod"/>
            </a:pPr>
            <a:endParaRPr lang="ru-RU" dirty="0"/>
          </a:p>
          <a:p>
            <a:pPr marL="342900" indent="-342900">
              <a:buAutoNum type="arabicPeriod"/>
            </a:pPr>
            <a:r>
              <a:rPr lang="ru-RU" dirty="0"/>
              <a:t>Оценивается результат выполнения, а не качество написанного кода. Допускается реализация на любом языке программирования или среде разработки позволяющей решить задачу (1С, </a:t>
            </a:r>
            <a:r>
              <a:rPr lang="en-US" dirty="0"/>
              <a:t>Excel, </a:t>
            </a:r>
            <a:r>
              <a:rPr lang="en-US" dirty="0" err="1"/>
              <a:t>MatLAB</a:t>
            </a:r>
            <a:r>
              <a:rPr lang="en-US" dirty="0"/>
              <a:t>, Maple </a:t>
            </a:r>
            <a:r>
              <a:rPr lang="ru-RU" dirty="0"/>
              <a:t>и </a:t>
            </a:r>
            <a:r>
              <a:rPr lang="ru-RU" dirty="0" err="1"/>
              <a:t>тд</a:t>
            </a:r>
            <a:r>
              <a:rPr lang="en-US" dirty="0"/>
              <a:t>)</a:t>
            </a:r>
            <a:r>
              <a:rPr lang="ru-RU" dirty="0"/>
              <a:t>. Например, можно использовать макросы в </a:t>
            </a:r>
            <a:r>
              <a:rPr lang="en-US" dirty="0"/>
              <a:t>Excel</a:t>
            </a:r>
            <a:r>
              <a:rPr lang="ru-RU" dirty="0"/>
              <a:t>, но нельзя использовать готовый плагин для решения задач. </a:t>
            </a:r>
          </a:p>
          <a:p>
            <a:pPr marL="342900" indent="-342900">
              <a:buAutoNum type="arabicPeriod"/>
            </a:pPr>
            <a:endParaRPr lang="ru-RU" dirty="0"/>
          </a:p>
          <a:p>
            <a:pPr marL="342900" indent="-342900">
              <a:buAutoNum type="arabicPeriod"/>
            </a:pPr>
            <a:r>
              <a:rPr lang="ru-RU" dirty="0"/>
              <a:t>Допускается использование математических библиотек и пакетов реализующих вспомогательные функции, такие как операции с векторами и матрицами, расчет определителя матрицы, основные математические функции. </a:t>
            </a:r>
            <a:r>
              <a:rPr lang="ru-RU" b="1" dirty="0"/>
              <a:t>Использование готовых методов оптимизации не допускается.</a:t>
            </a:r>
            <a:r>
              <a:rPr lang="ru-RU" dirty="0"/>
              <a:t> </a:t>
            </a:r>
          </a:p>
          <a:p>
            <a:endParaRPr lang="ru-RU" dirty="0">
              <a:solidFill>
                <a:schemeClr val="accent1"/>
              </a:solidFill>
            </a:endParaRPr>
          </a:p>
          <a:p>
            <a:pPr marL="342900" indent="-342900">
              <a:buAutoNum type="arabicPeriod"/>
            </a:pPr>
            <a:endParaRPr lang="ru-RU" dirty="0"/>
          </a:p>
          <a:p>
            <a:pPr marL="342900" indent="-342900">
              <a:buAutoNum type="arabicPeriod"/>
            </a:pPr>
            <a:endParaRPr lang="ru-RU" dirty="0"/>
          </a:p>
          <a:p>
            <a:pPr marL="342900" indent="-342900">
              <a:buAutoNum type="arabicPeriod"/>
            </a:pPr>
            <a:endParaRPr lang="ru-RU" dirty="0"/>
          </a:p>
          <a:p>
            <a:pPr marL="342900" indent="-342900"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5051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1" y="1402080"/>
            <a:ext cx="46939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5671" y="406299"/>
            <a:ext cx="9131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Общее задание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6358071"/>
            <a:ext cx="12192000" cy="499929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152650" cy="68580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9421" y="6374695"/>
            <a:ext cx="1858643" cy="469086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0315" y="6402936"/>
            <a:ext cx="335084" cy="410198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6930" y="6420357"/>
            <a:ext cx="622743" cy="393107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246" y="6457548"/>
            <a:ext cx="717847" cy="31872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70383" y="974384"/>
            <a:ext cx="1046590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/>
              <a:t>Необходимо составить программную реализацию одного из изученных методов с оценкой абсолютной погрешности работы данного метода. 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Программа должна позволять ввести произвольные значения в заранее подготовленный файл, с клавиатуры или другим общепринятым способом. Генерация случайных данных не допускается. 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Размерность задачи должна быть не менее 10 (в зависимости от задачи это количество уравнений, количество неизвестных, количество потребителей и поставщиков).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Результатом работы программы должны быть: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/>
              <a:t>Значения неизвестных (массив </a:t>
            </a:r>
            <a:r>
              <a:rPr lang="en-US" dirty="0"/>
              <a:t>X)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/>
              <a:t>Результаты подстановки неизвестных в уравнения, неравенства и целевую функцию (если она предусмотрена задачей)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/>
              <a:t>Оценки абсолютных погрешностей для найденных значений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/>
              <a:t>Поощряется вывод промежуточных вычислений</a:t>
            </a:r>
          </a:p>
          <a:p>
            <a:endParaRPr lang="ru-RU" dirty="0"/>
          </a:p>
          <a:p>
            <a:r>
              <a:rPr lang="ru-RU" dirty="0"/>
              <a:t>5.   Полученные абсолютные погрешности вычислений должны быть допустимыми, то есть не превышать половины единицы измерения искомых величин (не превышать 5%).</a:t>
            </a:r>
          </a:p>
        </p:txBody>
      </p:sp>
    </p:spTree>
    <p:extLst>
      <p:ext uri="{BB962C8B-B14F-4D97-AF65-F5344CB8AC3E}">
        <p14:creationId xmlns:p14="http://schemas.microsoft.com/office/powerpoint/2010/main" val="3826329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1" y="1402080"/>
            <a:ext cx="46939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5671" y="406299"/>
            <a:ext cx="9131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Пояснения по расчету погрешностей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6358071"/>
            <a:ext cx="12192000" cy="499929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152650" cy="68580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9421" y="6374695"/>
            <a:ext cx="1858643" cy="469086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0315" y="6402936"/>
            <a:ext cx="335084" cy="410198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6930" y="6420357"/>
            <a:ext cx="622743" cy="393107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246" y="6457548"/>
            <a:ext cx="717847" cy="31872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70383" y="974384"/>
            <a:ext cx="1046590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/>
              <a:t>Для расчета погрешностей необходимо использовать формулы из соответствующей лекции со слайдов 7 и 8. Так как все алгоритмы подразумевают только выполнения базовых математических операций, то формулы со слайда 9, вам скорее всего не пригодятся. 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Погрешности исходных данных считаются </a:t>
            </a:r>
            <a:r>
              <a:rPr lang="ru-RU" dirty="0" err="1"/>
              <a:t>по-умолчанию</a:t>
            </a:r>
            <a:r>
              <a:rPr lang="ru-RU" dirty="0"/>
              <a:t> и равны половине последнего введенного знака. То есть для числа 48 абсолютная погрешность </a:t>
            </a:r>
            <a:r>
              <a:rPr lang="ru-RU" dirty="0" err="1"/>
              <a:t>равноа</a:t>
            </a:r>
            <a:r>
              <a:rPr lang="ru-RU" dirty="0"/>
              <a:t> 0.5, а для числа 48.01 абсолютная погрешность равна 0.005. Отдельно вводить погрешности для входных данных не требуется. Таким образом для достижения требуемого результата значения на входе должны иметь достаточно малые абсолютные погрешности.   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Для косвенной само-проверки расчета погрешностей разумно подсчитывать общее количество операций сложения, вычитания, умножения и деления. Это позволит понять где идет наибольшее накопление погрешностей и исправить ошибку. 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3805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1" y="1402080"/>
            <a:ext cx="46939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5671" y="406299"/>
            <a:ext cx="9131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Варианты заданий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6358071"/>
            <a:ext cx="12192000" cy="499929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152650" cy="68580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9421" y="6374695"/>
            <a:ext cx="1858643" cy="469086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0315" y="6402936"/>
            <a:ext cx="335084" cy="410198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6930" y="6420357"/>
            <a:ext cx="622743" cy="393107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246" y="6457548"/>
            <a:ext cx="717847" cy="31872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95671" y="991805"/>
            <a:ext cx="1014756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Задачи с максимумом 24 баллов</a:t>
            </a:r>
            <a:r>
              <a:rPr lang="ru-RU" dirty="0"/>
              <a:t> (6 работоспособность кода и удобство использования, 6 реализация метода, 6 оценка погрешностей, 6 за  индивидуальное выполнение и оригинальность)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Простой метод итерации для решения СЛУ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Метод Зейделя для решения СЛУ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Метод релаксации для решения СЛУ</a:t>
            </a:r>
          </a:p>
          <a:p>
            <a:endParaRPr lang="ru-RU" dirty="0"/>
          </a:p>
          <a:p>
            <a:endParaRPr lang="ru-RU" b="1" dirty="0"/>
          </a:p>
          <a:p>
            <a:r>
              <a:rPr lang="ru-RU" b="1" dirty="0"/>
              <a:t>Задачи с максимумом 40 баллов </a:t>
            </a:r>
            <a:r>
              <a:rPr lang="ru-RU" dirty="0"/>
              <a:t>(10 работоспособность кода и удобство использования, 10 реализация метода, 10 оценка погрешностей, 10 за  индивидуальное выполнение и оригинальность)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Транспортная задача с использованием метода северо-западного угла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Транспортная задача с использованием метода минимальных элементов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Симплекс метод с использованием метода искусственного базиса для задачи заданной в канонической форме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905639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4081</TotalTime>
  <Words>507</Words>
  <Application>Microsoft Macintosh PowerPoint</Application>
  <PresentationFormat>Panorámica</PresentationFormat>
  <Paragraphs>54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PT Sans</vt:lpstr>
      <vt:lpstr>Тема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Dudarin Pavel</cp:lastModifiedBy>
  <cp:revision>189</cp:revision>
  <dcterms:created xsi:type="dcterms:W3CDTF">2021-04-19T13:24:04Z</dcterms:created>
  <dcterms:modified xsi:type="dcterms:W3CDTF">2024-11-23T10:55:29Z</dcterms:modified>
</cp:coreProperties>
</file>